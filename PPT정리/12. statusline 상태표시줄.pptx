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3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99D1A-E757-460F-889A-314FDD26DAE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700C8-C4AF-49AF-A437-562A795DDB3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169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99D1A-E757-460F-889A-314FDD26DAE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700C8-C4AF-49AF-A437-562A795DDB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482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99D1A-E757-460F-889A-314FDD26DAE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700C8-C4AF-49AF-A437-562A795DDB3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238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99D1A-E757-460F-889A-314FDD26DAE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700C8-C4AF-49AF-A437-562A795DDB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863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99D1A-E757-460F-889A-314FDD26DAE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700C8-C4AF-49AF-A437-562A795DDB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354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99D1A-E757-460F-889A-314FDD26DAE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700C8-C4AF-49AF-A437-562A795DDB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991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99D1A-E757-460F-889A-314FDD26DAE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700C8-C4AF-49AF-A437-562A795DDB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916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B799D1A-E757-460F-889A-314FDD26DAE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9D700C8-C4AF-49AF-A437-562A795DDB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707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99D1A-E757-460F-889A-314FDD26DAE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700C8-C4AF-49AF-A437-562A795DDB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948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99D1A-E757-460F-889A-314FDD26DAE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700C8-C4AF-49AF-A437-562A795DDB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108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99D1A-E757-460F-889A-314FDD26DAE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700C8-C4AF-49AF-A437-562A795DDB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46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B799D1A-E757-460F-889A-314FDD26DAE8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9D700C8-C4AF-49AF-A437-562A795DDB3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642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CE9703-AD12-76BD-CF71-10DAAEE1B7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6000" dirty="0" err="1"/>
              <a:t>Statusline</a:t>
            </a:r>
            <a:r>
              <a:rPr lang="en-US" altLang="ko-KR" sz="6000" dirty="0"/>
              <a:t> (</a:t>
            </a:r>
            <a:r>
              <a:rPr lang="ko-KR" altLang="en-US" sz="6000" dirty="0"/>
              <a:t>상태표시줄</a:t>
            </a:r>
            <a:r>
              <a:rPr lang="en-US" altLang="ko-KR" sz="6000" dirty="0"/>
              <a:t>)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E8BE29E-1437-1C0A-264B-8EBE3037BF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86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7D71B9-E5C4-4385-2CFE-F181658EE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상태 표시줄 적용 </a:t>
            </a:r>
            <a:r>
              <a:rPr lang="en-US" altLang="ko-KR" sz="3600" dirty="0"/>
              <a:t>(/</a:t>
            </a:r>
            <a:r>
              <a:rPr lang="en-US" altLang="ko-KR" sz="3600" dirty="0" err="1"/>
              <a:t>statusline</a:t>
            </a:r>
            <a:r>
              <a:rPr lang="en-US" altLang="ko-KR" sz="3600" dirty="0"/>
              <a:t>)</a:t>
            </a:r>
            <a:endParaRPr lang="ko-KR" altLang="en-US" sz="36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9F3C736-70C2-559C-D437-C7F10725E1F9}"/>
              </a:ext>
            </a:extLst>
          </p:cNvPr>
          <p:cNvGrpSpPr/>
          <p:nvPr/>
        </p:nvGrpSpPr>
        <p:grpSpPr>
          <a:xfrm>
            <a:off x="277226" y="1905734"/>
            <a:ext cx="6666782" cy="3245999"/>
            <a:chOff x="277226" y="1905734"/>
            <a:chExt cx="6666782" cy="324599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BEFCDAD-E55B-EE98-68CA-2A2654848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7226" y="1905734"/>
              <a:ext cx="6230506" cy="2168326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C3FB06A-EAC8-8CE8-8CB5-691AF5E6A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7226" y="4074060"/>
              <a:ext cx="6666782" cy="1077673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60A1C2E0-72BF-F99D-9622-B125097DF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044" y="1905734"/>
            <a:ext cx="4214931" cy="180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73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93A777-FA55-52AC-9EF3-15BC47ECB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상태 표시줄 적용 확인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6C4D00-F72D-4A00-7504-4DF35E0B0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61496"/>
            <a:ext cx="4801270" cy="58110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345C680-445F-F930-E2A7-EAA08DDBA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644952"/>
            <a:ext cx="5673370" cy="299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718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4F1E5C-F99B-BC85-6721-5A8D19A47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상태 표시줄 적용 실패 시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685B2C-AD9D-1B0F-4FB5-88F24F9CECBE}"/>
              </a:ext>
            </a:extLst>
          </p:cNvPr>
          <p:cNvSpPr txBox="1"/>
          <p:nvPr/>
        </p:nvSpPr>
        <p:spPr>
          <a:xfrm>
            <a:off x="1231271" y="1737360"/>
            <a:ext cx="101308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원인 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jq</a:t>
            </a:r>
            <a:r>
              <a:rPr lang="en-US" altLang="ko-KR" sz="1200" dirty="0"/>
              <a:t> </a:t>
            </a:r>
            <a:r>
              <a:rPr lang="ko-KR" altLang="en-US" sz="1200" dirty="0"/>
              <a:t>서브 에이전트가 설치가 안된 경우</a:t>
            </a:r>
            <a:r>
              <a:rPr lang="en-US" altLang="ko-KR" sz="1200" dirty="0"/>
              <a:t>. </a:t>
            </a:r>
            <a:r>
              <a:rPr lang="ko-KR" altLang="en-US" sz="1200" dirty="0"/>
              <a:t>상태표시줄이 표시가 안된다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해결방법 </a:t>
            </a:r>
            <a:r>
              <a:rPr lang="en-US" altLang="ko-KR" sz="1200" dirty="0"/>
              <a:t>1.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altLang="ko-KR" sz="1200" dirty="0">
                <a:sym typeface="Wingdings" panose="05000000000000000000" pitchFamily="2" charset="2"/>
              </a:rPr>
              <a:t>Claude Code Plugin</a:t>
            </a:r>
            <a:r>
              <a:rPr lang="ko-KR" altLang="en-US" sz="1200" dirty="0">
                <a:sym typeface="Wingdings" panose="05000000000000000000" pitchFamily="2" charset="2"/>
              </a:rPr>
              <a:t>에서 대화형으로 표시가 안되는 상황을 </a:t>
            </a:r>
            <a:r>
              <a:rPr lang="ko-KR" altLang="en-US" sz="1200" dirty="0" err="1">
                <a:sym typeface="Wingdings" panose="05000000000000000000" pitchFamily="2" charset="2"/>
              </a:rPr>
              <a:t>캡쳐하여</a:t>
            </a:r>
            <a:r>
              <a:rPr lang="ko-KR" altLang="en-US" sz="1200" dirty="0">
                <a:sym typeface="Wingdings" panose="05000000000000000000" pitchFamily="2" charset="2"/>
              </a:rPr>
              <a:t> 질문 후 요구하는 프로그램 및 설정을 스스로 작성해달라고 하면 된다</a:t>
            </a:r>
            <a:r>
              <a:rPr lang="en-US" altLang="ko-KR" sz="1200" dirty="0"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1200" dirty="0">
                <a:sym typeface="Wingdings" panose="05000000000000000000" pitchFamily="2" charset="2"/>
              </a:rPr>
              <a:t>(</a:t>
            </a:r>
            <a:r>
              <a:rPr lang="ko-KR" altLang="en-US" sz="1200" dirty="0">
                <a:sym typeface="Wingdings" panose="05000000000000000000" pitchFamily="2" charset="2"/>
              </a:rPr>
              <a:t>본인은 이렇게 해결</a:t>
            </a:r>
            <a:r>
              <a:rPr lang="en-US" altLang="ko-KR" sz="1200" dirty="0">
                <a:sym typeface="Wingdings" panose="05000000000000000000" pitchFamily="2" charset="2"/>
              </a:rPr>
              <a:t>)</a:t>
            </a:r>
          </a:p>
          <a:p>
            <a:endParaRPr lang="en-US" altLang="ko-KR" sz="1200" dirty="0">
              <a:sym typeface="Wingdings" panose="05000000000000000000" pitchFamily="2" charset="2"/>
            </a:endParaRPr>
          </a:p>
          <a:p>
            <a:r>
              <a:rPr lang="ko-KR" altLang="en-US" sz="1200" dirty="0">
                <a:sym typeface="Wingdings" panose="05000000000000000000" pitchFamily="2" charset="2"/>
              </a:rPr>
              <a:t>해결 방법</a:t>
            </a:r>
            <a:r>
              <a:rPr lang="en-US" altLang="ko-KR" sz="1200" dirty="0">
                <a:sym typeface="Wingdings" panose="05000000000000000000" pitchFamily="2" charset="2"/>
              </a:rPr>
              <a:t>2. (</a:t>
            </a:r>
            <a:r>
              <a:rPr lang="ko-KR" altLang="en-US" sz="1200" dirty="0">
                <a:sym typeface="Wingdings" panose="05000000000000000000" pitchFamily="2" charset="2"/>
              </a:rPr>
              <a:t>강사 답글</a:t>
            </a:r>
            <a:r>
              <a:rPr lang="en-US" altLang="ko-KR" sz="1200" dirty="0">
                <a:sym typeface="Wingdings" panose="05000000000000000000" pitchFamily="2" charset="2"/>
              </a:rPr>
              <a:t>)</a:t>
            </a:r>
          </a:p>
          <a:p>
            <a:r>
              <a:rPr lang="en-US" altLang="ko-KR" sz="1200" dirty="0">
                <a:sym typeface="Wingdings" panose="05000000000000000000" pitchFamily="2" charset="2"/>
              </a:rPr>
              <a:t> /</a:t>
            </a:r>
            <a:r>
              <a:rPr lang="en-US" altLang="ko-KR" sz="1200" dirty="0" err="1">
                <a:sym typeface="Wingdings" panose="05000000000000000000" pitchFamily="2" charset="2"/>
              </a:rPr>
              <a:t>statusline</a:t>
            </a:r>
            <a:r>
              <a:rPr lang="en-US" altLang="ko-KR" sz="1200" dirty="0">
                <a:sym typeface="Wingdings" panose="05000000000000000000" pitchFamily="2" charset="2"/>
              </a:rPr>
              <a:t> Windows </a:t>
            </a:r>
            <a:r>
              <a:rPr lang="ko-KR" altLang="en-US" sz="1200" dirty="0">
                <a:sym typeface="Wingdings" panose="05000000000000000000" pitchFamily="2" charset="2"/>
              </a:rPr>
              <a:t>환경이야</a:t>
            </a:r>
            <a:r>
              <a:rPr lang="en-US" altLang="ko-KR" sz="1200" dirty="0">
                <a:sym typeface="Wingdings" panose="05000000000000000000" pitchFamily="2" charset="2"/>
              </a:rPr>
              <a:t>. </a:t>
            </a:r>
            <a:r>
              <a:rPr lang="en-US" altLang="ko-KR" sz="1200" dirty="0" err="1">
                <a:sym typeface="Wingdings" panose="05000000000000000000" pitchFamily="2" charset="2"/>
              </a:rPr>
              <a:t>jq</a:t>
            </a:r>
            <a:r>
              <a:rPr lang="en-US" altLang="ko-KR" sz="1200" dirty="0">
                <a:sym typeface="Wingdings" panose="05000000000000000000" pitchFamily="2" charset="2"/>
              </a:rPr>
              <a:t> </a:t>
            </a:r>
            <a:r>
              <a:rPr lang="ko-KR" altLang="en-US" sz="1200" dirty="0">
                <a:sym typeface="Wingdings" panose="05000000000000000000" pitchFamily="2" charset="2"/>
              </a:rPr>
              <a:t>없으면 대체 파싱 써줘</a:t>
            </a:r>
            <a:r>
              <a:rPr lang="en-US" altLang="ko-KR" sz="1200" dirty="0">
                <a:sym typeface="Wingdings" panose="05000000000000000000" pitchFamily="2" charset="2"/>
              </a:rPr>
              <a:t>. </a:t>
            </a:r>
            <a:r>
              <a:rPr lang="ko-KR" altLang="en-US" sz="1200" dirty="0">
                <a:sym typeface="Wingdings" panose="05000000000000000000" pitchFamily="2" charset="2"/>
              </a:rPr>
              <a:t>모델명</a:t>
            </a:r>
            <a:r>
              <a:rPr lang="en-US" altLang="ko-KR" sz="1200" dirty="0"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sym typeface="Wingdings" panose="05000000000000000000" pitchFamily="2" charset="2"/>
              </a:rPr>
              <a:t>디렉토리</a:t>
            </a:r>
            <a:r>
              <a:rPr lang="en-US" altLang="ko-KR" sz="1200" dirty="0"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sym typeface="Wingdings" panose="05000000000000000000" pitchFamily="2" charset="2"/>
              </a:rPr>
              <a:t>컨텍스트 </a:t>
            </a:r>
            <a:r>
              <a:rPr lang="en-US" altLang="ko-KR" sz="1200" dirty="0">
                <a:sym typeface="Wingdings" panose="05000000000000000000" pitchFamily="2" charset="2"/>
              </a:rPr>
              <a:t>%, git </a:t>
            </a:r>
            <a:r>
              <a:rPr lang="ko-KR" altLang="en-US" sz="1200" dirty="0" err="1">
                <a:sym typeface="Wingdings" panose="05000000000000000000" pitchFamily="2" charset="2"/>
              </a:rPr>
              <a:t>브랜치를</a:t>
            </a:r>
            <a:r>
              <a:rPr lang="ko-KR" altLang="en-US" sz="1200" dirty="0">
                <a:sym typeface="Wingdings" panose="05000000000000000000" pitchFamily="2" charset="2"/>
              </a:rPr>
              <a:t> 컬러로 한 줄 표시해줘</a:t>
            </a:r>
            <a:r>
              <a:rPr lang="en-US" altLang="ko-KR" sz="1200" dirty="0">
                <a:sym typeface="Wingdings" panose="05000000000000000000" pitchFamily="2" charset="2"/>
              </a:rPr>
              <a:t>.</a:t>
            </a:r>
            <a:endParaRPr lang="ko-KR" altLang="en-US" sz="12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351E650-725F-F490-1FC3-F3E6923E7A08}"/>
              </a:ext>
            </a:extLst>
          </p:cNvPr>
          <p:cNvGrpSpPr/>
          <p:nvPr/>
        </p:nvGrpSpPr>
        <p:grpSpPr>
          <a:xfrm>
            <a:off x="1231272" y="3735645"/>
            <a:ext cx="7414788" cy="2100181"/>
            <a:chOff x="1231271" y="3296203"/>
            <a:chExt cx="8148119" cy="253962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516AC51-4160-53A4-3AD1-57A5A808B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1271" y="3296203"/>
              <a:ext cx="8148119" cy="250440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085219D-56C9-C1BA-7B35-479CEF6EA321}"/>
                </a:ext>
              </a:extLst>
            </p:cNvPr>
            <p:cNvSpPr/>
            <p:nvPr/>
          </p:nvSpPr>
          <p:spPr>
            <a:xfrm>
              <a:off x="1321806" y="5558828"/>
              <a:ext cx="1729212" cy="27699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475B20B-B433-FAA6-CB0D-F9C922717751}"/>
              </a:ext>
            </a:extLst>
          </p:cNvPr>
          <p:cNvSpPr txBox="1"/>
          <p:nvPr/>
        </p:nvSpPr>
        <p:spPr>
          <a:xfrm>
            <a:off x="1231271" y="5975288"/>
            <a:ext cx="10058400" cy="371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상태표시줄이 올바르게 적용된 경우</a:t>
            </a:r>
          </a:p>
        </p:txBody>
      </p:sp>
    </p:spTree>
    <p:extLst>
      <p:ext uri="{BB962C8B-B14F-4D97-AF65-F5344CB8AC3E}">
        <p14:creationId xmlns:p14="http://schemas.microsoft.com/office/powerpoint/2010/main" val="1477331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1A1388B-0603-DA80-C447-2686B7FCE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962" y="1928388"/>
            <a:ext cx="3184884" cy="4765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C081CE-9741-D39C-70B0-AEC6755D19F7}"/>
              </a:ext>
            </a:extLst>
          </p:cNvPr>
          <p:cNvSpPr txBox="1"/>
          <p:nvPr/>
        </p:nvSpPr>
        <p:spPr>
          <a:xfrm>
            <a:off x="4209535" y="2544867"/>
            <a:ext cx="7982465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C:\Users\user\.claude\settings.json </a:t>
            </a:r>
            <a:r>
              <a:rPr lang="ko-KR" altLang="en-US" sz="1400" b="1" dirty="0"/>
              <a:t>상태표시줄 설정</a:t>
            </a:r>
            <a:br>
              <a:rPr lang="en-US" altLang="ko-KR" sz="1100" dirty="0"/>
            </a:br>
            <a:r>
              <a:rPr lang="ko-KR" altLang="en-US" sz="1100" dirty="0"/>
              <a:t>{</a:t>
            </a:r>
          </a:p>
          <a:p>
            <a:r>
              <a:rPr lang="ko-KR" altLang="en-US" sz="1100" dirty="0"/>
              <a:t>  "</a:t>
            </a:r>
            <a:r>
              <a:rPr lang="ko-KR" altLang="en-US" sz="1100" dirty="0" err="1"/>
              <a:t>autoUpdatesChannel</a:t>
            </a:r>
            <a:r>
              <a:rPr lang="ko-KR" altLang="en-US" sz="1100" dirty="0"/>
              <a:t>": "</a:t>
            </a:r>
            <a:r>
              <a:rPr lang="ko-KR" altLang="en-US" sz="1100" dirty="0" err="1"/>
              <a:t>latest</a:t>
            </a:r>
            <a:r>
              <a:rPr lang="ko-KR" altLang="en-US" sz="1100" dirty="0"/>
              <a:t>",</a:t>
            </a:r>
          </a:p>
          <a:p>
            <a:r>
              <a:rPr lang="ko-KR" altLang="en-US" sz="1100" dirty="0"/>
              <a:t>  "</a:t>
            </a:r>
            <a:r>
              <a:rPr lang="ko-KR" altLang="en-US" sz="1100" dirty="0" err="1"/>
              <a:t>statusLine</a:t>
            </a:r>
            <a:r>
              <a:rPr lang="ko-KR" altLang="en-US" sz="1100" dirty="0"/>
              <a:t>": {</a:t>
            </a:r>
          </a:p>
          <a:p>
            <a:r>
              <a:rPr lang="ko-KR" altLang="en-US" sz="1100" dirty="0"/>
              <a:t>    "</a:t>
            </a:r>
            <a:r>
              <a:rPr lang="ko-KR" altLang="en-US" sz="1100" dirty="0" err="1"/>
              <a:t>type</a:t>
            </a:r>
            <a:r>
              <a:rPr lang="ko-KR" altLang="en-US" sz="1100" dirty="0"/>
              <a:t>": "</a:t>
            </a:r>
            <a:r>
              <a:rPr lang="ko-KR" altLang="en-US" sz="1100" dirty="0" err="1"/>
              <a:t>command</a:t>
            </a:r>
            <a:r>
              <a:rPr lang="ko-KR" altLang="en-US" sz="1100" dirty="0"/>
              <a:t>",</a:t>
            </a:r>
          </a:p>
          <a:p>
            <a:r>
              <a:rPr lang="ko-KR" altLang="en-US" sz="1100" dirty="0"/>
              <a:t>    "</a:t>
            </a:r>
            <a:r>
              <a:rPr lang="ko-KR" altLang="en-US" sz="1100" dirty="0" err="1"/>
              <a:t>command</a:t>
            </a:r>
            <a:r>
              <a:rPr lang="ko-KR" altLang="en-US" sz="1100" dirty="0"/>
              <a:t>": "</a:t>
            </a:r>
            <a:r>
              <a:rPr lang="ko-KR" altLang="en-US" sz="1100" dirty="0" err="1"/>
              <a:t>powershell</a:t>
            </a:r>
            <a:r>
              <a:rPr lang="ko-KR" altLang="en-US" sz="1100" dirty="0"/>
              <a:t> -</a:t>
            </a:r>
            <a:r>
              <a:rPr lang="ko-KR" altLang="en-US" sz="1100" dirty="0" err="1"/>
              <a:t>NoProfile</a:t>
            </a:r>
            <a:r>
              <a:rPr lang="ko-KR" altLang="en-US" sz="1100" dirty="0"/>
              <a:t> -</a:t>
            </a:r>
            <a:r>
              <a:rPr lang="ko-KR" altLang="en-US" sz="1100" dirty="0" err="1"/>
              <a:t>ExecutionPolicy</a:t>
            </a:r>
            <a:r>
              <a:rPr lang="ko-KR" altLang="en-US" sz="1100" dirty="0"/>
              <a:t> </a:t>
            </a:r>
            <a:r>
              <a:rPr lang="ko-KR" altLang="en-US" sz="1100" dirty="0" err="1"/>
              <a:t>Bypass</a:t>
            </a:r>
            <a:r>
              <a:rPr lang="ko-KR" altLang="en-US" sz="1100" dirty="0"/>
              <a:t> -</a:t>
            </a:r>
            <a:r>
              <a:rPr lang="ko-KR" altLang="en-US" sz="1100" dirty="0" err="1"/>
              <a:t>File</a:t>
            </a:r>
            <a:r>
              <a:rPr lang="ko-KR" altLang="en-US" sz="1100" dirty="0"/>
              <a:t> C:\\Users\\HanByul\\.claude\\scripts\\statusline.ps1"</a:t>
            </a:r>
          </a:p>
          <a:p>
            <a:r>
              <a:rPr lang="ko-KR" altLang="en-US" sz="1100" dirty="0"/>
              <a:t>  }</a:t>
            </a:r>
          </a:p>
          <a:p>
            <a:r>
              <a:rPr lang="ko-KR" altLang="en-US" sz="1100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F0ED5A-B0A1-D4CA-68BC-AE453C2A5D7B}"/>
              </a:ext>
            </a:extLst>
          </p:cNvPr>
          <p:cNvSpPr txBox="1"/>
          <p:nvPr/>
        </p:nvSpPr>
        <p:spPr>
          <a:xfrm>
            <a:off x="4209535" y="640913"/>
            <a:ext cx="6097508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# Claude Code </a:t>
            </a:r>
            <a:r>
              <a:rPr lang="ko-KR" altLang="en-US" sz="200" b="1" dirty="0">
                <a:solidFill>
                  <a:srgbClr val="24292F"/>
                </a:solidFill>
                <a:latin typeface="Pretendard"/>
              </a:rPr>
              <a:t>상태표시줄 스크립트</a:t>
            </a: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$data = [Console]::</a:t>
            </a:r>
            <a:r>
              <a:rPr lang="en-US" altLang="ko-KR" sz="200" b="1" dirty="0" err="1">
                <a:solidFill>
                  <a:srgbClr val="24292F"/>
                </a:solidFill>
                <a:latin typeface="Pretendard"/>
              </a:rPr>
              <a:t>In.ReadToEnd</a:t>
            </a: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()</a:t>
            </a: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$</a:t>
            </a:r>
            <a:r>
              <a:rPr lang="en-US" altLang="ko-KR" sz="200" b="1" dirty="0" err="1">
                <a:solidFill>
                  <a:srgbClr val="24292F"/>
                </a:solidFill>
                <a:latin typeface="Pretendard"/>
              </a:rPr>
              <a:t>json</a:t>
            </a: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 = $data | </a:t>
            </a:r>
            <a:r>
              <a:rPr lang="en-US" altLang="ko-KR" sz="200" b="1" dirty="0" err="1">
                <a:solidFill>
                  <a:srgbClr val="24292F"/>
                </a:solidFill>
                <a:latin typeface="Pretendard"/>
              </a:rPr>
              <a:t>ConvertFrom</a:t>
            </a: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-Json</a:t>
            </a:r>
          </a:p>
          <a:p>
            <a:pPr fontAlgn="base">
              <a:spcAft>
                <a:spcPts val="1200"/>
              </a:spcAft>
            </a:pPr>
            <a:endParaRPr lang="en-US" altLang="ko-KR" sz="200" b="1" dirty="0">
              <a:solidFill>
                <a:srgbClr val="24292F"/>
              </a:solidFill>
              <a:latin typeface="Pretendard"/>
            </a:endParaRP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$</a:t>
            </a:r>
            <a:r>
              <a:rPr lang="en-US" altLang="ko-KR" sz="200" b="1" dirty="0" err="1">
                <a:solidFill>
                  <a:srgbClr val="24292F"/>
                </a:solidFill>
                <a:latin typeface="Pretendard"/>
              </a:rPr>
              <a:t>cwd</a:t>
            </a: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 = $</a:t>
            </a:r>
            <a:r>
              <a:rPr lang="en-US" altLang="ko-KR" sz="200" b="1" dirty="0" err="1">
                <a:solidFill>
                  <a:srgbClr val="24292F"/>
                </a:solidFill>
                <a:latin typeface="Pretendard"/>
              </a:rPr>
              <a:t>json.workspace.current_dir</a:t>
            </a:r>
            <a:endParaRPr lang="en-US" altLang="ko-KR" sz="200" b="1" dirty="0">
              <a:solidFill>
                <a:srgbClr val="24292F"/>
              </a:solidFill>
              <a:latin typeface="Pretendard"/>
            </a:endParaRP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$model = $</a:t>
            </a:r>
            <a:r>
              <a:rPr lang="en-US" altLang="ko-KR" sz="200" b="1" dirty="0" err="1">
                <a:solidFill>
                  <a:srgbClr val="24292F"/>
                </a:solidFill>
                <a:latin typeface="Pretendard"/>
              </a:rPr>
              <a:t>json.model.display_name</a:t>
            </a:r>
            <a:endParaRPr lang="en-US" altLang="ko-KR" sz="200" b="1" dirty="0">
              <a:solidFill>
                <a:srgbClr val="24292F"/>
              </a:solidFill>
              <a:latin typeface="Pretendard"/>
            </a:endParaRP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$used = $</a:t>
            </a:r>
            <a:r>
              <a:rPr lang="en-US" altLang="ko-KR" sz="200" b="1" dirty="0" err="1">
                <a:solidFill>
                  <a:srgbClr val="24292F"/>
                </a:solidFill>
                <a:latin typeface="Pretendard"/>
              </a:rPr>
              <a:t>json.context_window.used_percentage</a:t>
            </a:r>
            <a:endParaRPr lang="en-US" altLang="ko-KR" sz="200" b="1" dirty="0">
              <a:solidFill>
                <a:srgbClr val="24292F"/>
              </a:solidFill>
              <a:latin typeface="Pretendard"/>
            </a:endParaRPr>
          </a:p>
          <a:p>
            <a:pPr fontAlgn="base">
              <a:spcAft>
                <a:spcPts val="1200"/>
              </a:spcAft>
            </a:pPr>
            <a:endParaRPr lang="en-US" altLang="ko-KR" sz="200" b="1" dirty="0">
              <a:solidFill>
                <a:srgbClr val="24292F"/>
              </a:solidFill>
              <a:latin typeface="Pretendard"/>
            </a:endParaRP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# Git </a:t>
            </a:r>
            <a:r>
              <a:rPr lang="ko-KR" altLang="en-US" sz="200" b="1" dirty="0" err="1">
                <a:solidFill>
                  <a:srgbClr val="24292F"/>
                </a:solidFill>
                <a:latin typeface="Pretendard"/>
              </a:rPr>
              <a:t>브랜치</a:t>
            </a:r>
            <a:r>
              <a:rPr lang="ko-KR" altLang="en-US" sz="200" b="1" dirty="0">
                <a:solidFill>
                  <a:srgbClr val="24292F"/>
                </a:solidFill>
                <a:latin typeface="Pretendard"/>
              </a:rPr>
              <a:t> 확인</a:t>
            </a: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$</a:t>
            </a:r>
            <a:r>
              <a:rPr lang="en-US" altLang="ko-KR" sz="200" b="1" dirty="0" err="1">
                <a:solidFill>
                  <a:srgbClr val="24292F"/>
                </a:solidFill>
                <a:latin typeface="Pretendard"/>
              </a:rPr>
              <a:t>git_branch</a:t>
            </a: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 = ''</a:t>
            </a: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try {</a:t>
            </a: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    Push-Location $</a:t>
            </a:r>
            <a:r>
              <a:rPr lang="en-US" altLang="ko-KR" sz="200" b="1" dirty="0" err="1">
                <a:solidFill>
                  <a:srgbClr val="24292F"/>
                </a:solidFill>
                <a:latin typeface="Pretendard"/>
              </a:rPr>
              <a:t>cwd</a:t>
            </a: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 -</a:t>
            </a:r>
            <a:r>
              <a:rPr lang="en-US" altLang="ko-KR" sz="200" b="1" dirty="0" err="1">
                <a:solidFill>
                  <a:srgbClr val="24292F"/>
                </a:solidFill>
                <a:latin typeface="Pretendard"/>
              </a:rPr>
              <a:t>ErrorAction</a:t>
            </a: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 </a:t>
            </a:r>
            <a:r>
              <a:rPr lang="en-US" altLang="ko-KR" sz="200" b="1" dirty="0" err="1">
                <a:solidFill>
                  <a:srgbClr val="24292F"/>
                </a:solidFill>
                <a:latin typeface="Pretendard"/>
              </a:rPr>
              <a:t>SilentlyContinue</a:t>
            </a:r>
            <a:endParaRPr lang="en-US" altLang="ko-KR" sz="200" b="1" dirty="0">
              <a:solidFill>
                <a:srgbClr val="24292F"/>
              </a:solidFill>
              <a:latin typeface="Pretendard"/>
            </a:endParaRP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    $</a:t>
            </a:r>
            <a:r>
              <a:rPr lang="en-US" altLang="ko-KR" sz="200" b="1" dirty="0" err="1">
                <a:solidFill>
                  <a:srgbClr val="24292F"/>
                </a:solidFill>
                <a:latin typeface="Pretendard"/>
              </a:rPr>
              <a:t>git_branch</a:t>
            </a: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 = git branch --show-current 2&gt;$null</a:t>
            </a: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    Pop-Location</a:t>
            </a: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} catch {}</a:t>
            </a:r>
          </a:p>
          <a:p>
            <a:pPr fontAlgn="base">
              <a:spcAft>
                <a:spcPts val="1200"/>
              </a:spcAft>
            </a:pPr>
            <a:endParaRPr lang="en-US" altLang="ko-KR" sz="200" b="1" dirty="0">
              <a:solidFill>
                <a:srgbClr val="24292F"/>
              </a:solidFill>
              <a:latin typeface="Pretendard"/>
            </a:endParaRP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# ESC </a:t>
            </a:r>
            <a:r>
              <a:rPr lang="ko-KR" altLang="en-US" sz="200" b="1" dirty="0">
                <a:solidFill>
                  <a:srgbClr val="24292F"/>
                </a:solidFill>
                <a:latin typeface="Pretendard"/>
              </a:rPr>
              <a:t>문자</a:t>
            </a: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$esc = [char]27</a:t>
            </a:r>
          </a:p>
          <a:p>
            <a:pPr fontAlgn="base">
              <a:spcAft>
                <a:spcPts val="1200"/>
              </a:spcAft>
            </a:pPr>
            <a:endParaRPr lang="en-US" altLang="ko-KR" sz="200" b="1" dirty="0">
              <a:solidFill>
                <a:srgbClr val="24292F"/>
              </a:solidFill>
              <a:latin typeface="Pretendard"/>
            </a:endParaRP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# Git </a:t>
            </a:r>
            <a:r>
              <a:rPr lang="ko-KR" altLang="en-US" sz="200" b="1" dirty="0">
                <a:solidFill>
                  <a:srgbClr val="24292F"/>
                </a:solidFill>
                <a:latin typeface="Pretendard"/>
              </a:rPr>
              <a:t>정보 포맷</a:t>
            </a: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$</a:t>
            </a:r>
            <a:r>
              <a:rPr lang="en-US" altLang="ko-KR" sz="200" b="1" dirty="0" err="1">
                <a:solidFill>
                  <a:srgbClr val="24292F"/>
                </a:solidFill>
                <a:latin typeface="Pretendard"/>
              </a:rPr>
              <a:t>git_info</a:t>
            </a: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 = ''</a:t>
            </a: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if ($</a:t>
            </a:r>
            <a:r>
              <a:rPr lang="en-US" altLang="ko-KR" sz="200" b="1" dirty="0" err="1">
                <a:solidFill>
                  <a:srgbClr val="24292F"/>
                </a:solidFill>
                <a:latin typeface="Pretendard"/>
              </a:rPr>
              <a:t>git_branch</a:t>
            </a: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) {</a:t>
            </a: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    $</a:t>
            </a:r>
            <a:r>
              <a:rPr lang="en-US" altLang="ko-KR" sz="200" b="1" dirty="0" err="1">
                <a:solidFill>
                  <a:srgbClr val="24292F"/>
                </a:solidFill>
                <a:latin typeface="Pretendard"/>
              </a:rPr>
              <a:t>git_info</a:t>
            </a: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 = " on $esc[35m$git_branch$esc[0m"</a:t>
            </a: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}</a:t>
            </a:r>
          </a:p>
          <a:p>
            <a:pPr fontAlgn="base">
              <a:spcAft>
                <a:spcPts val="1200"/>
              </a:spcAft>
            </a:pPr>
            <a:endParaRPr lang="en-US" altLang="ko-KR" sz="200" b="1" dirty="0">
              <a:solidFill>
                <a:srgbClr val="24292F"/>
              </a:solidFill>
              <a:latin typeface="Pretendard"/>
            </a:endParaRP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# </a:t>
            </a:r>
            <a:r>
              <a:rPr lang="ko-KR" altLang="en-US" sz="200" b="1" dirty="0">
                <a:solidFill>
                  <a:srgbClr val="24292F"/>
                </a:solidFill>
                <a:latin typeface="Pretendard"/>
              </a:rPr>
              <a:t>컨텍스트 사용량</a:t>
            </a: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$</a:t>
            </a:r>
            <a:r>
              <a:rPr lang="en-US" altLang="ko-KR" sz="200" b="1" dirty="0" err="1">
                <a:solidFill>
                  <a:srgbClr val="24292F"/>
                </a:solidFill>
                <a:latin typeface="Pretendard"/>
              </a:rPr>
              <a:t>ctx_info</a:t>
            </a: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 = ''</a:t>
            </a: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if ($null -ne $used) {</a:t>
            </a: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    $</a:t>
            </a:r>
            <a:r>
              <a:rPr lang="en-US" altLang="ko-KR" sz="200" b="1" dirty="0" err="1">
                <a:solidFill>
                  <a:srgbClr val="24292F"/>
                </a:solidFill>
                <a:latin typeface="Pretendard"/>
              </a:rPr>
              <a:t>used_rounded</a:t>
            </a: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 = [math]::Round($used, 0)</a:t>
            </a: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    $</a:t>
            </a:r>
            <a:r>
              <a:rPr lang="en-US" altLang="ko-KR" sz="200" b="1" dirty="0" err="1">
                <a:solidFill>
                  <a:srgbClr val="24292F"/>
                </a:solidFill>
                <a:latin typeface="Pretendard"/>
              </a:rPr>
              <a:t>ctx_info</a:t>
            </a: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 = " $esc[33m[</a:t>
            </a:r>
            <a:r>
              <a:rPr lang="en-US" altLang="ko-KR" sz="200" b="1" dirty="0" err="1">
                <a:solidFill>
                  <a:srgbClr val="24292F"/>
                </a:solidFill>
                <a:latin typeface="Pretendard"/>
              </a:rPr>
              <a:t>ctx</a:t>
            </a: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: $</a:t>
            </a:r>
            <a:r>
              <a:rPr lang="en-US" altLang="ko-KR" sz="200" b="1" dirty="0" err="1">
                <a:solidFill>
                  <a:srgbClr val="24292F"/>
                </a:solidFill>
                <a:latin typeface="Pretendard"/>
              </a:rPr>
              <a:t>used_rounded</a:t>
            </a: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%]$esc[0m"</a:t>
            </a: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}</a:t>
            </a:r>
          </a:p>
          <a:p>
            <a:pPr fontAlgn="base">
              <a:spcAft>
                <a:spcPts val="1200"/>
              </a:spcAft>
            </a:pPr>
            <a:endParaRPr lang="en-US" altLang="ko-KR" sz="200" b="1" dirty="0">
              <a:solidFill>
                <a:srgbClr val="24292F"/>
              </a:solidFill>
              <a:latin typeface="Pretendard"/>
            </a:endParaRP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# </a:t>
            </a:r>
            <a:r>
              <a:rPr lang="ko-KR" altLang="en-US" sz="200" b="1" dirty="0">
                <a:solidFill>
                  <a:srgbClr val="24292F"/>
                </a:solidFill>
                <a:latin typeface="Pretendard"/>
              </a:rPr>
              <a:t>출력</a:t>
            </a: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: </a:t>
            </a:r>
            <a:r>
              <a:rPr lang="ko-KR" altLang="en-US" sz="200" b="1" dirty="0">
                <a:solidFill>
                  <a:srgbClr val="24292F"/>
                </a:solidFill>
                <a:latin typeface="Pretendard"/>
              </a:rPr>
              <a:t>디렉토리 </a:t>
            </a: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(</a:t>
            </a:r>
            <a:r>
              <a:rPr lang="ko-KR" altLang="en-US" sz="200" b="1" dirty="0">
                <a:solidFill>
                  <a:srgbClr val="24292F"/>
                </a:solidFill>
                <a:latin typeface="Pretendard"/>
              </a:rPr>
              <a:t>청록</a:t>
            </a: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) | </a:t>
            </a:r>
            <a:r>
              <a:rPr lang="ko-KR" altLang="en-US" sz="200" b="1" dirty="0" err="1">
                <a:solidFill>
                  <a:srgbClr val="24292F"/>
                </a:solidFill>
                <a:latin typeface="Pretendard"/>
              </a:rPr>
              <a:t>브랜치</a:t>
            </a:r>
            <a:r>
              <a:rPr lang="ko-KR" altLang="en-US" sz="200" b="1" dirty="0">
                <a:solidFill>
                  <a:srgbClr val="24292F"/>
                </a:solidFill>
                <a:latin typeface="Pretendard"/>
              </a:rPr>
              <a:t> </a:t>
            </a: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(</a:t>
            </a:r>
            <a:r>
              <a:rPr lang="ko-KR" altLang="en-US" sz="200" b="1" dirty="0">
                <a:solidFill>
                  <a:srgbClr val="24292F"/>
                </a:solidFill>
                <a:latin typeface="Pretendard"/>
              </a:rPr>
              <a:t>보라</a:t>
            </a: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) | </a:t>
            </a:r>
            <a:r>
              <a:rPr lang="ko-KR" altLang="en-US" sz="200" b="1" dirty="0">
                <a:solidFill>
                  <a:srgbClr val="24292F"/>
                </a:solidFill>
                <a:latin typeface="Pretendard"/>
              </a:rPr>
              <a:t>모델 </a:t>
            </a: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(</a:t>
            </a:r>
            <a:r>
              <a:rPr lang="ko-KR" altLang="en-US" sz="200" b="1" dirty="0">
                <a:solidFill>
                  <a:srgbClr val="24292F"/>
                </a:solidFill>
                <a:latin typeface="Pretendard"/>
              </a:rPr>
              <a:t>초록</a:t>
            </a: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) | </a:t>
            </a:r>
            <a:r>
              <a:rPr lang="ko-KR" altLang="en-US" sz="200" b="1" dirty="0">
                <a:solidFill>
                  <a:srgbClr val="24292F"/>
                </a:solidFill>
                <a:latin typeface="Pretendard"/>
              </a:rPr>
              <a:t>컨텍스트 </a:t>
            </a: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(</a:t>
            </a:r>
            <a:r>
              <a:rPr lang="ko-KR" altLang="en-US" sz="200" b="1" dirty="0">
                <a:solidFill>
                  <a:srgbClr val="24292F"/>
                </a:solidFill>
                <a:latin typeface="Pretendard"/>
              </a:rPr>
              <a:t>노랑</a:t>
            </a: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)</a:t>
            </a:r>
          </a:p>
          <a:p>
            <a:pPr fontAlgn="base">
              <a:spcAft>
                <a:spcPts val="1200"/>
              </a:spcAft>
            </a:pPr>
            <a:r>
              <a:rPr lang="en-US" altLang="ko-KR" sz="200" b="1" dirty="0">
                <a:solidFill>
                  <a:srgbClr val="24292F"/>
                </a:solidFill>
                <a:latin typeface="Pretendard"/>
              </a:rPr>
              <a:t>Write-Host "$esc[36m$cwd$esc[0m$git_info $esc[32m[$model]$esc[0m$ctx_info" -</a:t>
            </a:r>
            <a:r>
              <a:rPr lang="en-US" altLang="ko-KR" sz="200" b="1" dirty="0" err="1">
                <a:solidFill>
                  <a:srgbClr val="24292F"/>
                </a:solidFill>
                <a:latin typeface="Pretendard"/>
              </a:rPr>
              <a:t>NoNewline</a:t>
            </a:r>
            <a:endParaRPr lang="en-US" altLang="ko-KR" sz="200" b="1" dirty="0">
              <a:solidFill>
                <a:srgbClr val="24292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280072913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36</TotalTime>
  <Words>415</Words>
  <Application>Microsoft Office PowerPoint</Application>
  <PresentationFormat>와이드스크린</PresentationFormat>
  <Paragraphs>53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Pretendard</vt:lpstr>
      <vt:lpstr>Calibri</vt:lpstr>
      <vt:lpstr>Calibri Light</vt:lpstr>
      <vt:lpstr>Wingdings</vt:lpstr>
      <vt:lpstr>추억</vt:lpstr>
      <vt:lpstr>Statusline (상태표시줄)</vt:lpstr>
      <vt:lpstr>상태 표시줄 적용 (/statusline)</vt:lpstr>
      <vt:lpstr>상태 표시줄 적용 확인 </vt:lpstr>
      <vt:lpstr>상태 표시줄 적용 실패 시 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6</cp:revision>
  <dcterms:created xsi:type="dcterms:W3CDTF">2026-06-24T12:48:07Z</dcterms:created>
  <dcterms:modified xsi:type="dcterms:W3CDTF">2026-06-24T13:24:30Z</dcterms:modified>
</cp:coreProperties>
</file>