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06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2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60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61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683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99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371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871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94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08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89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BA7AE5D-E6F9-43BD-BF95-389E6A5FF5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FEDC11D-C6CF-4DCA-B500-20CE4757961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62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17679-975B-6DB5-409F-D21CBA9CF1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메모리 관리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54E91C-4559-D0AA-AD3A-21048EA179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91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B42D4-9470-03DE-18AE-634835EB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파일의 종류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F8276E-49A0-B439-CD14-E4A12605F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24" y="1909375"/>
            <a:ext cx="6954882" cy="3383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D85ED9-B5B2-1FA6-F0DF-550A26DBD92C}"/>
              </a:ext>
            </a:extLst>
          </p:cNvPr>
          <p:cNvSpPr txBox="1"/>
          <p:nvPr/>
        </p:nvSpPr>
        <p:spPr>
          <a:xfrm>
            <a:off x="7170345" y="1909375"/>
            <a:ext cx="47983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CLAUDE.md </a:t>
            </a:r>
            <a:r>
              <a:rPr lang="ko-KR" altLang="en-US" sz="1200" dirty="0"/>
              <a:t>파일이 </a:t>
            </a:r>
            <a:r>
              <a:rPr lang="en-US" altLang="ko-KR" sz="1200" dirty="0"/>
              <a:t>OS</a:t>
            </a:r>
            <a:r>
              <a:rPr lang="ko-KR" altLang="en-US" sz="1200" dirty="0"/>
              <a:t>의 어느 경로에 </a:t>
            </a:r>
            <a:r>
              <a:rPr lang="ko-KR" altLang="en-US" sz="1200" dirty="0" err="1"/>
              <a:t>위치하느냐에</a:t>
            </a:r>
            <a:r>
              <a:rPr lang="ko-KR" altLang="en-US" sz="1200" dirty="0"/>
              <a:t> 따라 다른 정책들이 적용된다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관리 정책 </a:t>
            </a:r>
            <a:r>
              <a:rPr lang="en-US" altLang="ko-KR" sz="1200" dirty="0"/>
              <a:t>: </a:t>
            </a:r>
            <a:r>
              <a:rPr lang="ko-KR" altLang="en-US" sz="1200" dirty="0"/>
              <a:t>프로젝트 관리자</a:t>
            </a:r>
            <a:r>
              <a:rPr lang="en-US" altLang="ko-KR" sz="1200" dirty="0"/>
              <a:t>PM </a:t>
            </a:r>
            <a:r>
              <a:rPr lang="ko-KR" altLang="en-US" sz="1200" dirty="0"/>
              <a:t>급이 조직 관리를 위해 공통된 </a:t>
            </a:r>
            <a:r>
              <a:rPr lang="en-US" altLang="ko-KR" sz="1200" dirty="0" err="1"/>
              <a:t>claude</a:t>
            </a:r>
            <a:r>
              <a:rPr lang="en-US" altLang="ko-KR" sz="1200" dirty="0"/>
              <a:t> </a:t>
            </a:r>
            <a:br>
              <a:rPr lang="en-US" altLang="ko-KR" sz="1200" dirty="0"/>
            </a:br>
            <a:r>
              <a:rPr lang="en-US" altLang="ko-KR" sz="1200" dirty="0"/>
              <a:t>                     </a:t>
            </a:r>
            <a:r>
              <a:rPr lang="ko-KR" altLang="en-US" sz="1200" dirty="0"/>
              <a:t>규칙을 적용하고자 할 때</a:t>
            </a:r>
            <a:r>
              <a:rPr lang="en-US" altLang="ko-KR" sz="1200" dirty="0"/>
              <a:t>, OS</a:t>
            </a:r>
            <a:r>
              <a:rPr lang="ko-KR" altLang="en-US" sz="1200" dirty="0"/>
              <a:t> 별 경로에 </a:t>
            </a:r>
            <a:r>
              <a:rPr lang="en-US" altLang="ko-KR" sz="1200" dirty="0"/>
              <a:t>CLAUDE.md </a:t>
            </a:r>
            <a:r>
              <a:rPr lang="ko-KR" altLang="en-US" sz="1200" dirty="0"/>
              <a:t>파일을 </a:t>
            </a:r>
            <a:br>
              <a:rPr lang="en-US" altLang="ko-KR" sz="1200" dirty="0"/>
            </a:br>
            <a:r>
              <a:rPr lang="en-US" altLang="ko-KR" sz="1200" dirty="0"/>
              <a:t>                     </a:t>
            </a:r>
            <a:r>
              <a:rPr lang="ko-KR" altLang="en-US" sz="1200" dirty="0"/>
              <a:t>위치시킨다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사용자 지침 </a:t>
            </a:r>
            <a:r>
              <a:rPr lang="en-US" altLang="ko-KR" sz="1200" dirty="0"/>
              <a:t>: PC</a:t>
            </a:r>
            <a:r>
              <a:rPr lang="ko-KR" altLang="en-US" sz="1200" dirty="0"/>
              <a:t> 사용자가 개인별 취향에 따라 프로젝트 수행 시</a:t>
            </a:r>
            <a:br>
              <a:rPr lang="en-US" altLang="ko-KR" sz="1200" dirty="0"/>
            </a:br>
            <a:r>
              <a:rPr lang="en-US" altLang="ko-KR" sz="1200" dirty="0"/>
              <a:t>                         </a:t>
            </a:r>
            <a:r>
              <a:rPr lang="ko-KR" altLang="en-US" sz="1200" dirty="0"/>
              <a:t>적용시키고자 하는 규칙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프로젝트 지침 </a:t>
            </a:r>
            <a:r>
              <a:rPr lang="en-US" altLang="ko-KR" sz="1200" dirty="0"/>
              <a:t>: </a:t>
            </a:r>
            <a:r>
              <a:rPr lang="ko-KR" altLang="en-US" sz="1200" dirty="0"/>
              <a:t>같이 프로젝트를 수행 하는 팀원들이 공유 </a:t>
            </a:r>
            <a:r>
              <a:rPr lang="ko-KR" altLang="en-US" sz="1200" dirty="0" err="1"/>
              <a:t>해야하는</a:t>
            </a:r>
            <a:br>
              <a:rPr lang="en-US" altLang="ko-KR" sz="1200" dirty="0"/>
            </a:br>
            <a:r>
              <a:rPr lang="en-US" altLang="ko-KR" sz="1200" dirty="0"/>
              <a:t>                              Claude </a:t>
            </a:r>
            <a:r>
              <a:rPr lang="ko-KR" altLang="en-US" sz="1200" dirty="0"/>
              <a:t>규칙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로컬 지침 </a:t>
            </a:r>
            <a:r>
              <a:rPr lang="en-US" altLang="ko-KR" sz="1200" dirty="0"/>
              <a:t>: </a:t>
            </a:r>
            <a:r>
              <a:rPr lang="ko-KR" altLang="en-US" sz="1200" dirty="0"/>
              <a:t>작업하는 프로젝트 내</a:t>
            </a:r>
            <a:r>
              <a:rPr lang="en-US" altLang="ko-KR" sz="1200" dirty="0"/>
              <a:t>, </a:t>
            </a:r>
            <a:r>
              <a:rPr lang="ko-KR" altLang="en-US" sz="1200" dirty="0"/>
              <a:t>개인 취향에 맞는 </a:t>
            </a:r>
            <a:r>
              <a:rPr lang="en-US" altLang="ko-KR" sz="1200" dirty="0"/>
              <a:t>Claude </a:t>
            </a:r>
            <a:r>
              <a:rPr lang="ko-KR" altLang="en-US" sz="1200" dirty="0"/>
              <a:t>수행 규칙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※ CLAUDE.md </a:t>
            </a:r>
            <a:r>
              <a:rPr lang="ko-KR" altLang="en-US" sz="1200" dirty="0"/>
              <a:t>파일은 </a:t>
            </a:r>
            <a:r>
              <a:rPr lang="en-US" altLang="ko-KR" sz="1200" dirty="0" err="1"/>
              <a:t>claude</a:t>
            </a:r>
            <a:r>
              <a:rPr lang="ko-KR" altLang="en-US" sz="1200" dirty="0"/>
              <a:t>가 지켜야 할 사항</a:t>
            </a:r>
            <a:r>
              <a:rPr lang="en-US" altLang="ko-KR" sz="1200" dirty="0"/>
              <a:t>(</a:t>
            </a:r>
            <a:r>
              <a:rPr lang="ko-KR" altLang="en-US" sz="1200" dirty="0"/>
              <a:t>규칙</a:t>
            </a:r>
            <a:r>
              <a:rPr lang="en-US" altLang="ko-KR" sz="1200" dirty="0"/>
              <a:t>)</a:t>
            </a:r>
            <a:r>
              <a:rPr lang="ko-KR" altLang="en-US" sz="1200" dirty="0"/>
              <a:t>을 정리해둔 메모리 파일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75247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D80AC0-0C33-C883-C4E0-B1B61CA5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CLAUDE.md</a:t>
            </a:r>
            <a:r>
              <a:rPr lang="ko-KR" altLang="en-US" sz="4000" dirty="0"/>
              <a:t> 에 작성해두면 좋은 규칙 예시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8A16C-A1BE-115B-FD1F-CF4126EBEFAF}"/>
              </a:ext>
            </a:extLst>
          </p:cNvPr>
          <p:cNvSpPr txBox="1"/>
          <p:nvPr/>
        </p:nvSpPr>
        <p:spPr>
          <a:xfrm>
            <a:off x="4644428" y="1925431"/>
            <a:ext cx="71160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※ CLUADE.md </a:t>
            </a:r>
            <a:r>
              <a:rPr lang="ko-KR" altLang="en-US" sz="1400" dirty="0"/>
              <a:t>파일에 프로젝트 규칙을 적어놓더라도 해당 규칙을 </a:t>
            </a:r>
            <a:r>
              <a:rPr lang="en-US" altLang="ko-KR" sz="1400" dirty="0"/>
              <a:t>100</a:t>
            </a:r>
            <a:r>
              <a:rPr lang="ko-KR" altLang="en-US" sz="1400" dirty="0"/>
              <a:t>프로 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준수하여 코드를 작성하지 않는다</a:t>
            </a:r>
            <a:r>
              <a:rPr lang="en-US" altLang="ko-KR" sz="1400" dirty="0"/>
              <a:t>. (</a:t>
            </a:r>
            <a:r>
              <a:rPr lang="ko-KR" altLang="en-US" sz="1400" dirty="0"/>
              <a:t>권고 사항일 뿐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sz="1400" dirty="0">
                <a:sym typeface="Wingdings" panose="05000000000000000000" pitchFamily="2" charset="2"/>
              </a:rPr>
              <a:t>만약 누락되지 않았으면 하는  매우 중요한 지침이라고 한다면</a:t>
            </a:r>
            <a:r>
              <a:rPr lang="en-US" altLang="ko-KR" sz="1400" dirty="0">
                <a:sym typeface="Wingdings" panose="05000000000000000000" pitchFamily="2" charset="2"/>
              </a:rPr>
              <a:t> IMPORTANT </a:t>
            </a:r>
            <a:r>
              <a:rPr lang="ko-KR" altLang="en-US" sz="1400" dirty="0">
                <a:sym typeface="Wingdings" panose="05000000000000000000" pitchFamily="2" charset="2"/>
              </a:rPr>
              <a:t>나 </a:t>
            </a:r>
            <a:r>
              <a:rPr lang="en-US" altLang="ko-KR" sz="1400" dirty="0">
                <a:sym typeface="Wingdings" panose="05000000000000000000" pitchFamily="2" charset="2"/>
              </a:rPr>
              <a:t>YOU MUST (* </a:t>
            </a:r>
            <a:r>
              <a:rPr lang="ko-KR" altLang="en-US" sz="1400" dirty="0">
                <a:sym typeface="Wingdings" panose="05000000000000000000" pitchFamily="2" charset="2"/>
              </a:rPr>
              <a:t>한글로 따지면 </a:t>
            </a:r>
            <a:r>
              <a:rPr lang="en-US" altLang="ko-KR" sz="1400" dirty="0">
                <a:sym typeface="Wingdings" panose="05000000000000000000" pitchFamily="2" charset="2"/>
              </a:rPr>
              <a:t>“</a:t>
            </a:r>
            <a:r>
              <a:rPr lang="ko-KR" altLang="en-US" sz="1400" dirty="0">
                <a:sym typeface="Wingdings" panose="05000000000000000000" pitchFamily="2" charset="2"/>
              </a:rPr>
              <a:t>중요</a:t>
            </a:r>
            <a:r>
              <a:rPr lang="en-US" altLang="ko-KR" sz="1400" dirty="0">
                <a:sym typeface="Wingdings" panose="05000000000000000000" pitchFamily="2" charset="2"/>
              </a:rPr>
              <a:t>” </a:t>
            </a:r>
            <a:r>
              <a:rPr lang="ko-KR" altLang="en-US" sz="1400" dirty="0">
                <a:sym typeface="Wingdings" panose="05000000000000000000" pitchFamily="2" charset="2"/>
              </a:rPr>
              <a:t>표시</a:t>
            </a:r>
            <a:r>
              <a:rPr lang="en-US" altLang="ko-KR" sz="1400" dirty="0">
                <a:sym typeface="Wingdings" panose="05000000000000000000" pitchFamily="2" charset="2"/>
              </a:rPr>
              <a:t>) </a:t>
            </a:r>
            <a:r>
              <a:rPr lang="ko-KR" altLang="en-US" sz="1400" dirty="0">
                <a:sym typeface="Wingdings" panose="05000000000000000000" pitchFamily="2" charset="2"/>
              </a:rPr>
              <a:t>등으로 강조하는 것이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좋다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CEEEB1-FDFD-A749-8691-4A5710FEF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29" y="1925431"/>
            <a:ext cx="3581900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08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21ECE-6465-45C5-68CC-DF84FC27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효과적인 지침 작성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8B701B-3040-8A0C-3219-4A5F0DD7B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0" y="1874068"/>
            <a:ext cx="5208459" cy="4291342"/>
          </a:xfrm>
        </p:spPr>
        <p:txBody>
          <a:bodyPr>
            <a:normAutofit/>
          </a:bodyPr>
          <a:lstStyle/>
          <a:p>
            <a:r>
              <a:rPr lang="en-US" altLang="ko-KR" sz="1200" dirty="0"/>
              <a:t>-- </a:t>
            </a:r>
            <a:r>
              <a:rPr lang="ko-KR" altLang="en-US" sz="1200" dirty="0"/>
              <a:t>공식 문서에서 추천하는 </a:t>
            </a:r>
            <a:r>
              <a:rPr lang="en-US" altLang="ko-KR" sz="1200" dirty="0"/>
              <a:t>CLAUDE.md </a:t>
            </a:r>
            <a:r>
              <a:rPr lang="ko-KR" altLang="en-US" sz="1200" dirty="0"/>
              <a:t>지침  요약 </a:t>
            </a:r>
            <a:r>
              <a:rPr lang="en-US" altLang="ko-KR" sz="1200" dirty="0"/>
              <a:t>–</a:t>
            </a:r>
            <a:br>
              <a:rPr lang="en-US" altLang="ko-KR" sz="1200" dirty="0"/>
            </a:br>
            <a:endParaRPr lang="en-US" altLang="ko-KR" sz="1200" dirty="0"/>
          </a:p>
          <a:p>
            <a:r>
              <a:rPr lang="en-US" altLang="ko-KR" sz="1200" dirty="0"/>
              <a:t>1. 200</a:t>
            </a:r>
            <a:r>
              <a:rPr lang="ko-KR" altLang="en-US" sz="1200" dirty="0"/>
              <a:t>줄 이하로 작성 </a:t>
            </a:r>
            <a:r>
              <a:rPr lang="en-US" altLang="ko-KR" sz="1200" dirty="0"/>
              <a:t>( </a:t>
            </a:r>
            <a:r>
              <a:rPr lang="ko-KR" altLang="en-US" sz="1200" dirty="0"/>
              <a:t>길어질 시 컨텍스트 소비 증가</a:t>
            </a:r>
            <a:r>
              <a:rPr lang="en-US" altLang="ko-KR" sz="1200" dirty="0"/>
              <a:t>, </a:t>
            </a:r>
            <a:r>
              <a:rPr lang="ko-KR" altLang="en-US" sz="1200" dirty="0"/>
              <a:t>규칙 준수 누락 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1.1 200</a:t>
            </a:r>
            <a:r>
              <a:rPr lang="ko-KR" altLang="en-US" sz="1200" dirty="0"/>
              <a:t>줄 이하로 작성하기 위한  </a:t>
            </a:r>
            <a:r>
              <a:rPr lang="en-US" altLang="ko-KR" sz="1200" dirty="0"/>
              <a:t>@path/to/import </a:t>
            </a:r>
            <a:r>
              <a:rPr lang="ko-KR" altLang="en-US" sz="1200" dirty="0"/>
              <a:t>구문 사용</a:t>
            </a:r>
            <a:br>
              <a:rPr lang="en-US" altLang="ko-KR" sz="1200" dirty="0"/>
            </a:br>
            <a:r>
              <a:rPr lang="en-US" altLang="ko-KR" sz="1200" dirty="0"/>
              <a:t>       [ @{path}/{.md </a:t>
            </a:r>
            <a:r>
              <a:rPr lang="ko-KR" altLang="en-US" sz="1200" dirty="0"/>
              <a:t>파일</a:t>
            </a:r>
            <a:r>
              <a:rPr lang="en-US" altLang="ko-KR" sz="1200" dirty="0"/>
              <a:t>} ]</a:t>
            </a:r>
          </a:p>
          <a:p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비슷한 성격의 지침들을 그룹화 하면 산만하게 나열된 지침보다 </a:t>
            </a:r>
            <a:br>
              <a:rPr lang="en-US" altLang="ko-KR" sz="1200" dirty="0"/>
            </a:br>
            <a:r>
              <a:rPr lang="en-US" altLang="ko-KR" sz="1200" dirty="0"/>
              <a:t>    </a:t>
            </a:r>
            <a:r>
              <a:rPr lang="ko-KR" altLang="en-US" sz="1200" dirty="0"/>
              <a:t>효과적으로 지침을 준수한다</a:t>
            </a:r>
            <a:r>
              <a:rPr lang="en-US" altLang="ko-KR" sz="12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9D2FD1-AE31-D18B-ECDE-91957DCC4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30" y="1874068"/>
            <a:ext cx="5783630" cy="32465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7A7DB4-73CB-41DA-0DBD-BABB6F021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997" y="3186078"/>
            <a:ext cx="2638793" cy="4858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0C38F67-23FE-95AE-DB50-7729AD90A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997" y="4336609"/>
            <a:ext cx="1709341" cy="19655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3ADCF8-E8DC-FDE4-F667-AC9CD4710843}"/>
              </a:ext>
            </a:extLst>
          </p:cNvPr>
          <p:cNvSpPr txBox="1"/>
          <p:nvPr/>
        </p:nvSpPr>
        <p:spPr>
          <a:xfrm>
            <a:off x="174130" y="5120641"/>
            <a:ext cx="57836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</a:t>
            </a:r>
            <a:r>
              <a:rPr lang="ko-KR" altLang="en-US" sz="1200" dirty="0"/>
              <a:t> 구체성 </a:t>
            </a:r>
            <a:r>
              <a:rPr lang="en-US" altLang="ko-KR" sz="1200" dirty="0"/>
              <a:t>: </a:t>
            </a:r>
            <a:r>
              <a:rPr lang="ko-KR" altLang="en-US" sz="1200" dirty="0"/>
              <a:t>모호한 지침보다 구체적인 지침을 작성한다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en-US" altLang="ko-KR" sz="1200" dirty="0"/>
              <a:t>                     </a:t>
            </a:r>
            <a:r>
              <a:rPr lang="ko-KR" altLang="en-US" sz="1200" dirty="0"/>
              <a:t>앱을 만들어 줘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 </a:t>
            </a:r>
            <a:r>
              <a:rPr lang="en-US" altLang="ko-KR" sz="1200" dirty="0" err="1">
                <a:sym typeface="Wingdings" panose="05000000000000000000" pitchFamily="2" charset="2"/>
              </a:rPr>
              <a:t>SpringBoot</a:t>
            </a:r>
            <a:r>
              <a:rPr lang="ko-KR" altLang="en-US" sz="1200" dirty="0">
                <a:sym typeface="Wingdings" panose="05000000000000000000" pitchFamily="2" charset="2"/>
              </a:rPr>
              <a:t>프로젝트 </a:t>
            </a:r>
            <a:r>
              <a:rPr lang="en-US" altLang="ko-KR" sz="1200" dirty="0">
                <a:sym typeface="Wingdings" panose="05000000000000000000" pitchFamily="2" charset="2"/>
              </a:rPr>
              <a:t>/ </a:t>
            </a:r>
            <a:r>
              <a:rPr lang="en-US" altLang="ko-KR" sz="1200" dirty="0" err="1">
                <a:sym typeface="Wingdings" panose="05000000000000000000" pitchFamily="2" charset="2"/>
              </a:rPr>
              <a:t>Javascript</a:t>
            </a:r>
            <a:r>
              <a:rPr lang="en-US" altLang="ko-KR" sz="1200" dirty="0">
                <a:sym typeface="Wingdings" panose="05000000000000000000" pitchFamily="2" charset="2"/>
              </a:rPr>
              <a:t> / CSS</a:t>
            </a:r>
            <a:r>
              <a:rPr lang="ko-KR" altLang="en-US" sz="1200" dirty="0"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/</a:t>
            </a:r>
            <a:r>
              <a:rPr lang="ko-KR" altLang="en-US" sz="1200" dirty="0"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JPA </a:t>
            </a:r>
            <a:r>
              <a:rPr lang="ko-KR" altLang="en-US" sz="1200" dirty="0">
                <a:sym typeface="Wingdings" panose="05000000000000000000" pitchFamily="2" charset="2"/>
              </a:rPr>
              <a:t>등 기술을 사용해서 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 </a:t>
            </a:r>
            <a:r>
              <a:rPr lang="ko-KR" altLang="en-US" sz="1200" dirty="0">
                <a:sym typeface="Wingdings" panose="05000000000000000000" pitchFamily="2" charset="2"/>
              </a:rPr>
              <a:t>상품 </a:t>
            </a:r>
            <a:r>
              <a:rPr lang="ko-KR" altLang="en-US" sz="1200" dirty="0" err="1">
                <a:sym typeface="Wingdings" panose="05000000000000000000" pitchFamily="2" charset="2"/>
              </a:rPr>
              <a:t>주문앱을</a:t>
            </a:r>
            <a:r>
              <a:rPr lang="ko-KR" altLang="en-US" sz="1200" dirty="0">
                <a:sym typeface="Wingdings" panose="05000000000000000000" pitchFamily="2" charset="2"/>
              </a:rPr>
              <a:t> 만들어줘</a:t>
            </a:r>
            <a:endParaRPr lang="en-US" altLang="ko-KR" sz="1200" dirty="0">
              <a:sym typeface="Wingdings" panose="05000000000000000000" pitchFamily="2" charset="2"/>
            </a:endParaRPr>
          </a:p>
          <a:p>
            <a:r>
              <a:rPr lang="en-US" altLang="ko-KR" sz="1200" dirty="0">
                <a:sym typeface="Wingdings" panose="05000000000000000000" pitchFamily="2" charset="2"/>
              </a:rPr>
              <a:t>4. </a:t>
            </a:r>
            <a:r>
              <a:rPr lang="ko-KR" altLang="en-US" sz="1200" dirty="0">
                <a:sym typeface="Wingdings" panose="05000000000000000000" pitchFamily="2" charset="2"/>
              </a:rPr>
              <a:t>일관성</a:t>
            </a:r>
            <a:r>
              <a:rPr lang="en-US" altLang="ko-KR" sz="1200" dirty="0">
                <a:sym typeface="Wingdings" panose="05000000000000000000" pitchFamily="2" charset="2"/>
              </a:rPr>
              <a:t>: .</a:t>
            </a:r>
            <a:r>
              <a:rPr lang="en-US" altLang="ko-KR" sz="1200" dirty="0" err="1">
                <a:sym typeface="Wingdings" panose="05000000000000000000" pitchFamily="2" charset="2"/>
              </a:rPr>
              <a:t>claude</a:t>
            </a:r>
            <a:r>
              <a:rPr lang="en-US" altLang="ko-KR" sz="1200" dirty="0">
                <a:sym typeface="Wingdings" panose="05000000000000000000" pitchFamily="2" charset="2"/>
              </a:rPr>
              <a:t>/rules/ </a:t>
            </a:r>
            <a:r>
              <a:rPr lang="ko-KR" altLang="en-US" sz="1200" dirty="0">
                <a:sym typeface="Wingdings" panose="05000000000000000000" pitchFamily="2" charset="2"/>
              </a:rPr>
              <a:t>등 경로를 통한 일관된 파일 성격을 가진 규칙들을 모아두고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</a:t>
            </a:r>
            <a:r>
              <a:rPr lang="ko-KR" altLang="en-US" sz="1200" dirty="0">
                <a:sym typeface="Wingdings" panose="05000000000000000000" pitchFamily="2" charset="2"/>
              </a:rPr>
              <a:t>상반된 규칙을 제거하거나 제외하는 방식으로 지침이 효과적으로 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</a:t>
            </a:r>
            <a:r>
              <a:rPr lang="ko-KR" altLang="en-US" sz="1200" dirty="0">
                <a:sym typeface="Wingdings" panose="05000000000000000000" pitchFamily="2" charset="2"/>
              </a:rPr>
              <a:t>수행되도록 할 수 있다</a:t>
            </a:r>
            <a:r>
              <a:rPr lang="en-US" altLang="ko-KR" sz="1200" dirty="0">
                <a:sym typeface="Wingdings" panose="05000000000000000000" pitchFamily="2" charset="2"/>
              </a:rPr>
              <a:t>. [</a:t>
            </a:r>
            <a:r>
              <a:rPr lang="ko-KR" altLang="en-US" sz="1200" dirty="0">
                <a:sym typeface="Wingdings" panose="05000000000000000000" pitchFamily="2" charset="2"/>
              </a:rPr>
              <a:t>모듈형 규칙</a:t>
            </a:r>
            <a:r>
              <a:rPr lang="en-US" altLang="ko-KR" sz="1200" dirty="0">
                <a:sym typeface="Wingdings" panose="05000000000000000000" pitchFamily="2" charset="2"/>
              </a:rPr>
              <a:t>]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75364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2BA01-D4DE-2D2D-B792-E1EA2696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CLAUDE.md </a:t>
            </a:r>
            <a:r>
              <a:rPr lang="ko-KR" altLang="en-US" sz="2800" dirty="0"/>
              <a:t>중복 최소화 및 메모리를 효율적으로 관리하는 방법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B99341-D5D6-7E7E-3BF4-479C87D30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이미 </a:t>
            </a:r>
            <a:r>
              <a:rPr lang="ko-KR" altLang="en-US" sz="1400" dirty="0" err="1"/>
              <a:t>작성되어있는</a:t>
            </a:r>
            <a:r>
              <a:rPr lang="ko-KR" altLang="en-US" sz="1400" dirty="0"/>
              <a:t> 규칙이나 준수 사항 파일이 있다면</a:t>
            </a:r>
            <a:r>
              <a:rPr lang="en-US" altLang="ko-KR" sz="1400" dirty="0"/>
              <a:t>, ‘@{</a:t>
            </a:r>
            <a:r>
              <a:rPr lang="en-US" altLang="ko-KR" sz="1400" dirty="0" err="1"/>
              <a:t>filePath</a:t>
            </a:r>
            <a:r>
              <a:rPr lang="en-US" altLang="ko-KR" sz="1400" dirty="0"/>
              <a:t>}’ </a:t>
            </a:r>
            <a:r>
              <a:rPr lang="ko-KR" altLang="en-US" sz="1400" dirty="0"/>
              <a:t>를 사용하여 규칙을 참고 할 수 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1400" dirty="0"/>
              <a:t>이는 메모리파일의 라인을 최소화 하는 방식이며</a:t>
            </a:r>
            <a:r>
              <a:rPr lang="en-US" altLang="ko-KR" sz="1400" dirty="0"/>
              <a:t>, </a:t>
            </a:r>
            <a:r>
              <a:rPr lang="ko-KR" altLang="en-US" sz="1400" dirty="0"/>
              <a:t>메모리를 효율적으로 관리하도록 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endParaRPr lang="en-US" altLang="ko-KR" sz="14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531D53E-7D59-A7DC-60E9-6C74C9D8394A}"/>
              </a:ext>
            </a:extLst>
          </p:cNvPr>
          <p:cNvGrpSpPr/>
          <p:nvPr/>
        </p:nvGrpSpPr>
        <p:grpSpPr>
          <a:xfrm>
            <a:off x="235390" y="2662623"/>
            <a:ext cx="7278986" cy="4023360"/>
            <a:chOff x="235390" y="2474424"/>
            <a:chExt cx="7487216" cy="4211559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50FBCCC-2AE6-E778-3731-0D95D64DDE2E}"/>
                </a:ext>
              </a:extLst>
            </p:cNvPr>
            <p:cNvGrpSpPr/>
            <p:nvPr/>
          </p:nvGrpSpPr>
          <p:grpSpPr>
            <a:xfrm>
              <a:off x="235390" y="2474424"/>
              <a:ext cx="7487216" cy="4211559"/>
              <a:chOff x="235390" y="2474424"/>
              <a:chExt cx="7487216" cy="4211559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6FA2A5A1-4CF1-C990-14B0-D3DB162D7A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5390" y="2474424"/>
                <a:ext cx="7487216" cy="4211559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0F79AF1D-1B8F-FE56-C30B-8EE388C7FECF}"/>
                  </a:ext>
                </a:extLst>
              </p:cNvPr>
              <p:cNvSpPr/>
              <p:nvPr/>
            </p:nvSpPr>
            <p:spPr>
              <a:xfrm>
                <a:off x="3775295" y="4246075"/>
                <a:ext cx="1575303" cy="22633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5F5FF6E-2022-057B-21A0-D54E0EDDC27E}"/>
                </a:ext>
              </a:extLst>
            </p:cNvPr>
            <p:cNvSpPr/>
            <p:nvPr/>
          </p:nvSpPr>
          <p:spPr>
            <a:xfrm>
              <a:off x="309628" y="4065006"/>
              <a:ext cx="1575303" cy="3259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A650BA5C-E737-144B-DE51-582702407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628" y="4930600"/>
            <a:ext cx="9644332" cy="18475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20CA94-04DD-45CA-F501-A109877A81D4}"/>
              </a:ext>
            </a:extLst>
          </p:cNvPr>
          <p:cNvSpPr txBox="1"/>
          <p:nvPr/>
        </p:nvSpPr>
        <p:spPr>
          <a:xfrm>
            <a:off x="7731659" y="2662623"/>
            <a:ext cx="42137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README.md </a:t>
            </a:r>
            <a:r>
              <a:rPr lang="ko-KR" altLang="en-US" sz="1400" dirty="0"/>
              <a:t>파일은 일반적으로 프로젝트의 소개에 사용되는 마크다운 파일이다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400" dirty="0"/>
              <a:t>(※ </a:t>
            </a:r>
            <a:r>
              <a:rPr lang="ko-KR" altLang="en-US" sz="1400" dirty="0" err="1"/>
              <a:t>클로드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코드랑은</a:t>
            </a:r>
            <a:r>
              <a:rPr lang="ko-KR" altLang="en-US" sz="1400" dirty="0"/>
              <a:t> 상관없이 일반적으로 사용하는  </a:t>
            </a:r>
            <a:br>
              <a:rPr lang="en-US" altLang="ko-KR" sz="1400" dirty="0"/>
            </a:br>
            <a:r>
              <a:rPr lang="en-US" altLang="ko-KR" sz="1400" dirty="0"/>
              <a:t>      </a:t>
            </a:r>
            <a:r>
              <a:rPr lang="ko-KR" altLang="en-US" sz="1400" dirty="0"/>
              <a:t>파일이다</a:t>
            </a:r>
            <a:r>
              <a:rPr lang="en-US" altLang="ko-KR" sz="1400" dirty="0"/>
              <a:t>.)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6637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A62C9-9EE8-5DB3-41D5-7D346977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/memory </a:t>
            </a:r>
            <a:r>
              <a:rPr lang="ko-KR" altLang="en-US" dirty="0"/>
              <a:t>명령어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B36995-B548-F2A6-A843-80461CC7014E}"/>
              </a:ext>
            </a:extLst>
          </p:cNvPr>
          <p:cNvSpPr txBox="1"/>
          <p:nvPr/>
        </p:nvSpPr>
        <p:spPr>
          <a:xfrm>
            <a:off x="7278986" y="2000816"/>
            <a:ext cx="4445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현재 세션에 로드된 메모리를 확인하고 필요하면 편집하는 명령어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659F4D4-E36A-8330-D102-BD86C04C2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4" y="2000816"/>
            <a:ext cx="6880633" cy="38703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181558F-4E12-08A6-CDEE-74530502F1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3" r="40678" b="50171"/>
          <a:stretch>
            <a:fillRect/>
          </a:stretch>
        </p:blipFill>
        <p:spPr>
          <a:xfrm>
            <a:off x="6714653" y="2524036"/>
            <a:ext cx="5151422" cy="246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1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90FAE-3119-EA6F-AC05-F285876A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모듈형 메모리 관리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FF9760-C5C0-BAD4-DECA-71F69D6ED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80" y="1963106"/>
            <a:ext cx="6699850" cy="24237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EBF7A6-B8DE-646E-300C-9A9C6B6A488F}"/>
              </a:ext>
            </a:extLst>
          </p:cNvPr>
          <p:cNvSpPr txBox="1"/>
          <p:nvPr/>
        </p:nvSpPr>
        <p:spPr>
          <a:xfrm>
            <a:off x="7116024" y="1963106"/>
            <a:ext cx="46987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@path/to/import</a:t>
            </a:r>
            <a:r>
              <a:rPr lang="ko-KR" altLang="en-US" sz="1400" dirty="0"/>
              <a:t> 방식은 규칙을 참고할 때</a:t>
            </a:r>
            <a:r>
              <a:rPr lang="en-US" altLang="ko-KR" sz="1400" dirty="0"/>
              <a:t>, </a:t>
            </a:r>
            <a:r>
              <a:rPr lang="ko-KR" altLang="en-US" sz="1400" dirty="0"/>
              <a:t>사용한다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특정 주제별로 관리하고 싶을 때는 </a:t>
            </a:r>
            <a:br>
              <a:rPr lang="en-US" altLang="ko-KR" sz="1400" dirty="0"/>
            </a:br>
            <a:r>
              <a:rPr lang="en-US" altLang="ko-KR" sz="1400" dirty="0"/>
              <a:t>.</a:t>
            </a:r>
            <a:r>
              <a:rPr lang="en-US" altLang="ko-KR" sz="1400" dirty="0" err="1"/>
              <a:t>claude</a:t>
            </a:r>
            <a:r>
              <a:rPr lang="en-US" altLang="ko-KR" sz="1400" dirty="0"/>
              <a:t>/rules/ </a:t>
            </a:r>
            <a:r>
              <a:rPr lang="ko-KR" altLang="en-US" sz="1400" dirty="0"/>
              <a:t>폴더 내에 주제 별로 </a:t>
            </a:r>
            <a:r>
              <a:rPr lang="en-US" altLang="ko-KR" sz="1400" dirty="0"/>
              <a:t>md</a:t>
            </a:r>
            <a:r>
              <a:rPr lang="ko-KR" altLang="en-US" sz="1400" dirty="0"/>
              <a:t>파일을 작성한다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DAFBB63-B79A-BA99-ED96-4A4562F3BB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" r="42451" b="51023"/>
          <a:stretch>
            <a:fillRect/>
          </a:stretch>
        </p:blipFill>
        <p:spPr>
          <a:xfrm>
            <a:off x="5042780" y="3142959"/>
            <a:ext cx="6998330" cy="335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69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23834-A6D5-9D27-684F-78DDDE383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모듈형 메모리의 강력한 기능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26E3FE-9EAD-AD17-B098-57E0DA20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64" y="1873017"/>
            <a:ext cx="6681742" cy="26301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56B75E-647A-9A88-8D40-9DCB621D4078}"/>
              </a:ext>
            </a:extLst>
          </p:cNvPr>
          <p:cNvSpPr txBox="1"/>
          <p:nvPr/>
        </p:nvSpPr>
        <p:spPr>
          <a:xfrm>
            <a:off x="452391" y="4638788"/>
            <a:ext cx="11452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.</a:t>
            </a:r>
            <a:r>
              <a:rPr lang="en-US" altLang="ko-KR" sz="1400" dirty="0" err="1"/>
              <a:t>claude</a:t>
            </a:r>
            <a:r>
              <a:rPr lang="en-US" altLang="ko-KR" sz="1400" dirty="0"/>
              <a:t>/rules/ </a:t>
            </a:r>
            <a:r>
              <a:rPr lang="ko-KR" altLang="en-US" sz="1400" dirty="0"/>
              <a:t>밑에 있는 규칙 파일은 </a:t>
            </a:r>
            <a:r>
              <a:rPr lang="en-US" altLang="ko-KR" sz="1400" dirty="0"/>
              <a:t>frontmatter </a:t>
            </a:r>
            <a:r>
              <a:rPr lang="ko-KR" altLang="en-US" sz="1400" dirty="0"/>
              <a:t>구문을 통해 특정 패턴을 가지는 경로나 파일에만 적용되도록 작성할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753B91-15F4-42D4-D641-5A39F435D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64" y="5082222"/>
            <a:ext cx="7725342" cy="15407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CB478C-CB7C-1825-5862-BAD23F3CDE3C}"/>
              </a:ext>
            </a:extLst>
          </p:cNvPr>
          <p:cNvSpPr txBox="1"/>
          <p:nvPr/>
        </p:nvSpPr>
        <p:spPr>
          <a:xfrm>
            <a:off x="8329188" y="5082222"/>
            <a:ext cx="3684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모듈형 메모리는 사용자 레벨에서도 가능하다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16007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B0B3B5-F519-7ED6-A37A-5B59A6458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모듈형 규칙의 모범 사례 참고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1993FB-E80F-0707-7921-E6508CAF2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08" t="35644" r="25520" b="39406"/>
          <a:stretch>
            <a:fillRect/>
          </a:stretch>
        </p:blipFill>
        <p:spPr>
          <a:xfrm>
            <a:off x="1097280" y="1849231"/>
            <a:ext cx="6129196" cy="171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63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381A4-45C8-1A25-7BF2-3B15C859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93072A-58A0-A73F-6597-9BF758D6013F}"/>
              </a:ext>
            </a:extLst>
          </p:cNvPr>
          <p:cNvSpPr txBox="1"/>
          <p:nvPr/>
        </p:nvSpPr>
        <p:spPr>
          <a:xfrm>
            <a:off x="1086416" y="1937442"/>
            <a:ext cx="10076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기본 규칙 </a:t>
            </a:r>
            <a:r>
              <a:rPr lang="en-US" altLang="ko-KR" dirty="0"/>
              <a:t>: CLAUDE.md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참고 규칙 </a:t>
            </a:r>
            <a:r>
              <a:rPr lang="en-US" altLang="ko-KR" dirty="0"/>
              <a:t>: path/to/import </a:t>
            </a:r>
            <a:r>
              <a:rPr lang="ko-KR" altLang="en-US" dirty="0"/>
              <a:t>방식으로 규칙 참조 </a:t>
            </a:r>
            <a:r>
              <a:rPr lang="en-US" altLang="ko-KR" dirty="0"/>
              <a:t>@{path}/xxxx.md</a:t>
            </a:r>
          </a:p>
          <a:p>
            <a:r>
              <a:rPr lang="en-US" altLang="ko-KR"/>
              <a:t>3. </a:t>
            </a:r>
            <a:r>
              <a:rPr lang="ko-KR" altLang="en-US"/>
              <a:t>규칙이 </a:t>
            </a:r>
            <a:r>
              <a:rPr lang="ko-KR" altLang="en-US" dirty="0"/>
              <a:t>많아 모듈별로 규칙을 처리할 때 </a:t>
            </a:r>
            <a:r>
              <a:rPr lang="en-US" altLang="ko-KR" dirty="0"/>
              <a:t>: .</a:t>
            </a:r>
            <a:r>
              <a:rPr lang="en-US" altLang="ko-KR" dirty="0" err="1"/>
              <a:t>claude</a:t>
            </a:r>
            <a:r>
              <a:rPr lang="en-US" altLang="ko-KR" dirty="0"/>
              <a:t>/rules/{</a:t>
            </a:r>
            <a:r>
              <a:rPr lang="ko-KR" altLang="en-US" dirty="0"/>
              <a:t>주제별 폴더</a:t>
            </a:r>
            <a:r>
              <a:rPr lang="en-US" altLang="ko-KR" dirty="0"/>
              <a:t>}/xxx.md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214015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178</TotalTime>
  <Words>515</Words>
  <Application>Microsoft Office PowerPoint</Application>
  <PresentationFormat>와이드스크린</PresentationFormat>
  <Paragraphs>46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Wingdings</vt:lpstr>
      <vt:lpstr>추억</vt:lpstr>
      <vt:lpstr>메모리 관리</vt:lpstr>
      <vt:lpstr>CLAUDE.md 파일의 종류</vt:lpstr>
      <vt:lpstr>CLAUDE.md 에 작성해두면 좋은 규칙 예시</vt:lpstr>
      <vt:lpstr>CLAUDE.md 효과적인 지침 작성.</vt:lpstr>
      <vt:lpstr>CLAUDE.md 중복 최소화 및 메모리를 효율적으로 관리하는 방법 </vt:lpstr>
      <vt:lpstr>/memory 명령어.</vt:lpstr>
      <vt:lpstr>모듈형 메모리 관리.</vt:lpstr>
      <vt:lpstr>모듈형 메모리의 강력한 기능</vt:lpstr>
      <vt:lpstr>모듈형 규칙의 모범 사례 참고</vt:lpstr>
      <vt:lpstr>요약.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28</cp:revision>
  <dcterms:created xsi:type="dcterms:W3CDTF">2026-06-25T08:27:48Z</dcterms:created>
  <dcterms:modified xsi:type="dcterms:W3CDTF">2026-06-25T11:26:09Z</dcterms:modified>
</cp:coreProperties>
</file>