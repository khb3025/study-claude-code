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8747F863-2F97-453B-9418-3778BE86664E}">
          <p14:sldIdLst>
            <p14:sldId id="256"/>
            <p14:sldId id="257"/>
            <p14:sldId id="258"/>
            <p14:sldId id="259"/>
            <p14:sldId id="260"/>
          </p14:sldIdLst>
        </p14:section>
        <p14:section name="핵심 Work Flow" id="{E293CCF3-1530-448B-80C5-E8FB86FB5399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6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20" y="6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3568-76BE-4A8A-8AF1-BB0DD2EB1878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2BD4D-2BE7-402E-AE7D-5EBE5B625C5F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6983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3568-76BE-4A8A-8AF1-BB0DD2EB1878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2BD4D-2BE7-402E-AE7D-5EBE5B625C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31644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3568-76BE-4A8A-8AF1-BB0DD2EB1878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2BD4D-2BE7-402E-AE7D-5EBE5B625C5F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1870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3568-76BE-4A8A-8AF1-BB0DD2EB1878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2BD4D-2BE7-402E-AE7D-5EBE5B625C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88823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3568-76BE-4A8A-8AF1-BB0DD2EB1878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2BD4D-2BE7-402E-AE7D-5EBE5B625C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809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3568-76BE-4A8A-8AF1-BB0DD2EB1878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2BD4D-2BE7-402E-AE7D-5EBE5B625C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5225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3568-76BE-4A8A-8AF1-BB0DD2EB1878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2BD4D-2BE7-402E-AE7D-5EBE5B625C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49978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79253568-76BE-4A8A-8AF1-BB0DD2EB1878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312BD4D-2BE7-402E-AE7D-5EBE5B625C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027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3568-76BE-4A8A-8AF1-BB0DD2EB1878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2BD4D-2BE7-402E-AE7D-5EBE5B625C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94534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3568-76BE-4A8A-8AF1-BB0DD2EB1878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2BD4D-2BE7-402E-AE7D-5EBE5B625C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56585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3568-76BE-4A8A-8AF1-BB0DD2EB1878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2BD4D-2BE7-402E-AE7D-5EBE5B625C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911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79253568-76BE-4A8A-8AF1-BB0DD2EB1878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9312BD4D-2BE7-402E-AE7D-5EBE5B625C5F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4600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F1F2DC-8FC6-5F93-4D53-6780E67E9E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sz="4800" dirty="0"/>
              <a:t>서브 에이전트로 </a:t>
            </a:r>
            <a:r>
              <a:rPr lang="en-US" altLang="ko-KR" sz="4800" dirty="0"/>
              <a:t>PRD</a:t>
            </a:r>
            <a:r>
              <a:rPr lang="ko-KR" altLang="en-US" sz="4800" dirty="0"/>
              <a:t>문서작성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C5A0470-50CC-963B-4939-CC06D52446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4748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EEB22A-B959-4D09-7832-066CA1D52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강의 제공 </a:t>
            </a:r>
            <a:r>
              <a:rPr lang="ko-KR" altLang="en-US" dirty="0" err="1"/>
              <a:t>서브에이전트</a:t>
            </a:r>
            <a:r>
              <a:rPr lang="ko-KR" altLang="en-US" dirty="0"/>
              <a:t> 파일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FE367EE-255B-475B-3A26-4255CDD3A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9207" y="1919986"/>
            <a:ext cx="2276793" cy="194337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4862EBA-BFBD-E7E7-BA53-B9CC8AD7BB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2192" y="1919986"/>
            <a:ext cx="5231473" cy="474607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169A3E-E70E-3742-BF27-299B06B4B9B7}"/>
              </a:ext>
            </a:extLst>
          </p:cNvPr>
          <p:cNvSpPr txBox="1"/>
          <p:nvPr/>
        </p:nvSpPr>
        <p:spPr>
          <a:xfrm>
            <a:off x="1097280" y="3987538"/>
            <a:ext cx="4998720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서브에이전트를</a:t>
            </a:r>
            <a:r>
              <a:rPr lang="ko-KR" altLang="en-US" sz="1100" dirty="0"/>
              <a:t> 생성하여 특정 주제에 대해 전문화된 컨텍스트를 다루도록 하는 것이 일관되고 품질 좋은 문서나 코드를 얻을 수 있다고 앞 전 강의에서 배웠다</a:t>
            </a:r>
            <a:r>
              <a:rPr lang="en-US" altLang="ko-KR" sz="1100" dirty="0"/>
              <a:t>.</a:t>
            </a:r>
            <a:br>
              <a:rPr lang="en-US" altLang="ko-KR" sz="1100" dirty="0"/>
            </a:br>
            <a:br>
              <a:rPr lang="en-US" altLang="ko-KR" sz="1100" dirty="0"/>
            </a:b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6157314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BA7872-B07F-4640-EEB8-CB7E53A8A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서브 에이전트 생성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ED8C9D-F9BC-6B42-FBFB-187A352206D0}"/>
              </a:ext>
            </a:extLst>
          </p:cNvPr>
          <p:cNvSpPr txBox="1"/>
          <p:nvPr/>
        </p:nvSpPr>
        <p:spPr>
          <a:xfrm>
            <a:off x="1197204" y="1809946"/>
            <a:ext cx="9958476" cy="263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en-US" altLang="ko-KR" sz="1100" dirty="0"/>
              <a:t>/agents </a:t>
            </a:r>
            <a:r>
              <a:rPr lang="ko-KR" altLang="en-US" sz="1100" dirty="0"/>
              <a:t>입력</a:t>
            </a:r>
            <a:endParaRPr lang="en-US" altLang="ko-KR" sz="1100" dirty="0"/>
          </a:p>
          <a:p>
            <a:pPr marL="228600" indent="-228600">
              <a:buAutoNum type="arabicPeriod"/>
            </a:pPr>
            <a:r>
              <a:rPr lang="en-US" altLang="ko-KR" sz="1100" dirty="0"/>
              <a:t>Library</a:t>
            </a:r>
            <a:r>
              <a:rPr lang="ko-KR" altLang="en-US" sz="1100" dirty="0"/>
              <a:t>탭 </a:t>
            </a:r>
            <a:r>
              <a:rPr lang="en-US" altLang="ko-KR" sz="1100" dirty="0">
                <a:sym typeface="Wingdings" panose="05000000000000000000" pitchFamily="2" charset="2"/>
              </a:rPr>
              <a:t> Create new agent </a:t>
            </a:r>
            <a:r>
              <a:rPr lang="ko-KR" altLang="en-US" sz="1100" dirty="0">
                <a:sym typeface="Wingdings" panose="05000000000000000000" pitchFamily="2" charset="2"/>
              </a:rPr>
              <a:t>선택</a:t>
            </a:r>
            <a:endParaRPr lang="en-US" altLang="ko-KR" sz="1100" dirty="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r>
              <a:rPr lang="en-US" altLang="ko-KR" sz="1100" dirty="0"/>
              <a:t>Project </a:t>
            </a:r>
            <a:r>
              <a:rPr lang="ko-KR" altLang="en-US" sz="1100" dirty="0" err="1"/>
              <a:t>스코프</a:t>
            </a:r>
            <a:r>
              <a:rPr lang="ko-KR" altLang="en-US" sz="1100" dirty="0"/>
              <a:t> 선택</a:t>
            </a:r>
            <a:endParaRPr lang="en-US" altLang="ko-KR" sz="1100" dirty="0"/>
          </a:p>
          <a:p>
            <a:pPr marL="228600" indent="-228600">
              <a:buAutoNum type="arabicPeriod"/>
            </a:pPr>
            <a:r>
              <a:rPr lang="en-US" altLang="ko-KR" sz="1100" dirty="0"/>
              <a:t>Generate</a:t>
            </a:r>
            <a:r>
              <a:rPr lang="ko-KR" altLang="en-US" sz="1100" dirty="0"/>
              <a:t> </a:t>
            </a:r>
            <a:r>
              <a:rPr lang="en-US" altLang="ko-KR" sz="1100" dirty="0"/>
              <a:t>with</a:t>
            </a:r>
            <a:r>
              <a:rPr lang="ko-KR" altLang="en-US" sz="1100" dirty="0"/>
              <a:t> </a:t>
            </a:r>
            <a:r>
              <a:rPr lang="en-US" altLang="ko-KR" sz="1100" dirty="0"/>
              <a:t>Claude</a:t>
            </a:r>
            <a:r>
              <a:rPr lang="ko-KR" altLang="en-US" sz="1100" dirty="0"/>
              <a:t> 선택</a:t>
            </a:r>
            <a:endParaRPr lang="en-US" altLang="ko-KR" sz="1100" dirty="0"/>
          </a:p>
          <a:p>
            <a:pPr marL="228600" indent="-228600">
              <a:buAutoNum type="arabicPeriod"/>
            </a:pPr>
            <a:r>
              <a:rPr lang="en-US" altLang="ko-KR" sz="1100" dirty="0"/>
              <a:t>Sub Agent </a:t>
            </a:r>
            <a:r>
              <a:rPr lang="ko-KR" altLang="en-US" sz="1100" dirty="0"/>
              <a:t>역할 설명 </a:t>
            </a:r>
            <a:endParaRPr lang="en-US" altLang="ko-KR" sz="1100" dirty="0"/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ko-KR" altLang="en-US" sz="1100" dirty="0"/>
              <a:t>생성할  </a:t>
            </a:r>
            <a:r>
              <a:rPr lang="en-US" altLang="ko-KR" sz="1100" dirty="0"/>
              <a:t>Sub Agent</a:t>
            </a:r>
            <a:r>
              <a:rPr lang="ko-KR" altLang="en-US" sz="1100" dirty="0"/>
              <a:t>의 권한 부여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A9C52FB-A03F-A314-46DE-A0145A5F92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204" y="2748665"/>
            <a:ext cx="7687748" cy="130510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7DC25CF-16D6-DDF6-249E-46931810E3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204" y="4514022"/>
            <a:ext cx="3043669" cy="228463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13A5261-CCF5-043A-734C-C41669194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4342" y="4123943"/>
            <a:ext cx="2400635" cy="273405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1DC72D9-36BC-2093-AB0C-C94E266F7410}"/>
              </a:ext>
            </a:extLst>
          </p:cNvPr>
          <p:cNvSpPr txBox="1"/>
          <p:nvPr/>
        </p:nvSpPr>
        <p:spPr>
          <a:xfrm>
            <a:off x="6890994" y="4123943"/>
            <a:ext cx="4103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7. </a:t>
            </a:r>
            <a:r>
              <a:rPr lang="ko-KR" altLang="en-US" sz="1200" dirty="0"/>
              <a:t>백그라운드에서 동작할 </a:t>
            </a:r>
            <a:r>
              <a:rPr lang="ko-KR" altLang="en-US" sz="1200" dirty="0" err="1"/>
              <a:t>서브에이전트의</a:t>
            </a:r>
            <a:r>
              <a:rPr lang="ko-KR" altLang="en-US" sz="1200" dirty="0"/>
              <a:t> 색상 선택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B34FEDEA-350D-8C26-0679-07F1DC7378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0994" y="4511607"/>
            <a:ext cx="4826832" cy="96536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0D3C769-17A9-5CC8-7E5D-E507838EB16F}"/>
              </a:ext>
            </a:extLst>
          </p:cNvPr>
          <p:cNvSpPr txBox="1"/>
          <p:nvPr/>
        </p:nvSpPr>
        <p:spPr>
          <a:xfrm>
            <a:off x="6890994" y="5590095"/>
            <a:ext cx="48268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Agent </a:t>
            </a:r>
            <a:r>
              <a:rPr lang="ko-KR" altLang="en-US" sz="1200" dirty="0"/>
              <a:t>생성</a:t>
            </a:r>
          </a:p>
        </p:txBody>
      </p:sp>
    </p:spTree>
    <p:extLst>
      <p:ext uri="{BB962C8B-B14F-4D97-AF65-F5344CB8AC3E}">
        <p14:creationId xmlns:p14="http://schemas.microsoft.com/office/powerpoint/2010/main" val="638979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382732-7273-112E-BDB8-DA34888FE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 dirty="0" err="1"/>
              <a:t>노션</a:t>
            </a:r>
            <a:r>
              <a:rPr lang="ko-KR" altLang="en-US" sz="3200" dirty="0"/>
              <a:t> 전문가 서브 에이전트에게 </a:t>
            </a:r>
            <a:r>
              <a:rPr lang="ko-KR" altLang="en-US" sz="3200" dirty="0" err="1"/>
              <a:t>노션</a:t>
            </a:r>
            <a:r>
              <a:rPr lang="ko-KR" altLang="en-US" sz="3200" dirty="0"/>
              <a:t> </a:t>
            </a:r>
            <a:r>
              <a:rPr lang="en-US" altLang="ko-KR" sz="3200" dirty="0"/>
              <a:t>DB</a:t>
            </a:r>
            <a:r>
              <a:rPr lang="ko-KR" altLang="en-US" sz="3200" dirty="0"/>
              <a:t>사용법 분석 요구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B24A601-8319-86D3-F106-490ED8C1A7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14467"/>
            <a:ext cx="8811855" cy="1000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1185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D86383-8E37-C447-248C-A5D561C87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 err="1"/>
              <a:t>prd</a:t>
            </a:r>
            <a:r>
              <a:rPr lang="en-US" altLang="ko-KR" sz="4400" dirty="0"/>
              <a:t>-generator </a:t>
            </a:r>
            <a:r>
              <a:rPr lang="ko-KR" altLang="en-US" sz="4400" dirty="0"/>
              <a:t>에이전트로 </a:t>
            </a:r>
            <a:r>
              <a:rPr lang="en-US" altLang="ko-KR" sz="4400" dirty="0"/>
              <a:t>PRD </a:t>
            </a:r>
            <a:r>
              <a:rPr lang="ko-KR" altLang="en-US" sz="4400" dirty="0"/>
              <a:t>작성 요청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6795556-E13B-D9C7-90D1-07D2E13614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737360"/>
            <a:ext cx="8911472" cy="5012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4895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65F22A-2E60-AA0C-D785-65BC115F0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PRD</a:t>
            </a:r>
            <a:r>
              <a:rPr lang="ko-KR" altLang="en-US" dirty="0"/>
              <a:t> 생성 </a:t>
            </a:r>
            <a:r>
              <a:rPr lang="en-US" altLang="ko-KR" dirty="0"/>
              <a:t>Work Flow </a:t>
            </a:r>
            <a:r>
              <a:rPr lang="ko-KR" altLang="en-US" dirty="0"/>
              <a:t>정리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F033F6-1FD6-DEFD-BB67-9550B5A86527}"/>
              </a:ext>
            </a:extLst>
          </p:cNvPr>
          <p:cNvSpPr txBox="1"/>
          <p:nvPr/>
        </p:nvSpPr>
        <p:spPr>
          <a:xfrm>
            <a:off x="1225485" y="1894788"/>
            <a:ext cx="10058400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en-US" altLang="ko-KR" sz="1200" b="1" dirty="0">
                <a:solidFill>
                  <a:srgbClr val="FF0000"/>
                </a:solidFill>
              </a:rPr>
              <a:t>PRD</a:t>
            </a:r>
            <a:r>
              <a:rPr lang="ko-KR" altLang="en-US" sz="1200" b="1" dirty="0">
                <a:solidFill>
                  <a:srgbClr val="FF0000"/>
                </a:solidFill>
              </a:rPr>
              <a:t> 전문으로 생성하는 </a:t>
            </a:r>
            <a:r>
              <a:rPr lang="en-US" altLang="ko-KR" sz="1200" b="1" dirty="0">
                <a:solidFill>
                  <a:srgbClr val="FF0000"/>
                </a:solidFill>
              </a:rPr>
              <a:t>Sub Agent</a:t>
            </a:r>
            <a:r>
              <a:rPr lang="ko-KR" altLang="en-US" sz="1200" b="1" dirty="0">
                <a:solidFill>
                  <a:srgbClr val="FF0000"/>
                </a:solidFill>
              </a:rPr>
              <a:t> 역할 부여</a:t>
            </a:r>
            <a:r>
              <a:rPr lang="en-US" altLang="ko-KR" sz="1200" b="1" dirty="0">
                <a:solidFill>
                  <a:srgbClr val="FF0000"/>
                </a:solidFill>
              </a:rPr>
              <a:t>.</a:t>
            </a:r>
            <a:br>
              <a:rPr lang="en-US" altLang="ko-KR" sz="1200" dirty="0"/>
            </a:br>
            <a:r>
              <a:rPr lang="en-US" altLang="ko-KR" sz="1200" dirty="0"/>
              <a:t>    - </a:t>
            </a:r>
            <a:r>
              <a:rPr lang="ko-KR" altLang="en-US" sz="1100" dirty="0"/>
              <a:t>당신은 </a:t>
            </a:r>
            <a:r>
              <a:rPr lang="en-US" altLang="ko-KR" sz="1100" dirty="0"/>
              <a:t>1</a:t>
            </a:r>
            <a:r>
              <a:rPr lang="ko-KR" altLang="en-US" sz="1100" dirty="0"/>
              <a:t>인 개발자를 위한 </a:t>
            </a:r>
            <a:r>
              <a:rPr lang="en-US" altLang="ko-KR" sz="1100" dirty="0"/>
              <a:t>PRD(Product Requirements Document) </a:t>
            </a:r>
            <a:r>
              <a:rPr lang="ko-KR" altLang="en-US" sz="1100" dirty="0"/>
              <a:t>생성 전문가입니다</a:t>
            </a:r>
            <a:r>
              <a:rPr lang="en-US" altLang="ko-KR" sz="1100" dirty="0"/>
              <a:t>.</a:t>
            </a:r>
            <a:br>
              <a:rPr lang="en-US" altLang="ko-KR" sz="1100" dirty="0"/>
            </a:br>
            <a:r>
              <a:rPr lang="en-US" altLang="ko-KR" sz="1100" dirty="0"/>
              <a:t>       </a:t>
            </a:r>
            <a:r>
              <a:rPr lang="ko-KR" altLang="en-US" sz="1100" dirty="0"/>
              <a:t>기업용 </a:t>
            </a:r>
            <a:r>
              <a:rPr lang="en-US" altLang="ko-KR" sz="1100" dirty="0"/>
              <a:t>PRD</a:t>
            </a:r>
            <a:r>
              <a:rPr lang="ko-KR" altLang="en-US" sz="1100" dirty="0"/>
              <a:t>의 복잡함을 배제하고</a:t>
            </a:r>
            <a:r>
              <a:rPr lang="en-US" altLang="ko-KR" sz="1100" dirty="0"/>
              <a:t>, </a:t>
            </a:r>
            <a:r>
              <a:rPr lang="ko-KR" altLang="en-US" sz="1100" dirty="0"/>
              <a:t>바로 개발 가능한 실용적 명세만 생성합니다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b="1" dirty="0"/>
          </a:p>
          <a:p>
            <a:pPr marL="228600" indent="-228600">
              <a:buAutoNum type="arabicPeriod"/>
            </a:pPr>
            <a:r>
              <a:rPr lang="ko-KR" altLang="en-US" sz="1100" b="1" dirty="0">
                <a:solidFill>
                  <a:srgbClr val="FF0000"/>
                </a:solidFill>
              </a:rPr>
              <a:t>생성한 </a:t>
            </a:r>
            <a:r>
              <a:rPr lang="ko-KR" altLang="en-US" sz="1100" b="1" dirty="0" err="1">
                <a:solidFill>
                  <a:srgbClr val="FF0000"/>
                </a:solidFill>
              </a:rPr>
              <a:t>서브에이전트를</a:t>
            </a:r>
            <a:r>
              <a:rPr lang="ko-KR" altLang="en-US" sz="1100" b="1" dirty="0">
                <a:solidFill>
                  <a:srgbClr val="FF0000"/>
                </a:solidFill>
              </a:rPr>
              <a:t> 이용하여</a:t>
            </a:r>
            <a:r>
              <a:rPr lang="en-US" altLang="ko-KR" sz="1100" b="1" dirty="0">
                <a:solidFill>
                  <a:srgbClr val="FF0000"/>
                </a:solidFill>
              </a:rPr>
              <a:t>, PRD </a:t>
            </a:r>
            <a:r>
              <a:rPr lang="ko-KR" altLang="en-US" sz="1100" b="1" dirty="0">
                <a:solidFill>
                  <a:srgbClr val="FF0000"/>
                </a:solidFill>
              </a:rPr>
              <a:t>생성 요청</a:t>
            </a:r>
            <a:r>
              <a:rPr lang="en-US" altLang="ko-KR" sz="1100" b="1" dirty="0">
                <a:solidFill>
                  <a:srgbClr val="FF0000"/>
                </a:solidFill>
              </a:rPr>
              <a:t>.</a:t>
            </a:r>
          </a:p>
          <a:p>
            <a:pPr marL="228600" indent="-228600">
              <a:buAutoNum type="arabicPeriod"/>
            </a:pPr>
            <a:endParaRPr lang="en-US" altLang="ko-KR" sz="1100" b="1" dirty="0"/>
          </a:p>
          <a:p>
            <a:pPr marL="228600" indent="-228600">
              <a:buAutoNum type="arabicPeriod"/>
            </a:pPr>
            <a:r>
              <a:rPr lang="ko-KR" altLang="en-US" sz="1100" b="1" dirty="0">
                <a:solidFill>
                  <a:srgbClr val="FF0000"/>
                </a:solidFill>
              </a:rPr>
              <a:t>생성한 </a:t>
            </a:r>
            <a:r>
              <a:rPr lang="en-US" altLang="ko-KR" sz="1100" b="1" dirty="0">
                <a:solidFill>
                  <a:srgbClr val="FF0000"/>
                </a:solidFill>
              </a:rPr>
              <a:t>PRD</a:t>
            </a:r>
            <a:r>
              <a:rPr lang="ko-KR" altLang="en-US" sz="1100" b="1" dirty="0">
                <a:solidFill>
                  <a:srgbClr val="FF0000"/>
                </a:solidFill>
              </a:rPr>
              <a:t>를 훑어보며 </a:t>
            </a:r>
            <a:r>
              <a:rPr lang="ko-KR" altLang="en-US" sz="1100" b="1" dirty="0" err="1">
                <a:solidFill>
                  <a:srgbClr val="FF0000"/>
                </a:solidFill>
              </a:rPr>
              <a:t>필요없는</a:t>
            </a:r>
            <a:r>
              <a:rPr lang="ko-KR" altLang="en-US" sz="1100" b="1" dirty="0">
                <a:solidFill>
                  <a:srgbClr val="FF0000"/>
                </a:solidFill>
              </a:rPr>
              <a:t> 항목 및 잘못된 정보 확인</a:t>
            </a:r>
            <a:r>
              <a:rPr lang="en-US" altLang="ko-KR" sz="1100" b="1" dirty="0">
                <a:solidFill>
                  <a:srgbClr val="FF0000"/>
                </a:solidFill>
              </a:rPr>
              <a:t>(</a:t>
            </a:r>
            <a:r>
              <a:rPr lang="ko-KR" altLang="en-US" sz="1100" b="1" dirty="0">
                <a:solidFill>
                  <a:srgbClr val="FF0000"/>
                </a:solidFill>
              </a:rPr>
              <a:t>개발자 확인 항목</a:t>
            </a:r>
            <a:r>
              <a:rPr lang="en-US" altLang="ko-KR" sz="1100" b="1" dirty="0">
                <a:solidFill>
                  <a:srgbClr val="FF0000"/>
                </a:solidFill>
              </a:rPr>
              <a:t>)</a:t>
            </a:r>
            <a:br>
              <a:rPr lang="en-US" altLang="ko-KR" sz="1100" b="1" dirty="0"/>
            </a:br>
            <a:r>
              <a:rPr lang="en-US" altLang="ko-KR" sz="1100" b="1" dirty="0"/>
              <a:t>- </a:t>
            </a:r>
            <a:r>
              <a:rPr lang="ko-KR" altLang="en-US" sz="1100" dirty="0"/>
              <a:t>잘못된 정보의 확인은 기술 관련 공식 문서를 참조 </a:t>
            </a:r>
            <a:r>
              <a:rPr lang="en-US" altLang="ko-KR" sz="1100" dirty="0"/>
              <a:t>(AI </a:t>
            </a:r>
            <a:r>
              <a:rPr lang="ko-KR" altLang="en-US" sz="1100" dirty="0"/>
              <a:t>환각 방지</a:t>
            </a:r>
            <a:r>
              <a:rPr lang="en-US" altLang="ko-KR" sz="1100" dirty="0"/>
              <a:t>)</a:t>
            </a:r>
            <a:br>
              <a:rPr lang="en-US" altLang="ko-KR" sz="1100" dirty="0"/>
            </a:br>
            <a:r>
              <a:rPr lang="en-US" altLang="ko-KR" sz="1100" dirty="0"/>
              <a:t>(※ AI </a:t>
            </a:r>
            <a:r>
              <a:rPr lang="ko-KR" altLang="en-US" sz="1100" dirty="0"/>
              <a:t>의 경우 확률적 학습을 기반으로 코드를 작성함으로</a:t>
            </a:r>
            <a:r>
              <a:rPr lang="en-US" altLang="ko-KR" sz="1100" dirty="0"/>
              <a:t>, </a:t>
            </a:r>
            <a:r>
              <a:rPr lang="ko-KR" altLang="en-US" sz="1100" dirty="0"/>
              <a:t>기업이 제공하는 기술에 대해</a:t>
            </a:r>
            <a:br>
              <a:rPr lang="en-US" altLang="ko-KR" sz="1100" dirty="0"/>
            </a:br>
            <a:r>
              <a:rPr lang="en-US" altLang="ko-KR" sz="1100" dirty="0"/>
              <a:t>      </a:t>
            </a:r>
            <a:r>
              <a:rPr lang="ko-KR" altLang="en-US" sz="1100" dirty="0"/>
              <a:t>추측으로 답하는 경우가 있음</a:t>
            </a:r>
            <a:r>
              <a:rPr lang="en-US" altLang="ko-KR" sz="1100" dirty="0"/>
              <a:t>.  </a:t>
            </a:r>
            <a:r>
              <a:rPr lang="en-US" altLang="ko-KR" sz="1100" dirty="0">
                <a:sym typeface="Wingdings" panose="05000000000000000000" pitchFamily="2" charset="2"/>
              </a:rPr>
              <a:t> </a:t>
            </a:r>
            <a:r>
              <a:rPr lang="ko-KR" altLang="en-US" sz="1100" dirty="0">
                <a:sym typeface="Wingdings" panose="05000000000000000000" pitchFamily="2" charset="2"/>
              </a:rPr>
              <a:t>지원하지 않는 기술이나 지원하는 걸로 착각하는 경우</a:t>
            </a:r>
            <a:r>
              <a:rPr lang="en-US" altLang="ko-KR" sz="1100" dirty="0">
                <a:sym typeface="Wingdings" panose="05000000000000000000" pitchFamily="2" charset="2"/>
              </a:rPr>
              <a:t>.</a:t>
            </a:r>
            <a:r>
              <a:rPr lang="en-US" altLang="ko-KR" sz="1100" dirty="0"/>
              <a:t>) </a:t>
            </a:r>
          </a:p>
          <a:p>
            <a:pPr marL="228600" indent="-228600">
              <a:buAutoNum type="arabicPeriod"/>
            </a:pPr>
            <a:endParaRPr lang="en-US" altLang="ko-KR" sz="1100" b="1" dirty="0"/>
          </a:p>
          <a:p>
            <a:pPr marL="228600" indent="-228600">
              <a:buAutoNum type="arabicPeriod"/>
            </a:pPr>
            <a:r>
              <a:rPr lang="ko-KR" altLang="en-US" sz="1100" b="1" dirty="0" err="1">
                <a:solidFill>
                  <a:srgbClr val="FF0000"/>
                </a:solidFill>
              </a:rPr>
              <a:t>필요없는</a:t>
            </a:r>
            <a:r>
              <a:rPr lang="ko-KR" altLang="en-US" sz="1100" b="1" dirty="0">
                <a:solidFill>
                  <a:srgbClr val="FF0000"/>
                </a:solidFill>
              </a:rPr>
              <a:t> 항목과 잘못된 정보를 참고하게 하고</a:t>
            </a:r>
            <a:r>
              <a:rPr lang="en-US" altLang="ko-KR" sz="1100" b="1" dirty="0">
                <a:solidFill>
                  <a:srgbClr val="FF0000"/>
                </a:solidFill>
              </a:rPr>
              <a:t>, </a:t>
            </a:r>
            <a:r>
              <a:rPr lang="ko-KR" altLang="en-US" sz="1100" b="1" dirty="0">
                <a:solidFill>
                  <a:srgbClr val="FF0000"/>
                </a:solidFill>
              </a:rPr>
              <a:t>해당 오류를 범하지 않도록 </a:t>
            </a:r>
            <a:br>
              <a:rPr lang="en-US" altLang="ko-KR" sz="1100" b="1" dirty="0">
                <a:solidFill>
                  <a:srgbClr val="FF0000"/>
                </a:solidFill>
              </a:rPr>
            </a:br>
            <a:r>
              <a:rPr lang="ko-KR" altLang="en-US" sz="1100" b="1" dirty="0">
                <a:solidFill>
                  <a:srgbClr val="FF0000"/>
                </a:solidFill>
              </a:rPr>
              <a:t>규약을 추가하여 서브 에이전트의 성능을 향상</a:t>
            </a:r>
            <a:r>
              <a:rPr lang="en-US" altLang="ko-KR" sz="1100" b="1" dirty="0">
                <a:solidFill>
                  <a:srgbClr val="FF0000"/>
                </a:solidFill>
              </a:rPr>
              <a:t>.</a:t>
            </a:r>
          </a:p>
          <a:p>
            <a:pPr marL="228600" indent="-228600">
              <a:buAutoNum type="arabicPeriod"/>
            </a:pPr>
            <a:endParaRPr lang="en-US" altLang="ko-KR" sz="1100" b="1" dirty="0"/>
          </a:p>
          <a:p>
            <a:pPr marL="228600" indent="-228600">
              <a:buAutoNum type="arabicPeriod"/>
            </a:pPr>
            <a:r>
              <a:rPr lang="ko-KR" altLang="en-US" sz="1100" b="1" dirty="0">
                <a:solidFill>
                  <a:srgbClr val="FF0000"/>
                </a:solidFill>
              </a:rPr>
              <a:t>검증을 하는 서브 에이전트를 생성 </a:t>
            </a:r>
            <a:r>
              <a:rPr lang="en-US" altLang="ko-KR" sz="1100" b="1" dirty="0">
                <a:solidFill>
                  <a:srgbClr val="FF0000"/>
                </a:solidFill>
              </a:rPr>
              <a:t>(</a:t>
            </a:r>
            <a:r>
              <a:rPr lang="ko-KR" altLang="en-US" sz="1100" b="1" dirty="0">
                <a:solidFill>
                  <a:srgbClr val="FF0000"/>
                </a:solidFill>
              </a:rPr>
              <a:t>크로스 체크</a:t>
            </a:r>
            <a:r>
              <a:rPr lang="en-US" altLang="ko-KR" sz="1100" b="1" dirty="0">
                <a:solidFill>
                  <a:srgbClr val="FF0000"/>
                </a:solidFill>
              </a:rPr>
              <a:t>)</a:t>
            </a:r>
            <a:br>
              <a:rPr lang="en-US" altLang="ko-KR" sz="1100" b="1" dirty="0"/>
            </a:br>
            <a:r>
              <a:rPr lang="en-US" altLang="ko-KR" sz="1100" dirty="0"/>
              <a:t>- </a:t>
            </a:r>
            <a:r>
              <a:rPr lang="ko-KR" altLang="en-US" sz="1100" dirty="0"/>
              <a:t>생성 에이전트와 다른 검증 전문 에이전트를 두어 생성된 문서에 대한 검증 수행</a:t>
            </a:r>
            <a:br>
              <a:rPr lang="en-US" altLang="ko-KR" sz="1100" dirty="0"/>
            </a:br>
            <a:r>
              <a:rPr lang="en-US" altLang="ko-KR" sz="1100" dirty="0"/>
              <a:t>- </a:t>
            </a:r>
            <a:r>
              <a:rPr lang="ko-KR" altLang="en-US" sz="1100" dirty="0"/>
              <a:t>본인 검증 뿐 아니라 검증 전문 서브 에이전트를 두어 생성 에이전트의 성능 향상에 기여한다</a:t>
            </a:r>
            <a:r>
              <a:rPr lang="en-US" altLang="ko-KR" sz="1100" dirty="0"/>
              <a:t>. – </a:t>
            </a:r>
            <a:r>
              <a:rPr lang="ko-KR" altLang="en-US" sz="1100" dirty="0"/>
              <a:t>문제점 검증 및 피드백</a:t>
            </a:r>
            <a:br>
              <a:rPr lang="en-US" altLang="ko-KR" sz="1100" dirty="0"/>
            </a:br>
            <a:r>
              <a:rPr lang="en-US" altLang="ko-KR" sz="1100" dirty="0"/>
              <a:t>- </a:t>
            </a:r>
            <a:r>
              <a:rPr lang="ko-KR" altLang="en-US" sz="1100" dirty="0"/>
              <a:t>검증 에이전트도 검증 관련하여 잘못된 부분이 있는지 본인이 절차 등을 살펴보고 성능을 개선해 나간다</a:t>
            </a:r>
            <a:r>
              <a:rPr lang="en-US" altLang="ko-KR" sz="1100" dirty="0"/>
              <a:t>.</a:t>
            </a:r>
          </a:p>
          <a:p>
            <a:endParaRPr lang="en-US" altLang="ko-KR" sz="1100" b="1" dirty="0">
              <a:solidFill>
                <a:srgbClr val="FF0000"/>
              </a:solidFill>
            </a:endParaRPr>
          </a:p>
          <a:p>
            <a:r>
              <a:rPr lang="en-US" altLang="ko-KR" sz="1100" b="1" dirty="0">
                <a:solidFill>
                  <a:srgbClr val="FF0000"/>
                </a:solidFill>
              </a:rPr>
              <a:t>※ </a:t>
            </a:r>
            <a:r>
              <a:rPr lang="ko-KR" altLang="en-US" sz="1100" b="1" dirty="0">
                <a:solidFill>
                  <a:srgbClr val="FF0000"/>
                </a:solidFill>
              </a:rPr>
              <a:t>특정 템플릿의 형태로 결과를 기대하는 경우</a:t>
            </a:r>
            <a:r>
              <a:rPr lang="en-US" altLang="ko-KR" sz="1100" b="1" dirty="0">
                <a:solidFill>
                  <a:srgbClr val="FF0000"/>
                </a:solidFill>
              </a:rPr>
              <a:t>.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ko-KR" altLang="en-US" sz="1100" dirty="0">
                <a:sym typeface="Wingdings" panose="05000000000000000000" pitchFamily="2" charset="2"/>
              </a:rPr>
              <a:t>서브 에이전트에 출력물에 대한 예상 결과를 작성하여 알려줌</a:t>
            </a:r>
            <a:r>
              <a:rPr lang="en-US" altLang="ko-KR" sz="1100" dirty="0">
                <a:sym typeface="Wingdings" panose="05000000000000000000" pitchFamily="2" charset="2"/>
              </a:rPr>
              <a:t>.</a:t>
            </a:r>
          </a:p>
          <a:p>
            <a:br>
              <a:rPr lang="en-US" altLang="ko-KR" sz="1100" dirty="0"/>
            </a:br>
            <a:br>
              <a:rPr lang="en-US" altLang="ko-KR" sz="1100" dirty="0"/>
            </a:br>
            <a:endParaRPr lang="ko-KR" altLang="en-US" sz="1100" dirty="0"/>
          </a:p>
          <a:p>
            <a:endParaRPr lang="ko-KR" altLang="en-US" sz="12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78DFF32-6544-1A69-053F-989C53A74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7447" y="5001582"/>
            <a:ext cx="4404392" cy="1718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059003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115</TotalTime>
  <Words>301</Words>
  <Application>Microsoft Office PowerPoint</Application>
  <PresentationFormat>와이드스크린</PresentationFormat>
  <Paragraphs>37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0" baseType="lpstr">
      <vt:lpstr>Calibri</vt:lpstr>
      <vt:lpstr>Calibri Light</vt:lpstr>
      <vt:lpstr>Wingdings</vt:lpstr>
      <vt:lpstr>추억</vt:lpstr>
      <vt:lpstr>서브 에이전트로 PRD문서작성</vt:lpstr>
      <vt:lpstr>강의 제공 서브에이전트 파일</vt:lpstr>
      <vt:lpstr>서브 에이전트 생성</vt:lpstr>
      <vt:lpstr>노션 전문가 서브 에이전트에게 노션 DB사용법 분석 요구</vt:lpstr>
      <vt:lpstr>prd-generator 에이전트로 PRD 작성 요청</vt:lpstr>
      <vt:lpstr>PRD 생성 Work Flow 정리.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11</cp:revision>
  <dcterms:created xsi:type="dcterms:W3CDTF">2026-07-01T06:40:15Z</dcterms:created>
  <dcterms:modified xsi:type="dcterms:W3CDTF">2026-07-01T08:40:48Z</dcterms:modified>
</cp:coreProperties>
</file>