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58" r:id="rId4"/>
    <p:sldId id="262" r:id="rId5"/>
    <p:sldId id="275" r:id="rId6"/>
    <p:sldId id="277" r:id="rId7"/>
    <p:sldId id="260" r:id="rId8"/>
    <p:sldId id="263" r:id="rId9"/>
    <p:sldId id="278" r:id="rId10"/>
    <p:sldId id="279" r:id="rId11"/>
    <p:sldId id="264" r:id="rId12"/>
    <p:sldId id="265" r:id="rId13"/>
    <p:sldId id="266" r:id="rId14"/>
    <p:sldId id="267" r:id="rId15"/>
    <p:sldId id="268" r:id="rId16"/>
    <p:sldId id="269" r:id="rId17"/>
    <p:sldId id="274" r:id="rId18"/>
    <p:sldId id="270" r:id="rId19"/>
    <p:sldId id="271" r:id="rId20"/>
    <p:sldId id="272" r:id="rId21"/>
    <p:sldId id="273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6" autoAdjust="0"/>
    <p:restoredTop sz="94660"/>
  </p:normalViewPr>
  <p:slideViewPr>
    <p:cSldViewPr snapToGrid="0">
      <p:cViewPr varScale="1">
        <p:scale>
          <a:sx n="99" d="100"/>
          <a:sy n="99" d="100"/>
        </p:scale>
        <p:origin x="102" y="9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B462-B40D-428D-8FC4-842D104849FE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8950-B8EE-4EF7-A3A3-812B2EE91E99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3017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B462-B40D-428D-8FC4-842D104849FE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8950-B8EE-4EF7-A3A3-812B2EE91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3231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B462-B40D-428D-8FC4-842D104849FE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8950-B8EE-4EF7-A3A3-812B2EE91E99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2384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B462-B40D-428D-8FC4-842D104849FE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8950-B8EE-4EF7-A3A3-812B2EE91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4833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B462-B40D-428D-8FC4-842D104849FE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8950-B8EE-4EF7-A3A3-812B2EE91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765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B462-B40D-428D-8FC4-842D104849FE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8950-B8EE-4EF7-A3A3-812B2EE91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0006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B462-B40D-428D-8FC4-842D104849FE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8950-B8EE-4EF7-A3A3-812B2EE91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7406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DCCB462-B40D-428D-8FC4-842D104849FE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488950-B8EE-4EF7-A3A3-812B2EE91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9361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B462-B40D-428D-8FC4-842D104849FE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8950-B8EE-4EF7-A3A3-812B2EE91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1347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B462-B40D-428D-8FC4-842D104849FE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8950-B8EE-4EF7-A3A3-812B2EE91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4897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B462-B40D-428D-8FC4-842D104849FE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8950-B8EE-4EF7-A3A3-812B2EE91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2882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DCCB462-B40D-428D-8FC4-842D104849FE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6488950-B8EE-4EF7-A3A3-812B2EE91E99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627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lama.ai/mcp/servers/cjo4m06/mcp-shrimp-task-manager?locale=ko-KR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cjo4m06/mcp-shrimp-task-manager/tree/main#installation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jo4m06/mcp-shrimp-task-manager/tree/main#installation" TargetMode="Externa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jo4m06/mcp-shrimp-task-manager.git" TargetMode="External"/><Relationship Id="rId2" Type="http://schemas.openxmlformats.org/officeDocument/2006/relationships/hyperlink" Target="https://github.com/cjo4m06/mcp-shrimp-task-manager/tree/main#installation" TargetMode="Externa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0BF99D-51EE-C4CD-6B0F-DB21988998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6600" dirty="0"/>
              <a:t>Shrimp Task Master MCP</a:t>
            </a:r>
            <a:endParaRPr lang="ko-KR" altLang="en-US" sz="66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C708BB3-833D-271A-C8AB-F6333494C9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10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8A72FA-8098-D89A-5F61-F6590825F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Shrimp</a:t>
            </a:r>
            <a:r>
              <a:rPr lang="ko-KR" altLang="en-US" dirty="0"/>
              <a:t> </a:t>
            </a:r>
            <a:r>
              <a:rPr lang="en-US" altLang="ko-KR" dirty="0"/>
              <a:t>Task</a:t>
            </a:r>
            <a:r>
              <a:rPr lang="ko-KR" altLang="en-US" dirty="0"/>
              <a:t> </a:t>
            </a:r>
            <a:r>
              <a:rPr lang="en-US" altLang="ko-KR" dirty="0"/>
              <a:t>Manager</a:t>
            </a:r>
            <a:r>
              <a:rPr lang="ko-KR" altLang="en-US" dirty="0"/>
              <a:t> 학습 참고 주소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1B345C-152A-95E6-E664-1ECE63F2F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참고 주소 </a:t>
            </a:r>
            <a:r>
              <a:rPr lang="en-US" altLang="ko-KR" dirty="0"/>
              <a:t>: </a:t>
            </a:r>
            <a:r>
              <a:rPr lang="ko-KR" altLang="en-US" dirty="0">
                <a:hlinkClick r:id="rId2"/>
              </a:rPr>
              <a:t>https://glama.ai/mcp/servers/cjo4m06/mcp-shrimp-task-manager?locale=ko-KR</a:t>
            </a:r>
            <a:endParaRPr lang="en-US" altLang="ko-KR" dirty="0"/>
          </a:p>
          <a:p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24418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A11D4E-5DA3-55D9-3369-0B6E07C30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Shrimp Task </a:t>
            </a:r>
            <a:r>
              <a:rPr lang="en-US" altLang="ko-KR" dirty="0" err="1"/>
              <a:t>Mananger</a:t>
            </a:r>
            <a:r>
              <a:rPr lang="en-US" altLang="ko-KR" dirty="0"/>
              <a:t> </a:t>
            </a:r>
            <a:r>
              <a:rPr lang="ko-KR" altLang="en-US" dirty="0"/>
              <a:t>설치</a:t>
            </a:r>
            <a:r>
              <a:rPr lang="en-US" altLang="ko-KR" dirty="0"/>
              <a:t>-1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84AFE9-B46F-E195-9D5B-88F1AF06B165}"/>
              </a:ext>
            </a:extLst>
          </p:cNvPr>
          <p:cNvSpPr txBox="1"/>
          <p:nvPr/>
        </p:nvSpPr>
        <p:spPr>
          <a:xfrm>
            <a:off x="1097280" y="1816718"/>
            <a:ext cx="75673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참고 주소 </a:t>
            </a:r>
            <a:r>
              <a:rPr lang="en-US" altLang="ko-KR" sz="1200" dirty="0"/>
              <a:t>: </a:t>
            </a:r>
            <a:r>
              <a:rPr lang="en-US" altLang="ko-KR" sz="1200" dirty="0">
                <a:hlinkClick r:id="rId2"/>
              </a:rPr>
              <a:t>https://github.com/cjo4m06/mcp-shrimp-task-manager/tree/main#installation</a:t>
            </a:r>
            <a:r>
              <a:rPr lang="en-US" altLang="ko-KR" sz="1200" dirty="0"/>
              <a:t> </a:t>
            </a:r>
          </a:p>
          <a:p>
            <a:endParaRPr lang="ko-KR" altLang="en-US" sz="12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EF0E293-1C2A-F891-A1FE-6AA219EB6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291" y="2278383"/>
            <a:ext cx="5864189" cy="38434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12FE791-EA9A-99BC-5510-D8520F73CB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9695" y="2278383"/>
            <a:ext cx="6043406" cy="184113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16959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EFAD2-0E27-E4C7-9641-E86256F9D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7ACF83-A82B-4593-6E34-4EA1898A3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Shrimp Task </a:t>
            </a:r>
            <a:r>
              <a:rPr lang="en-US" altLang="ko-KR" dirty="0" err="1"/>
              <a:t>Mananger</a:t>
            </a:r>
            <a:r>
              <a:rPr lang="en-US" altLang="ko-KR" dirty="0"/>
              <a:t> </a:t>
            </a:r>
            <a:r>
              <a:rPr lang="ko-KR" altLang="en-US" dirty="0"/>
              <a:t>설치</a:t>
            </a:r>
            <a:r>
              <a:rPr lang="en-US" altLang="ko-KR" dirty="0"/>
              <a:t>-2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909DAE-244E-1A1A-9B63-B20BE911635D}"/>
              </a:ext>
            </a:extLst>
          </p:cNvPr>
          <p:cNvSpPr txBox="1"/>
          <p:nvPr/>
        </p:nvSpPr>
        <p:spPr>
          <a:xfrm>
            <a:off x="1097280" y="1816718"/>
            <a:ext cx="75673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참고 주소 </a:t>
            </a:r>
            <a:r>
              <a:rPr lang="en-US" altLang="ko-KR" sz="1200" dirty="0"/>
              <a:t>: </a:t>
            </a:r>
            <a:r>
              <a:rPr lang="en-US" altLang="ko-KR" sz="1200" dirty="0">
                <a:hlinkClick r:id="rId2"/>
              </a:rPr>
              <a:t>https://github.com/cjo4m06/mcp-shrimp-task-manager/tree/main#installation</a:t>
            </a:r>
            <a:r>
              <a:rPr lang="en-US" altLang="ko-KR" sz="1200" dirty="0"/>
              <a:t> </a:t>
            </a:r>
          </a:p>
          <a:p>
            <a:endParaRPr lang="ko-KR" altLang="en-US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D099D0-85CD-7197-D035-B942A4FA51D6}"/>
              </a:ext>
            </a:extLst>
          </p:cNvPr>
          <p:cNvSpPr txBox="1"/>
          <p:nvPr/>
        </p:nvSpPr>
        <p:spPr>
          <a:xfrm>
            <a:off x="690514" y="2202969"/>
            <a:ext cx="6094428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ym typeface="Wingdings" panose="05000000000000000000" pitchFamily="2" charset="2"/>
              </a:rPr>
              <a:t> </a:t>
            </a:r>
            <a:r>
              <a:rPr lang="en-US" altLang="ko-KR" sz="1100" dirty="0" err="1"/>
              <a:t>mcp.json</a:t>
            </a:r>
            <a:br>
              <a:rPr lang="en-US" altLang="ko-KR" sz="1100" dirty="0"/>
            </a:br>
            <a:r>
              <a:rPr lang="ko-KR" altLang="en-US" sz="1100" dirty="0"/>
              <a:t>{</a:t>
            </a:r>
          </a:p>
          <a:p>
            <a:r>
              <a:rPr lang="ko-KR" altLang="en-US" sz="1100" dirty="0"/>
              <a:t>  "</a:t>
            </a:r>
            <a:r>
              <a:rPr lang="ko-KR" altLang="en-US" sz="1100" dirty="0" err="1"/>
              <a:t>mcpServers</a:t>
            </a:r>
            <a:r>
              <a:rPr lang="ko-KR" altLang="en-US" sz="1100" dirty="0"/>
              <a:t>": {</a:t>
            </a:r>
          </a:p>
          <a:p>
            <a:r>
              <a:rPr lang="ko-KR" altLang="en-US" sz="1100" dirty="0"/>
              <a:t>    "</a:t>
            </a:r>
            <a:r>
              <a:rPr lang="ko-KR" altLang="en-US" sz="1100" dirty="0" err="1"/>
              <a:t>shrimp-task-manager</a:t>
            </a:r>
            <a:r>
              <a:rPr lang="ko-KR" altLang="en-US" sz="1100" dirty="0"/>
              <a:t>": {</a:t>
            </a:r>
          </a:p>
          <a:p>
            <a:r>
              <a:rPr lang="ko-KR" altLang="en-US" sz="1100" dirty="0"/>
              <a:t>      "</a:t>
            </a:r>
            <a:r>
              <a:rPr lang="ko-KR" altLang="en-US" sz="1100" dirty="0" err="1"/>
              <a:t>command</a:t>
            </a:r>
            <a:r>
              <a:rPr lang="ko-KR" altLang="en-US" sz="1100" dirty="0"/>
              <a:t>": "</a:t>
            </a:r>
            <a:r>
              <a:rPr lang="ko-KR" altLang="en-US" sz="1100" dirty="0" err="1"/>
              <a:t>node</a:t>
            </a:r>
            <a:r>
              <a:rPr lang="ko-KR" altLang="en-US" sz="1100" dirty="0"/>
              <a:t>",</a:t>
            </a:r>
          </a:p>
          <a:p>
            <a:r>
              <a:rPr lang="ko-KR" altLang="en-US" sz="1100" dirty="0"/>
              <a:t>      "</a:t>
            </a:r>
            <a:r>
              <a:rPr lang="ko-KR" altLang="en-US" sz="1100" dirty="0" err="1"/>
              <a:t>args</a:t>
            </a:r>
            <a:r>
              <a:rPr lang="ko-KR" altLang="en-US" sz="1100" dirty="0"/>
              <a:t>": ["/</a:t>
            </a:r>
            <a:r>
              <a:rPr lang="ko-KR" altLang="en-US" sz="1100" dirty="0" err="1"/>
              <a:t>path</a:t>
            </a:r>
            <a:r>
              <a:rPr lang="ko-KR" altLang="en-US" sz="1100" dirty="0"/>
              <a:t>/</a:t>
            </a:r>
            <a:r>
              <a:rPr lang="ko-KR" altLang="en-US" sz="1100" dirty="0" err="1"/>
              <a:t>to</a:t>
            </a:r>
            <a:r>
              <a:rPr lang="ko-KR" altLang="en-US" sz="1100" dirty="0"/>
              <a:t>/</a:t>
            </a:r>
            <a:r>
              <a:rPr lang="ko-KR" altLang="en-US" sz="1100" dirty="0" err="1"/>
              <a:t>mcp-shrimp-task-manager</a:t>
            </a:r>
            <a:r>
              <a:rPr lang="ko-KR" altLang="en-US" sz="1100" dirty="0"/>
              <a:t>/</a:t>
            </a:r>
            <a:r>
              <a:rPr lang="ko-KR" altLang="en-US" sz="1100" dirty="0" err="1"/>
              <a:t>dist</a:t>
            </a:r>
            <a:r>
              <a:rPr lang="ko-KR" altLang="en-US" sz="1100" dirty="0"/>
              <a:t>/</a:t>
            </a:r>
            <a:r>
              <a:rPr lang="ko-KR" altLang="en-US" sz="1100" dirty="0" err="1"/>
              <a:t>index.js</a:t>
            </a:r>
            <a:r>
              <a:rPr lang="ko-KR" altLang="en-US" sz="1100" dirty="0"/>
              <a:t>"],</a:t>
            </a:r>
          </a:p>
          <a:p>
            <a:r>
              <a:rPr lang="ko-KR" altLang="en-US" sz="1100" dirty="0"/>
              <a:t>      "</a:t>
            </a:r>
            <a:r>
              <a:rPr lang="ko-KR" altLang="en-US" sz="1100" dirty="0" err="1"/>
              <a:t>env</a:t>
            </a:r>
            <a:r>
              <a:rPr lang="ko-KR" altLang="en-US" sz="1100" dirty="0"/>
              <a:t>": {</a:t>
            </a:r>
          </a:p>
          <a:p>
            <a:r>
              <a:rPr lang="ko-KR" altLang="en-US" sz="1100" dirty="0"/>
              <a:t>        "DATA_DIR": "/</a:t>
            </a:r>
            <a:r>
              <a:rPr lang="ko-KR" altLang="en-US" sz="1100" dirty="0" err="1"/>
              <a:t>path</a:t>
            </a:r>
            <a:r>
              <a:rPr lang="ko-KR" altLang="en-US" sz="1100" dirty="0"/>
              <a:t>/</a:t>
            </a:r>
            <a:r>
              <a:rPr lang="ko-KR" altLang="en-US" sz="1100" dirty="0" err="1"/>
              <a:t>to</a:t>
            </a:r>
            <a:r>
              <a:rPr lang="ko-KR" altLang="en-US" sz="1100" dirty="0"/>
              <a:t>/</a:t>
            </a:r>
            <a:r>
              <a:rPr lang="ko-KR" altLang="en-US" sz="1100" dirty="0" err="1"/>
              <a:t>your</a:t>
            </a:r>
            <a:r>
              <a:rPr lang="ko-KR" altLang="en-US" sz="1100" dirty="0"/>
              <a:t>/</a:t>
            </a:r>
            <a:r>
              <a:rPr lang="ko-KR" altLang="en-US" sz="1100" dirty="0" err="1"/>
              <a:t>shrimp_data</a:t>
            </a:r>
            <a:r>
              <a:rPr lang="ko-KR" altLang="en-US" sz="1100" dirty="0"/>
              <a:t>",</a:t>
            </a:r>
          </a:p>
          <a:p>
            <a:r>
              <a:rPr lang="ko-KR" altLang="en-US" sz="1100" dirty="0"/>
              <a:t>        "TEMPLATES_USE": "</a:t>
            </a:r>
            <a:r>
              <a:rPr lang="ko-KR" altLang="en-US" sz="1100" dirty="0" err="1"/>
              <a:t>en</a:t>
            </a:r>
            <a:r>
              <a:rPr lang="ko-KR" altLang="en-US" sz="1100" dirty="0"/>
              <a:t>",</a:t>
            </a:r>
          </a:p>
          <a:p>
            <a:r>
              <a:rPr lang="ko-KR" altLang="en-US" sz="1100" dirty="0"/>
              <a:t>        "ENABLE_GUI": "</a:t>
            </a:r>
            <a:r>
              <a:rPr lang="ko-KR" altLang="en-US" sz="1100" dirty="0" err="1"/>
              <a:t>false</a:t>
            </a:r>
            <a:r>
              <a:rPr lang="ko-KR" altLang="en-US" sz="1100" dirty="0"/>
              <a:t>"</a:t>
            </a:r>
          </a:p>
          <a:p>
            <a:r>
              <a:rPr lang="ko-KR" altLang="en-US" sz="1100" dirty="0"/>
              <a:t>      }</a:t>
            </a:r>
          </a:p>
          <a:p>
            <a:r>
              <a:rPr lang="ko-KR" altLang="en-US" sz="1100" dirty="0"/>
              <a:t>    }</a:t>
            </a:r>
          </a:p>
          <a:p>
            <a:r>
              <a:rPr lang="ko-KR" altLang="en-US" sz="1100" dirty="0"/>
              <a:t>  }</a:t>
            </a:r>
          </a:p>
          <a:p>
            <a:r>
              <a:rPr lang="ko-KR" altLang="en-US" sz="1100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B74653-FE1A-9DBF-F553-C223D5938517}"/>
              </a:ext>
            </a:extLst>
          </p:cNvPr>
          <p:cNvSpPr txBox="1"/>
          <p:nvPr/>
        </p:nvSpPr>
        <p:spPr>
          <a:xfrm>
            <a:off x="5705573" y="2202968"/>
            <a:ext cx="5700859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en-US" altLang="ko-KR" sz="1100" b="1" dirty="0">
                <a:solidFill>
                  <a:srgbClr val="1F2328"/>
                </a:solidFill>
                <a:latin typeface="Monaspace Neon"/>
              </a:rPr>
              <a:t>※ Sample Config </a:t>
            </a:r>
            <a:br>
              <a:rPr lang="en-US" altLang="ko-KR" sz="1100" b="0" i="0" dirty="0">
                <a:solidFill>
                  <a:srgbClr val="1F2328"/>
                </a:solidFill>
                <a:effectLst/>
                <a:latin typeface="Monaspace Neon"/>
              </a:rPr>
            </a:br>
            <a:r>
              <a:rPr lang="en-US" altLang="ko-KR" sz="1100" b="0" i="0" dirty="0">
                <a:solidFill>
                  <a:srgbClr val="1F2328"/>
                </a:solidFill>
                <a:effectLst/>
                <a:latin typeface="Monaspace Neon"/>
              </a:rPr>
              <a:t>{</a:t>
            </a:r>
          </a:p>
          <a:p>
            <a:pPr algn="l" latinLnBrk="0">
              <a:buNone/>
            </a:pPr>
            <a:r>
              <a:rPr lang="en-US" altLang="ko-KR" sz="1100" b="0" i="0" dirty="0">
                <a:solidFill>
                  <a:srgbClr val="1F2328"/>
                </a:solidFill>
                <a:effectLst/>
                <a:latin typeface="Monaspace Neon"/>
              </a:rPr>
              <a:t>  </a:t>
            </a:r>
            <a:r>
              <a:rPr lang="en-US" altLang="ko-KR" sz="1100" b="0" i="0" dirty="0">
                <a:solidFill>
                  <a:srgbClr val="0550AE"/>
                </a:solidFill>
                <a:effectLst/>
                <a:latin typeface="Monaspace Neon"/>
              </a:rPr>
              <a:t>"</a:t>
            </a:r>
            <a:r>
              <a:rPr lang="en-US" altLang="ko-KR" sz="1100" b="0" i="0" dirty="0" err="1">
                <a:solidFill>
                  <a:srgbClr val="0550AE"/>
                </a:solidFill>
                <a:effectLst/>
                <a:latin typeface="Monaspace Neon"/>
              </a:rPr>
              <a:t>mcpServers</a:t>
            </a:r>
            <a:r>
              <a:rPr lang="en-US" altLang="ko-KR" sz="1100" b="0" i="0" dirty="0">
                <a:solidFill>
                  <a:srgbClr val="0550AE"/>
                </a:solidFill>
                <a:effectLst/>
                <a:latin typeface="Monaspace Neon"/>
              </a:rPr>
              <a:t>"</a:t>
            </a:r>
            <a:r>
              <a:rPr lang="en-US" altLang="ko-KR" sz="1100" b="0" i="0" dirty="0">
                <a:solidFill>
                  <a:srgbClr val="1F2328"/>
                </a:solidFill>
                <a:effectLst/>
                <a:latin typeface="Monaspace Neon"/>
              </a:rPr>
              <a:t>: {</a:t>
            </a:r>
          </a:p>
          <a:p>
            <a:pPr algn="l" latinLnBrk="0">
              <a:buNone/>
            </a:pPr>
            <a:r>
              <a:rPr lang="en-US" altLang="ko-KR" sz="1100" b="0" i="0" dirty="0">
                <a:solidFill>
                  <a:srgbClr val="1F2328"/>
                </a:solidFill>
                <a:effectLst/>
                <a:latin typeface="Monaspace Neon"/>
              </a:rPr>
              <a:t>    </a:t>
            </a:r>
            <a:r>
              <a:rPr lang="en-US" altLang="ko-KR" sz="1100" b="0" i="0" dirty="0">
                <a:solidFill>
                  <a:srgbClr val="0550AE"/>
                </a:solidFill>
                <a:effectLst/>
                <a:latin typeface="Monaspace Neon"/>
              </a:rPr>
              <a:t>"shrimp-task-manager"</a:t>
            </a:r>
            <a:r>
              <a:rPr lang="en-US" altLang="ko-KR" sz="1100" b="0" i="0" dirty="0">
                <a:solidFill>
                  <a:srgbClr val="1F2328"/>
                </a:solidFill>
                <a:effectLst/>
                <a:latin typeface="Monaspace Neon"/>
              </a:rPr>
              <a:t>: {</a:t>
            </a:r>
          </a:p>
          <a:p>
            <a:pPr algn="l" latinLnBrk="0">
              <a:buNone/>
            </a:pPr>
            <a:r>
              <a:rPr lang="en-US" altLang="ko-KR" sz="1100" b="0" i="0" dirty="0">
                <a:solidFill>
                  <a:srgbClr val="1F2328"/>
                </a:solidFill>
                <a:effectLst/>
                <a:latin typeface="Monaspace Neon"/>
              </a:rPr>
              <a:t>      </a:t>
            </a:r>
            <a:r>
              <a:rPr lang="en-US" altLang="ko-KR" sz="1100" b="0" i="0" dirty="0">
                <a:solidFill>
                  <a:srgbClr val="0550AE"/>
                </a:solidFill>
                <a:effectLst/>
                <a:latin typeface="Monaspace Neon"/>
              </a:rPr>
              <a:t>"command"</a:t>
            </a:r>
            <a:r>
              <a:rPr lang="en-US" altLang="ko-KR" sz="1100" b="0" i="0" dirty="0">
                <a:solidFill>
                  <a:srgbClr val="1F2328"/>
                </a:solidFill>
                <a:effectLst/>
                <a:latin typeface="Monaspace Neon"/>
              </a:rPr>
              <a:t>: </a:t>
            </a:r>
            <a:r>
              <a:rPr lang="en-US" altLang="ko-KR" sz="1100" b="0" i="0" dirty="0">
                <a:solidFill>
                  <a:srgbClr val="0A3069"/>
                </a:solidFill>
                <a:effectLst/>
                <a:latin typeface="Monaspace Neon"/>
              </a:rPr>
              <a:t>"node"</a:t>
            </a:r>
            <a:r>
              <a:rPr lang="en-US" altLang="ko-KR" sz="1100" b="0" i="0" dirty="0">
                <a:solidFill>
                  <a:srgbClr val="1F2328"/>
                </a:solidFill>
                <a:effectLst/>
                <a:latin typeface="Monaspace Neon"/>
              </a:rPr>
              <a:t>,</a:t>
            </a:r>
          </a:p>
          <a:p>
            <a:pPr algn="l" latinLnBrk="0">
              <a:buNone/>
            </a:pPr>
            <a:r>
              <a:rPr lang="en-US" altLang="ko-KR" sz="1100" b="0" i="0" dirty="0">
                <a:solidFill>
                  <a:srgbClr val="1F2328"/>
                </a:solidFill>
                <a:effectLst/>
                <a:latin typeface="Monaspace Neon"/>
              </a:rPr>
              <a:t>      </a:t>
            </a:r>
            <a:r>
              <a:rPr lang="en-US" altLang="ko-KR" sz="1100" b="0" i="0" dirty="0">
                <a:solidFill>
                  <a:srgbClr val="0550AE"/>
                </a:solidFill>
                <a:effectLst/>
                <a:latin typeface="Monaspace Neon"/>
              </a:rPr>
              <a:t>"</a:t>
            </a:r>
            <a:r>
              <a:rPr lang="en-US" altLang="ko-KR" sz="1100" b="0" i="0" dirty="0" err="1">
                <a:solidFill>
                  <a:srgbClr val="0550AE"/>
                </a:solidFill>
                <a:effectLst/>
                <a:latin typeface="Monaspace Neon"/>
              </a:rPr>
              <a:t>args</a:t>
            </a:r>
            <a:r>
              <a:rPr lang="en-US" altLang="ko-KR" sz="1100" b="0" i="0" dirty="0">
                <a:solidFill>
                  <a:srgbClr val="0550AE"/>
                </a:solidFill>
                <a:effectLst/>
                <a:latin typeface="Monaspace Neon"/>
              </a:rPr>
              <a:t>"</a:t>
            </a:r>
            <a:r>
              <a:rPr lang="en-US" altLang="ko-KR" sz="1100" b="0" i="0" dirty="0">
                <a:solidFill>
                  <a:srgbClr val="1F2328"/>
                </a:solidFill>
                <a:effectLst/>
                <a:latin typeface="Monaspace Neon"/>
              </a:rPr>
              <a:t>: [</a:t>
            </a:r>
            <a:r>
              <a:rPr lang="en-US" altLang="ko-KR" sz="1100" b="0" i="0" dirty="0">
                <a:solidFill>
                  <a:srgbClr val="0A3069"/>
                </a:solidFill>
                <a:effectLst/>
                <a:latin typeface="Monaspace Neon"/>
              </a:rPr>
              <a:t>"/home/fire/</a:t>
            </a:r>
            <a:r>
              <a:rPr lang="en-US" altLang="ko-KR" sz="1100" b="0" i="0" dirty="0" err="1">
                <a:solidFill>
                  <a:srgbClr val="0A3069"/>
                </a:solidFill>
                <a:effectLst/>
                <a:latin typeface="Monaspace Neon"/>
              </a:rPr>
              <a:t>claude</a:t>
            </a:r>
            <a:r>
              <a:rPr lang="en-US" altLang="ko-KR" sz="1100" b="0" i="0" dirty="0">
                <a:solidFill>
                  <a:srgbClr val="0A3069"/>
                </a:solidFill>
                <a:effectLst/>
                <a:latin typeface="Monaspace Neon"/>
              </a:rPr>
              <a:t>/</a:t>
            </a:r>
            <a:r>
              <a:rPr lang="en-US" altLang="ko-KR" sz="1100" b="0" i="0" dirty="0" err="1">
                <a:solidFill>
                  <a:srgbClr val="0A3069"/>
                </a:solidFill>
                <a:effectLst/>
                <a:latin typeface="Monaspace Neon"/>
              </a:rPr>
              <a:t>mcp</a:t>
            </a:r>
            <a:r>
              <a:rPr lang="en-US" altLang="ko-KR" sz="1100" b="0" i="0" dirty="0">
                <a:solidFill>
                  <a:srgbClr val="0A3069"/>
                </a:solidFill>
                <a:effectLst/>
                <a:latin typeface="Monaspace Neon"/>
              </a:rPr>
              <a:t>-shrimp-task-manager/</a:t>
            </a:r>
            <a:r>
              <a:rPr lang="en-US" altLang="ko-KR" sz="1100" b="0" i="0" dirty="0" err="1">
                <a:solidFill>
                  <a:srgbClr val="0A3069"/>
                </a:solidFill>
                <a:effectLst/>
                <a:latin typeface="Monaspace Neon"/>
              </a:rPr>
              <a:t>dist</a:t>
            </a:r>
            <a:r>
              <a:rPr lang="en-US" altLang="ko-KR" sz="1100" b="0" i="0" dirty="0">
                <a:solidFill>
                  <a:srgbClr val="0A3069"/>
                </a:solidFill>
                <a:effectLst/>
                <a:latin typeface="Monaspace Neon"/>
              </a:rPr>
              <a:t>/index.js"</a:t>
            </a:r>
            <a:r>
              <a:rPr lang="en-US" altLang="ko-KR" sz="1100" b="0" i="0" dirty="0">
                <a:solidFill>
                  <a:srgbClr val="1F2328"/>
                </a:solidFill>
                <a:effectLst/>
                <a:latin typeface="Monaspace Neon"/>
              </a:rPr>
              <a:t>],</a:t>
            </a:r>
          </a:p>
          <a:p>
            <a:pPr algn="l" latinLnBrk="0">
              <a:buNone/>
            </a:pPr>
            <a:r>
              <a:rPr lang="en-US" altLang="ko-KR" sz="1100" b="0" i="0" dirty="0">
                <a:solidFill>
                  <a:srgbClr val="1F2328"/>
                </a:solidFill>
                <a:effectLst/>
                <a:latin typeface="Monaspace Neon"/>
              </a:rPr>
              <a:t>      </a:t>
            </a:r>
            <a:r>
              <a:rPr lang="en-US" altLang="ko-KR" sz="1100" b="0" i="0" dirty="0">
                <a:solidFill>
                  <a:srgbClr val="0550AE"/>
                </a:solidFill>
                <a:effectLst/>
                <a:latin typeface="Monaspace Neon"/>
              </a:rPr>
              <a:t>"env"</a:t>
            </a:r>
            <a:r>
              <a:rPr lang="en-US" altLang="ko-KR" sz="1100" b="0" i="0" dirty="0">
                <a:solidFill>
                  <a:srgbClr val="1F2328"/>
                </a:solidFill>
                <a:effectLst/>
                <a:latin typeface="Monaspace Neon"/>
              </a:rPr>
              <a:t>: {</a:t>
            </a:r>
          </a:p>
          <a:p>
            <a:pPr algn="l" latinLnBrk="0">
              <a:buNone/>
            </a:pPr>
            <a:r>
              <a:rPr lang="en-US" altLang="ko-KR" sz="1100" b="0" i="0" dirty="0">
                <a:solidFill>
                  <a:srgbClr val="1F2328"/>
                </a:solidFill>
                <a:effectLst/>
                <a:latin typeface="Monaspace Neon"/>
              </a:rPr>
              <a:t>        </a:t>
            </a:r>
            <a:r>
              <a:rPr lang="en-US" altLang="ko-KR" sz="1100" b="0" i="0" dirty="0">
                <a:solidFill>
                  <a:srgbClr val="0550AE"/>
                </a:solidFill>
                <a:effectLst/>
                <a:latin typeface="Monaspace Neon"/>
              </a:rPr>
              <a:t>"DATA_DIR"</a:t>
            </a:r>
            <a:r>
              <a:rPr lang="en-US" altLang="ko-KR" sz="1100" b="0" i="0" dirty="0">
                <a:solidFill>
                  <a:srgbClr val="1F2328"/>
                </a:solidFill>
                <a:effectLst/>
                <a:latin typeface="Monaspace Neon"/>
              </a:rPr>
              <a:t>: </a:t>
            </a:r>
            <a:r>
              <a:rPr lang="en-US" altLang="ko-KR" sz="1100" b="0" i="0" dirty="0">
                <a:solidFill>
                  <a:srgbClr val="0A3069"/>
                </a:solidFill>
                <a:effectLst/>
                <a:latin typeface="Monaspace Neon"/>
              </a:rPr>
              <a:t>"/home/fire/</a:t>
            </a:r>
            <a:r>
              <a:rPr lang="en-US" altLang="ko-KR" sz="1100" b="0" i="0" dirty="0" err="1">
                <a:solidFill>
                  <a:srgbClr val="0A3069"/>
                </a:solidFill>
                <a:effectLst/>
                <a:latin typeface="Monaspace Neon"/>
              </a:rPr>
              <a:t>claude</a:t>
            </a:r>
            <a:r>
              <a:rPr lang="en-US" altLang="ko-KR" sz="1100" b="0" i="0" dirty="0">
                <a:solidFill>
                  <a:srgbClr val="0A3069"/>
                </a:solidFill>
                <a:effectLst/>
                <a:latin typeface="Monaspace Neon"/>
              </a:rPr>
              <a:t>/project/</a:t>
            </a:r>
            <a:r>
              <a:rPr lang="en-US" altLang="ko-KR" sz="1100" b="0" i="0" dirty="0" err="1">
                <a:solidFill>
                  <a:srgbClr val="0A3069"/>
                </a:solidFill>
                <a:effectLst/>
                <a:latin typeface="Monaspace Neon"/>
              </a:rPr>
              <a:t>shrimp_data</a:t>
            </a:r>
            <a:r>
              <a:rPr lang="en-US" altLang="ko-KR" sz="1100" b="0" i="0" dirty="0">
                <a:solidFill>
                  <a:srgbClr val="0A3069"/>
                </a:solidFill>
                <a:effectLst/>
                <a:latin typeface="Monaspace Neon"/>
              </a:rPr>
              <a:t>"</a:t>
            </a:r>
            <a:r>
              <a:rPr lang="en-US" altLang="ko-KR" sz="1100" b="0" i="0" dirty="0">
                <a:solidFill>
                  <a:srgbClr val="1F2328"/>
                </a:solidFill>
                <a:effectLst/>
                <a:latin typeface="Monaspace Neon"/>
              </a:rPr>
              <a:t>,</a:t>
            </a:r>
          </a:p>
          <a:p>
            <a:pPr algn="l" latinLnBrk="0">
              <a:buNone/>
            </a:pPr>
            <a:r>
              <a:rPr lang="en-US" altLang="ko-KR" sz="1100" b="0" i="0" dirty="0">
                <a:solidFill>
                  <a:srgbClr val="1F2328"/>
                </a:solidFill>
                <a:effectLst/>
                <a:latin typeface="Monaspace Neon"/>
              </a:rPr>
              <a:t>        </a:t>
            </a:r>
            <a:r>
              <a:rPr lang="en-US" altLang="ko-KR" sz="1100" b="0" i="0" dirty="0">
                <a:solidFill>
                  <a:srgbClr val="0550AE"/>
                </a:solidFill>
                <a:effectLst/>
                <a:latin typeface="Monaspace Neon"/>
              </a:rPr>
              <a:t>"TEMPLATES_USE"</a:t>
            </a:r>
            <a:r>
              <a:rPr lang="en-US" altLang="ko-KR" sz="1100" b="0" i="0" dirty="0">
                <a:solidFill>
                  <a:srgbClr val="1F2328"/>
                </a:solidFill>
                <a:effectLst/>
                <a:latin typeface="Monaspace Neon"/>
              </a:rPr>
              <a:t>: </a:t>
            </a:r>
            <a:r>
              <a:rPr lang="en-US" altLang="ko-KR" sz="1100" b="0" i="0" dirty="0">
                <a:solidFill>
                  <a:srgbClr val="0A3069"/>
                </a:solidFill>
                <a:effectLst/>
                <a:latin typeface="Monaspace Neon"/>
              </a:rPr>
              <a:t>"</a:t>
            </a:r>
            <a:r>
              <a:rPr lang="en-US" altLang="ko-KR" sz="1100" b="0" i="0" dirty="0" err="1">
                <a:solidFill>
                  <a:srgbClr val="0A3069"/>
                </a:solidFill>
                <a:effectLst/>
                <a:latin typeface="Monaspace Neon"/>
              </a:rPr>
              <a:t>en</a:t>
            </a:r>
            <a:r>
              <a:rPr lang="en-US" altLang="ko-KR" sz="1100" b="0" i="0" dirty="0">
                <a:solidFill>
                  <a:srgbClr val="0A3069"/>
                </a:solidFill>
                <a:effectLst/>
                <a:latin typeface="Monaspace Neon"/>
              </a:rPr>
              <a:t>"</a:t>
            </a:r>
            <a:r>
              <a:rPr lang="en-US" altLang="ko-KR" sz="1100" b="0" i="0" dirty="0">
                <a:solidFill>
                  <a:srgbClr val="1F2328"/>
                </a:solidFill>
                <a:effectLst/>
                <a:latin typeface="Monaspace Neon"/>
              </a:rPr>
              <a:t>,</a:t>
            </a:r>
          </a:p>
          <a:p>
            <a:pPr algn="l" latinLnBrk="0">
              <a:buNone/>
            </a:pPr>
            <a:r>
              <a:rPr lang="en-US" altLang="ko-KR" sz="1100" b="0" i="0" dirty="0">
                <a:solidFill>
                  <a:srgbClr val="1F2328"/>
                </a:solidFill>
                <a:effectLst/>
                <a:latin typeface="Monaspace Neon"/>
              </a:rPr>
              <a:t>        </a:t>
            </a:r>
            <a:r>
              <a:rPr lang="en-US" altLang="ko-KR" sz="1100" b="0" i="0" dirty="0">
                <a:solidFill>
                  <a:srgbClr val="0550AE"/>
                </a:solidFill>
                <a:effectLst/>
                <a:latin typeface="Monaspace Neon"/>
              </a:rPr>
              <a:t>"ENABLE_GUI"</a:t>
            </a:r>
            <a:r>
              <a:rPr lang="en-US" altLang="ko-KR" sz="1100" b="0" i="0" dirty="0">
                <a:solidFill>
                  <a:srgbClr val="1F2328"/>
                </a:solidFill>
                <a:effectLst/>
                <a:latin typeface="Monaspace Neon"/>
              </a:rPr>
              <a:t>: </a:t>
            </a:r>
            <a:r>
              <a:rPr lang="en-US" altLang="ko-KR" sz="1100" b="0" i="0" dirty="0">
                <a:solidFill>
                  <a:srgbClr val="0A3069"/>
                </a:solidFill>
                <a:effectLst/>
                <a:latin typeface="Monaspace Neon"/>
              </a:rPr>
              <a:t>"false"</a:t>
            </a:r>
            <a:endParaRPr lang="en-US" altLang="ko-KR" sz="1100" b="0" i="0" dirty="0">
              <a:solidFill>
                <a:srgbClr val="1F2328"/>
              </a:solidFill>
              <a:effectLst/>
              <a:latin typeface="Monaspace Neon"/>
            </a:endParaRPr>
          </a:p>
          <a:p>
            <a:pPr algn="l" latinLnBrk="0">
              <a:buNone/>
            </a:pPr>
            <a:r>
              <a:rPr lang="en-US" altLang="ko-KR" sz="1100" b="0" i="0" dirty="0">
                <a:solidFill>
                  <a:srgbClr val="1F2328"/>
                </a:solidFill>
                <a:effectLst/>
                <a:latin typeface="Monaspace Neon"/>
              </a:rPr>
              <a:t>      }</a:t>
            </a:r>
          </a:p>
          <a:p>
            <a:pPr algn="l" latinLnBrk="0">
              <a:buNone/>
            </a:pPr>
            <a:r>
              <a:rPr lang="en-US" altLang="ko-KR" sz="1100" b="0" i="0" dirty="0">
                <a:solidFill>
                  <a:srgbClr val="1F2328"/>
                </a:solidFill>
                <a:effectLst/>
                <a:latin typeface="Monaspace Neon"/>
              </a:rPr>
              <a:t>    }</a:t>
            </a:r>
          </a:p>
          <a:p>
            <a:pPr algn="l" latinLnBrk="0">
              <a:buNone/>
            </a:pPr>
            <a:r>
              <a:rPr lang="en-US" altLang="ko-KR" sz="1100" b="0" i="0" dirty="0">
                <a:solidFill>
                  <a:srgbClr val="1F2328"/>
                </a:solidFill>
                <a:effectLst/>
                <a:latin typeface="Monaspace Neon"/>
              </a:rPr>
              <a:t>  }</a:t>
            </a:r>
          </a:p>
          <a:p>
            <a:pPr algn="l" latinLnBrk="0">
              <a:buNone/>
            </a:pPr>
            <a:r>
              <a:rPr lang="en-US" altLang="ko-KR" sz="1100" b="0" i="0" dirty="0">
                <a:solidFill>
                  <a:srgbClr val="1F2328"/>
                </a:solidFill>
                <a:effectLst/>
                <a:latin typeface="Monaspace Neon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89324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485CC-2913-1AC3-7AAF-FB5A01E8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C7190A-EDB0-07F1-77E4-71A47786C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Shrimp Task </a:t>
            </a:r>
            <a:r>
              <a:rPr lang="en-US" altLang="ko-KR" dirty="0" err="1"/>
              <a:t>Mananger</a:t>
            </a:r>
            <a:r>
              <a:rPr lang="en-US" altLang="ko-KR" dirty="0"/>
              <a:t> </a:t>
            </a:r>
            <a:r>
              <a:rPr lang="ko-KR" altLang="en-US"/>
              <a:t>설치</a:t>
            </a:r>
            <a:r>
              <a:rPr lang="en-US" altLang="ko-KR"/>
              <a:t>-3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E5DB95-62B0-9371-7EFA-E4040C598213}"/>
              </a:ext>
            </a:extLst>
          </p:cNvPr>
          <p:cNvSpPr txBox="1"/>
          <p:nvPr/>
        </p:nvSpPr>
        <p:spPr>
          <a:xfrm>
            <a:off x="1097280" y="1816718"/>
            <a:ext cx="75673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참고 주소 </a:t>
            </a:r>
            <a:r>
              <a:rPr lang="en-US" altLang="ko-KR" sz="1200" dirty="0"/>
              <a:t>: </a:t>
            </a:r>
            <a:r>
              <a:rPr lang="en-US" altLang="ko-KR" sz="1200" dirty="0">
                <a:hlinkClick r:id="rId2"/>
              </a:rPr>
              <a:t>https://github.com/cjo4m06/mcp-shrimp-task-manager/tree/main#installation</a:t>
            </a:r>
            <a:r>
              <a:rPr lang="en-US" altLang="ko-KR" sz="1200" dirty="0"/>
              <a:t> </a:t>
            </a:r>
          </a:p>
          <a:p>
            <a:endParaRPr lang="ko-KR" altLang="en-US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B43132-93FA-5BA6-9692-5E8B38D82714}"/>
              </a:ext>
            </a:extLst>
          </p:cNvPr>
          <p:cNvSpPr txBox="1"/>
          <p:nvPr/>
        </p:nvSpPr>
        <p:spPr>
          <a:xfrm>
            <a:off x="690513" y="2202969"/>
            <a:ext cx="808584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US" altLang="ko-KR" sz="1100">
                <a:sym typeface="Wingdings" panose="05000000000000000000" pitchFamily="2" charset="2"/>
              </a:rPr>
              <a:t>D:\Study\ClaudeAI\workspace\invoice-web&gt; git clone </a:t>
            </a:r>
            <a:r>
              <a:rPr lang="en-US" altLang="ko-KR" sz="1100">
                <a:sym typeface="Wingdings" panose="05000000000000000000" pitchFamily="2" charset="2"/>
                <a:hlinkClick r:id="rId3"/>
              </a:rPr>
              <a:t>https://github.com/cjo4m06/mcp-shrimp-task-manager.git</a:t>
            </a:r>
            <a:endParaRPr lang="en-US" altLang="ko-KR" sz="1100">
              <a:sym typeface="Wingdings" panose="05000000000000000000" pitchFamily="2" charset="2"/>
            </a:endParaRPr>
          </a:p>
          <a:p>
            <a:pPr marL="228600" indent="-228600">
              <a:buFontTx/>
              <a:buAutoNum type="arabicPeriod"/>
            </a:pPr>
            <a:r>
              <a:rPr lang="en-US" altLang="ko-KR" sz="1100"/>
              <a:t>cd mcp-shrimp-task-manager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100"/>
              <a:t>npm i 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100"/>
              <a:t>npm run build</a:t>
            </a:r>
            <a:br>
              <a:rPr lang="en-US" altLang="ko-KR" sz="1100"/>
            </a:br>
            <a:endParaRPr lang="en-US" altLang="ko-KR" sz="1100"/>
          </a:p>
          <a:p>
            <a:pPr marL="228600" indent="-228600">
              <a:buAutoNum type="arabicPeriod"/>
            </a:pPr>
            <a:endParaRPr lang="ko-KR" altLang="en-US" sz="11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93FDAD0-6706-3B3C-B6DA-C75F3FF868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513" y="3131616"/>
            <a:ext cx="4277413" cy="194660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D9478C3-D8E7-547D-87A9-E53D7BCCFF47}"/>
              </a:ext>
            </a:extLst>
          </p:cNvPr>
          <p:cNvSpPr txBox="1"/>
          <p:nvPr/>
        </p:nvSpPr>
        <p:spPr>
          <a:xfrm>
            <a:off x="690513" y="6061435"/>
            <a:ext cx="63701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(up to date ...) </a:t>
            </a:r>
            <a:r>
              <a:rPr lang="en-US" altLang="ko-KR" sz="1200">
                <a:sym typeface="Wingdings" panose="05000000000000000000" pitchFamily="2" charset="2"/>
              </a:rPr>
              <a:t> </a:t>
            </a:r>
            <a:r>
              <a:rPr lang="ko-KR" altLang="en-US" sz="1200"/>
              <a:t>이미 의존성이 다 업데이트 되어있다고 뜬다</a:t>
            </a:r>
            <a:r>
              <a:rPr lang="en-US" altLang="ko-KR" sz="1200"/>
              <a:t>.</a:t>
            </a:r>
            <a:endParaRPr lang="ko-KR" altLang="en-US" sz="120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D04D087-5BE2-4127-D97D-4A4372DD03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513" y="5120641"/>
            <a:ext cx="7020613" cy="916051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7D98A3B9-B5B2-A8B9-420E-AF80869B7D0A}"/>
              </a:ext>
            </a:extLst>
          </p:cNvPr>
          <p:cNvSpPr/>
          <p:nvPr/>
        </p:nvSpPr>
        <p:spPr>
          <a:xfrm>
            <a:off x="4260915" y="3429000"/>
            <a:ext cx="358219" cy="347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3</a:t>
            </a:r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8F7CD5C-9EF6-9A2A-E1F0-C05C158A5242}"/>
              </a:ext>
            </a:extLst>
          </p:cNvPr>
          <p:cNvSpPr/>
          <p:nvPr/>
        </p:nvSpPr>
        <p:spPr>
          <a:xfrm>
            <a:off x="6702457" y="5159882"/>
            <a:ext cx="358219" cy="347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4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5772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D032D-B381-F6C1-10CB-A45961BDC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A629FA-9F48-C4A6-7AE4-FF73FF7FA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Shrimp Task </a:t>
            </a:r>
            <a:r>
              <a:rPr lang="en-US" altLang="ko-KR" dirty="0" err="1"/>
              <a:t>Mananger</a:t>
            </a:r>
            <a:r>
              <a:rPr lang="en-US" altLang="ko-KR" dirty="0"/>
              <a:t> </a:t>
            </a:r>
            <a:r>
              <a:rPr lang="ko-KR" altLang="en-US"/>
              <a:t>설치</a:t>
            </a:r>
            <a:r>
              <a:rPr lang="en-US" altLang="ko-KR"/>
              <a:t>-4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45EF4D-C6DA-3A70-6A52-7C40A4F9E360}"/>
              </a:ext>
            </a:extLst>
          </p:cNvPr>
          <p:cNvSpPr txBox="1"/>
          <p:nvPr/>
        </p:nvSpPr>
        <p:spPr>
          <a:xfrm>
            <a:off x="690515" y="3999432"/>
            <a:ext cx="551232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200">
                <a:solidFill>
                  <a:srgbClr val="C77DBB"/>
                </a:solidFill>
                <a:effectLst/>
                <a:latin typeface="JetBrains Mono"/>
              </a:rPr>
              <a:t>"shrimp-task-manager"</a:t>
            </a: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: {</a:t>
            </a:r>
            <a:b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   </a:t>
            </a:r>
            <a:r>
              <a:rPr lang="en-US" altLang="ko-KR" sz="1200">
                <a:solidFill>
                  <a:srgbClr val="C77DBB"/>
                </a:solidFill>
                <a:effectLst/>
                <a:latin typeface="JetBrains Mono"/>
              </a:rPr>
              <a:t>"command"</a:t>
            </a: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en-US" altLang="ko-KR" sz="1200">
                <a:solidFill>
                  <a:srgbClr val="6AAB73"/>
                </a:solidFill>
                <a:effectLst/>
                <a:latin typeface="JetBrains Mono"/>
              </a:rPr>
              <a:t>"node"</a:t>
            </a: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,</a:t>
            </a:r>
            <a:b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   </a:t>
            </a:r>
            <a:r>
              <a:rPr lang="en-US" altLang="ko-KR" sz="1200">
                <a:solidFill>
                  <a:srgbClr val="C77DBB"/>
                </a:solidFill>
                <a:effectLst/>
                <a:latin typeface="JetBrains Mono"/>
              </a:rPr>
              <a:t>"args"</a:t>
            </a: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: [</a:t>
            </a:r>
            <a:r>
              <a:rPr lang="en-US" altLang="ko-KR" sz="1200">
                <a:solidFill>
                  <a:srgbClr val="6AAB73"/>
                </a:solidFill>
                <a:effectLst/>
                <a:latin typeface="JetBrains Mono"/>
              </a:rPr>
              <a:t>"D:</a:t>
            </a:r>
            <a:r>
              <a:rPr lang="en-US" altLang="ko-KR" sz="1200">
                <a:solidFill>
                  <a:srgbClr val="CF8E6D"/>
                </a:solidFill>
                <a:effectLst/>
                <a:latin typeface="JetBrains Mono"/>
              </a:rPr>
              <a:t>\\</a:t>
            </a:r>
            <a:r>
              <a:rPr lang="en-US" altLang="ko-KR" sz="1200">
                <a:solidFill>
                  <a:srgbClr val="6AAB73"/>
                </a:solidFill>
                <a:effectLst/>
                <a:latin typeface="JetBrains Mono"/>
              </a:rPr>
              <a:t>Study</a:t>
            </a:r>
            <a:r>
              <a:rPr lang="en-US" altLang="ko-KR" sz="1200">
                <a:solidFill>
                  <a:srgbClr val="CF8E6D"/>
                </a:solidFill>
                <a:effectLst/>
                <a:latin typeface="JetBrains Mono"/>
              </a:rPr>
              <a:t>\\</a:t>
            </a:r>
            <a:r>
              <a:rPr lang="en-US" altLang="ko-KR" sz="1200">
                <a:solidFill>
                  <a:srgbClr val="6AAB73"/>
                </a:solidFill>
                <a:effectLst/>
                <a:latin typeface="JetBrains Mono"/>
              </a:rPr>
              <a:t>ClaudeAI</a:t>
            </a:r>
            <a:r>
              <a:rPr lang="en-US" altLang="ko-KR" sz="1200">
                <a:solidFill>
                  <a:srgbClr val="CF8E6D"/>
                </a:solidFill>
                <a:effectLst/>
                <a:latin typeface="JetBrains Mono"/>
              </a:rPr>
              <a:t>\\</a:t>
            </a:r>
            <a:r>
              <a:rPr lang="en-US" altLang="ko-KR" sz="1200">
                <a:solidFill>
                  <a:srgbClr val="6AAB73"/>
                </a:solidFill>
                <a:effectLst/>
                <a:latin typeface="JetBrains Mono"/>
              </a:rPr>
              <a:t>workspace</a:t>
            </a:r>
            <a:r>
              <a:rPr lang="en-US" altLang="ko-KR" sz="1200">
                <a:solidFill>
                  <a:srgbClr val="CF8E6D"/>
                </a:solidFill>
                <a:effectLst/>
                <a:latin typeface="JetBrains Mono"/>
              </a:rPr>
              <a:t>\\</a:t>
            </a:r>
            <a:r>
              <a:rPr lang="en-US" altLang="ko-KR" sz="1200">
                <a:solidFill>
                  <a:srgbClr val="6AAB73"/>
                </a:solidFill>
                <a:effectLst/>
                <a:latin typeface="JetBrains Mono"/>
              </a:rPr>
              <a:t>invoice-web</a:t>
            </a:r>
            <a:r>
              <a:rPr lang="en-US" altLang="ko-KR" sz="1200">
                <a:solidFill>
                  <a:srgbClr val="CF8E6D"/>
                </a:solidFill>
                <a:effectLst/>
                <a:latin typeface="JetBrains Mono"/>
              </a:rPr>
              <a:t>\\</a:t>
            </a:r>
            <a:r>
              <a:rPr lang="en-US" altLang="ko-KR" sz="1200">
                <a:solidFill>
                  <a:srgbClr val="6AAB73"/>
                </a:solidFill>
                <a:effectLst/>
                <a:latin typeface="JetBrains Mono"/>
              </a:rPr>
              <a:t>mcp-shrimp-task-manager</a:t>
            </a:r>
            <a:r>
              <a:rPr lang="en-US" altLang="ko-KR" sz="1200">
                <a:solidFill>
                  <a:srgbClr val="CF8E6D"/>
                </a:solidFill>
                <a:effectLst/>
                <a:latin typeface="JetBrains Mono"/>
              </a:rPr>
              <a:t>\\</a:t>
            </a:r>
            <a:r>
              <a:rPr lang="en-US" altLang="ko-KR" sz="1200">
                <a:solidFill>
                  <a:srgbClr val="6AAB73"/>
                </a:solidFill>
                <a:effectLst/>
                <a:latin typeface="JetBrains Mono"/>
              </a:rPr>
              <a:t>dist</a:t>
            </a:r>
            <a:r>
              <a:rPr lang="en-US" altLang="ko-KR" sz="1200">
                <a:solidFill>
                  <a:srgbClr val="CF8E6D"/>
                </a:solidFill>
                <a:effectLst/>
                <a:latin typeface="JetBrains Mono"/>
              </a:rPr>
              <a:t>\\</a:t>
            </a:r>
            <a:r>
              <a:rPr lang="en-US" altLang="ko-KR" sz="1200">
                <a:solidFill>
                  <a:srgbClr val="6AAB73"/>
                </a:solidFill>
                <a:effectLst/>
                <a:latin typeface="JetBrains Mono"/>
              </a:rPr>
              <a:t>index.js"</a:t>
            </a: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],</a:t>
            </a:r>
            <a:b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   </a:t>
            </a:r>
            <a:r>
              <a:rPr lang="en-US" altLang="ko-KR" sz="1200">
                <a:solidFill>
                  <a:srgbClr val="C77DBB"/>
                </a:solidFill>
                <a:effectLst/>
                <a:latin typeface="JetBrains Mono"/>
              </a:rPr>
              <a:t>"env"</a:t>
            </a: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: {</a:t>
            </a:r>
            <a:b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     </a:t>
            </a:r>
            <a:r>
              <a:rPr lang="en-US" altLang="ko-KR" sz="1200">
                <a:solidFill>
                  <a:srgbClr val="C77DBB"/>
                </a:solidFill>
                <a:effectLst/>
                <a:latin typeface="JetBrains Mono"/>
              </a:rPr>
              <a:t>"DATA_DIR"</a:t>
            </a: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en-US" altLang="ko-KR" sz="1200">
                <a:solidFill>
                  <a:srgbClr val="6AAB73"/>
                </a:solidFill>
                <a:effectLst/>
                <a:latin typeface="JetBrains Mono"/>
              </a:rPr>
              <a:t>"D:</a:t>
            </a:r>
            <a:r>
              <a:rPr lang="en-US" altLang="ko-KR" sz="1200">
                <a:solidFill>
                  <a:srgbClr val="CF8E6D"/>
                </a:solidFill>
                <a:effectLst/>
                <a:latin typeface="JetBrains Mono"/>
              </a:rPr>
              <a:t>\\</a:t>
            </a:r>
            <a:r>
              <a:rPr lang="en-US" altLang="ko-KR" sz="1200">
                <a:solidFill>
                  <a:srgbClr val="6AAB73"/>
                </a:solidFill>
                <a:effectLst/>
                <a:latin typeface="JetBrains Mono"/>
              </a:rPr>
              <a:t>Study</a:t>
            </a:r>
            <a:r>
              <a:rPr lang="en-US" altLang="ko-KR" sz="1200">
                <a:solidFill>
                  <a:srgbClr val="CF8E6D"/>
                </a:solidFill>
                <a:effectLst/>
                <a:latin typeface="JetBrains Mono"/>
              </a:rPr>
              <a:t>\\</a:t>
            </a:r>
            <a:r>
              <a:rPr lang="en-US" altLang="ko-KR" sz="1200">
                <a:solidFill>
                  <a:srgbClr val="6AAB73"/>
                </a:solidFill>
                <a:effectLst/>
                <a:latin typeface="JetBrains Mono"/>
              </a:rPr>
              <a:t>ClaudeAI</a:t>
            </a:r>
            <a:r>
              <a:rPr lang="en-US" altLang="ko-KR" sz="1200">
                <a:solidFill>
                  <a:srgbClr val="CF8E6D"/>
                </a:solidFill>
                <a:effectLst/>
                <a:latin typeface="JetBrains Mono"/>
              </a:rPr>
              <a:t>\\</a:t>
            </a:r>
            <a:r>
              <a:rPr lang="en-US" altLang="ko-KR" sz="1200">
                <a:solidFill>
                  <a:srgbClr val="6AAB73"/>
                </a:solidFill>
                <a:effectLst/>
                <a:latin typeface="JetBrains Mono"/>
              </a:rPr>
              <a:t>workspace</a:t>
            </a:r>
            <a:r>
              <a:rPr lang="en-US" altLang="ko-KR" sz="1200">
                <a:solidFill>
                  <a:srgbClr val="CF8E6D"/>
                </a:solidFill>
                <a:effectLst/>
                <a:latin typeface="JetBrains Mono"/>
              </a:rPr>
              <a:t>\\</a:t>
            </a:r>
            <a:r>
              <a:rPr lang="en-US" altLang="ko-KR" sz="1200">
                <a:solidFill>
                  <a:srgbClr val="6AAB73"/>
                </a:solidFill>
                <a:effectLst/>
                <a:latin typeface="JetBrains Mono"/>
              </a:rPr>
              <a:t>invoice-web</a:t>
            </a:r>
            <a:r>
              <a:rPr lang="en-US" altLang="ko-KR" sz="1200">
                <a:solidFill>
                  <a:srgbClr val="CF8E6D"/>
                </a:solidFill>
                <a:effectLst/>
                <a:latin typeface="JetBrains Mono"/>
              </a:rPr>
              <a:t>\\</a:t>
            </a:r>
            <a:r>
              <a:rPr lang="en-US" altLang="ko-KR" sz="1200">
                <a:solidFill>
                  <a:srgbClr val="6AAB73"/>
                </a:solidFill>
                <a:effectLst/>
                <a:latin typeface="JetBrains Mono"/>
              </a:rPr>
              <a:t>.shrimp_data"</a:t>
            </a: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,</a:t>
            </a:r>
            <a:b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     </a:t>
            </a:r>
            <a:r>
              <a:rPr lang="en-US" altLang="ko-KR" sz="1200">
                <a:solidFill>
                  <a:srgbClr val="C77DBB"/>
                </a:solidFill>
                <a:effectLst/>
                <a:latin typeface="JetBrains Mono"/>
              </a:rPr>
              <a:t>"TEMPLATES_USE"</a:t>
            </a: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en-US" altLang="ko-KR" sz="1200">
                <a:solidFill>
                  <a:srgbClr val="6AAB73"/>
                </a:solidFill>
                <a:effectLst/>
                <a:latin typeface="JetBrains Mono"/>
              </a:rPr>
              <a:t>"en"</a:t>
            </a: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,</a:t>
            </a:r>
            <a:b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     </a:t>
            </a:r>
            <a:r>
              <a:rPr lang="en-US" altLang="ko-KR" sz="1200">
                <a:solidFill>
                  <a:srgbClr val="C77DBB"/>
                </a:solidFill>
                <a:effectLst/>
                <a:latin typeface="JetBrains Mono"/>
              </a:rPr>
              <a:t>"ENABLE_GUI"</a:t>
            </a: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en-US" altLang="ko-KR" sz="1200">
                <a:solidFill>
                  <a:srgbClr val="6AAB73"/>
                </a:solidFill>
                <a:effectLst/>
                <a:latin typeface="JetBrains Mono"/>
              </a:rPr>
              <a:t>"false"</a:t>
            </a:r>
            <a:br>
              <a:rPr lang="en-US" altLang="ko-KR" sz="1200">
                <a:solidFill>
                  <a:srgbClr val="6AAB73"/>
                </a:solidFill>
                <a:effectLst/>
                <a:latin typeface="JetBrains Mono"/>
              </a:rPr>
            </a:br>
            <a:r>
              <a:rPr lang="en-US" altLang="ko-KR" sz="1200">
                <a:solidFill>
                  <a:srgbClr val="6AAB73"/>
                </a:solidFill>
                <a:effectLst/>
                <a:latin typeface="JetBrains Mono"/>
              </a:rPr>
              <a:t>   </a:t>
            </a: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}</a:t>
            </a:r>
            <a:b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200">
                <a:solidFill>
                  <a:srgbClr val="BCBEC4"/>
                </a:solidFill>
                <a:effectLst/>
                <a:latin typeface="JetBrains Mono"/>
              </a:rPr>
              <a:t> },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95D981F-1830-25E2-ACF7-7B3AD3D30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544" y="1887184"/>
            <a:ext cx="8459381" cy="196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094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596BCE-C16E-16DD-F2FD-1C7D3231C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Shrimp Task Manager </a:t>
            </a:r>
            <a:r>
              <a:rPr lang="ko-KR" altLang="en-US" sz="4000" dirty="0"/>
              <a:t>기능 살펴보기</a:t>
            </a:r>
            <a:r>
              <a:rPr lang="en-US" altLang="ko-KR" sz="4000" dirty="0"/>
              <a:t>-1</a:t>
            </a:r>
            <a:endParaRPr lang="ko-KR" altLang="en-US" sz="4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1A92A99-DC7A-04B5-1B5B-2CCD14BEA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99" y="1952419"/>
            <a:ext cx="4502500" cy="11184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6A5B07-2539-B375-D20E-6CE9615D77E7}"/>
              </a:ext>
            </a:extLst>
          </p:cNvPr>
          <p:cNvSpPr txBox="1"/>
          <p:nvPr/>
        </p:nvSpPr>
        <p:spPr>
          <a:xfrm>
            <a:off x="5090474" y="1952419"/>
            <a:ext cx="626882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en-US" altLang="ko-KR" sz="1100" dirty="0">
                <a:sym typeface="Wingdings" panose="05000000000000000000" pitchFamily="2" charset="2"/>
              </a:rPr>
              <a:t> </a:t>
            </a:r>
            <a:r>
              <a:rPr lang="ko-KR" altLang="en-US" sz="1100" dirty="0"/>
              <a:t>어떠한 </a:t>
            </a:r>
            <a:r>
              <a:rPr lang="ko-KR" altLang="en-US" sz="1100" dirty="0" err="1"/>
              <a:t>기술스택</a:t>
            </a:r>
            <a:r>
              <a:rPr lang="ko-KR" altLang="en-US" sz="1100" dirty="0"/>
              <a:t> 또는 어떠한 프로젝트 구조를 </a:t>
            </a:r>
            <a:r>
              <a:rPr lang="ko-KR" altLang="en-US" sz="1100" dirty="0" err="1"/>
              <a:t>가져갈껀지</a:t>
            </a:r>
            <a:r>
              <a:rPr lang="ko-KR" altLang="en-US" sz="1100" dirty="0"/>
              <a:t> 초기화를 해주는 기능</a:t>
            </a:r>
            <a:br>
              <a:rPr lang="en-US" altLang="ko-KR" sz="1100" dirty="0"/>
            </a:br>
            <a:r>
              <a:rPr lang="en-US" altLang="ko-KR" sz="1100" dirty="0"/>
              <a:t>     (</a:t>
            </a:r>
            <a:r>
              <a:rPr lang="ko-KR" altLang="en-US" sz="1100" dirty="0"/>
              <a:t>예시 </a:t>
            </a:r>
            <a:r>
              <a:rPr lang="en-US" altLang="ko-KR" sz="1100" dirty="0"/>
              <a:t>: </a:t>
            </a:r>
            <a:r>
              <a:rPr lang="ko-KR" altLang="en-US" sz="1100" dirty="0" err="1"/>
              <a:t>스도쿠</a:t>
            </a:r>
            <a:r>
              <a:rPr lang="ko-KR" altLang="en-US" sz="1100" dirty="0"/>
              <a:t> 게임을 만들고 싶어</a:t>
            </a:r>
            <a:r>
              <a:rPr lang="en-US" altLang="ko-KR" sz="1100" dirty="0"/>
              <a:t>,</a:t>
            </a:r>
            <a:r>
              <a:rPr lang="ko-KR" altLang="en-US" sz="1100" dirty="0"/>
              <a:t> 필요한 기술과  절차에 대하여 초기화 룰을 구성해줘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B865AF6-80F5-62C4-6551-F338F27E1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000" y="3282278"/>
            <a:ext cx="4502500" cy="9881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F01B2A-8DC8-410C-EFC7-3CBD20957407}"/>
              </a:ext>
            </a:extLst>
          </p:cNvPr>
          <p:cNvSpPr txBox="1"/>
          <p:nvPr/>
        </p:nvSpPr>
        <p:spPr>
          <a:xfrm>
            <a:off x="5090474" y="3176177"/>
            <a:ext cx="62688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en-US" altLang="ko-KR" sz="1100" dirty="0">
                <a:sym typeface="Wingdings" panose="05000000000000000000" pitchFamily="2" charset="2"/>
              </a:rPr>
              <a:t> </a:t>
            </a:r>
            <a:r>
              <a:rPr lang="ko-KR" altLang="en-US" sz="1100" dirty="0">
                <a:sym typeface="Wingdings" panose="05000000000000000000" pitchFamily="2" charset="2"/>
              </a:rPr>
              <a:t>큰 요청을 실행 가능한 작은 단계별 계획으로 나눠주는 기능</a:t>
            </a:r>
            <a:r>
              <a:rPr lang="en-US" altLang="ko-KR" sz="1100" dirty="0">
                <a:sym typeface="Wingdings" panose="05000000000000000000" pitchFamily="2" charset="2"/>
              </a:rPr>
              <a:t>.</a:t>
            </a:r>
            <a:r>
              <a:rPr lang="ko-KR" altLang="en-US" sz="1100" dirty="0">
                <a:sym typeface="Wingdings" panose="05000000000000000000" pitchFamily="2" charset="2"/>
              </a:rPr>
              <a:t> </a:t>
            </a:r>
            <a:endParaRPr lang="ko-KR" altLang="en-US" sz="11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8A34881-8B62-43A2-BAAE-6B36694237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999" y="4481855"/>
            <a:ext cx="4502500" cy="81091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3789645-1AFE-4108-DDFD-F72E7E737CAF}"/>
              </a:ext>
            </a:extLst>
          </p:cNvPr>
          <p:cNvSpPr txBox="1"/>
          <p:nvPr/>
        </p:nvSpPr>
        <p:spPr>
          <a:xfrm>
            <a:off x="5090474" y="4380832"/>
            <a:ext cx="62688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en-US" altLang="ko-KR" sz="1100" dirty="0">
                <a:sym typeface="Wingdings" panose="05000000000000000000" pitchFamily="2" charset="2"/>
              </a:rPr>
              <a:t> </a:t>
            </a:r>
            <a:r>
              <a:rPr lang="ko-KR" altLang="en-US" sz="1100" dirty="0">
                <a:sym typeface="Wingdings" panose="05000000000000000000" pitchFamily="2" charset="2"/>
              </a:rPr>
              <a:t>나뉘어진 계획을 단계별로 수행하는 기능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604985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F8E2A5-EDF6-E09A-79C9-6751DF353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Init_project_rules</a:t>
            </a:r>
            <a:r>
              <a:rPr lang="en-US" altLang="ko-KR" dirty="0"/>
              <a:t> -1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C93EC59-4BC7-1B15-67CC-E0B8403C5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418" y="1887228"/>
            <a:ext cx="3982619" cy="233710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7F3C062-E9AC-27FD-3993-AF1CF89F0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040" y="1887228"/>
            <a:ext cx="5539611" cy="48529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43A2C9-9504-C44E-B980-784B87A6C22A}"/>
              </a:ext>
            </a:extLst>
          </p:cNvPr>
          <p:cNvSpPr txBox="1"/>
          <p:nvPr/>
        </p:nvSpPr>
        <p:spPr>
          <a:xfrm>
            <a:off x="391418" y="4345757"/>
            <a:ext cx="3982619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※ </a:t>
            </a:r>
            <a:r>
              <a:rPr lang="ko-KR" altLang="en-US" sz="1200" dirty="0"/>
              <a:t>요청</a:t>
            </a:r>
            <a:br>
              <a:rPr lang="en-US" altLang="ko-KR" sz="1200" dirty="0"/>
            </a:br>
            <a:br>
              <a:rPr lang="en-US" altLang="ko-KR" sz="1200" dirty="0"/>
            </a:br>
            <a:r>
              <a:rPr lang="en-US" altLang="ko-KR" sz="1200" dirty="0">
                <a:sym typeface="Wingdings" panose="05000000000000000000" pitchFamily="2" charset="2"/>
              </a:rPr>
              <a:t> Claude Code MCP </a:t>
            </a:r>
            <a:r>
              <a:rPr lang="ko-KR" altLang="en-US" sz="1200" dirty="0">
                <a:sym typeface="Wingdings" panose="05000000000000000000" pitchFamily="2" charset="2"/>
              </a:rPr>
              <a:t>의 경우</a:t>
            </a:r>
            <a:br>
              <a:rPr lang="en-US" altLang="ko-KR" sz="1200" dirty="0">
                <a:sym typeface="Wingdings" panose="05000000000000000000" pitchFamily="2" charset="2"/>
              </a:rPr>
            </a:br>
            <a:r>
              <a:rPr lang="en-US" altLang="ko-KR" sz="1200" dirty="0">
                <a:sym typeface="Wingdings" panose="05000000000000000000" pitchFamily="2" charset="2"/>
              </a:rPr>
              <a:t>    </a:t>
            </a:r>
            <a:r>
              <a:rPr lang="ko-KR" altLang="en-US" sz="1200" dirty="0"/>
              <a:t> </a:t>
            </a:r>
            <a:r>
              <a:rPr lang="en-US" altLang="ko-KR" sz="1100" dirty="0"/>
              <a:t>@shrimp-task-manager MCP</a:t>
            </a:r>
            <a:r>
              <a:rPr lang="ko-KR" altLang="en-US" sz="1100" dirty="0"/>
              <a:t>를 사용하여 </a:t>
            </a:r>
            <a:br>
              <a:rPr lang="en-US" altLang="ko-KR" sz="1100" dirty="0"/>
            </a:br>
            <a:r>
              <a:rPr lang="en-US" altLang="ko-KR" sz="1100" dirty="0"/>
              <a:t>      </a:t>
            </a:r>
            <a:r>
              <a:rPr lang="en-US" altLang="ko-KR" sz="1100" dirty="0" err="1"/>
              <a:t>init_project_rules</a:t>
            </a:r>
            <a:br>
              <a:rPr lang="en-US" altLang="ko-KR" sz="1100" dirty="0"/>
            </a:br>
            <a:r>
              <a:rPr lang="en-US" altLang="ko-KR" sz="1100" dirty="0"/>
              <a:t>      </a:t>
            </a:r>
            <a:r>
              <a:rPr lang="ko-KR" altLang="en-US" sz="1100" dirty="0"/>
              <a:t>수영 스타일을 </a:t>
            </a:r>
            <a:r>
              <a:rPr lang="en-US" altLang="ko-KR" sz="1100" dirty="0"/>
              <a:t>…</a:t>
            </a:r>
            <a:r>
              <a:rPr lang="ko-KR" altLang="en-US" sz="1100" dirty="0"/>
              <a:t> </a:t>
            </a:r>
            <a:endParaRPr lang="en-US" altLang="ko-KR" sz="1100" dirty="0"/>
          </a:p>
          <a:p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812039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A17C62-B22B-5E52-599C-01FCA0407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Init_project_rules -1.1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2974DB6-DAF5-F723-920C-658CB6800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948" y="1951167"/>
            <a:ext cx="3829584" cy="48584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91998A1-01E4-8B77-FCEF-493DFB3FA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948" y="2650817"/>
            <a:ext cx="2591162" cy="249589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621BA17-EB9A-943C-BF90-D48498C7C7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1814" y="1951167"/>
            <a:ext cx="7083922" cy="39502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1A699CA-9B33-9140-99FF-FDDEE884C478}"/>
              </a:ext>
            </a:extLst>
          </p:cNvPr>
          <p:cNvSpPr txBox="1"/>
          <p:nvPr/>
        </p:nvSpPr>
        <p:spPr>
          <a:xfrm>
            <a:off x="994948" y="5231876"/>
            <a:ext cx="38295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init_project_rules </a:t>
            </a:r>
            <a:r>
              <a:rPr lang="ko-KR" altLang="en-US" sz="1200"/>
              <a:t>명령 시</a:t>
            </a:r>
            <a:br>
              <a:rPr lang="en-US" altLang="ko-KR" sz="1200"/>
            </a:br>
            <a:r>
              <a:rPr lang="en-US" altLang="ko-KR" sz="1200"/>
              <a:t>shrimp_task_manager</a:t>
            </a:r>
            <a:r>
              <a:rPr lang="ko-KR" altLang="en-US" sz="1200"/>
              <a:t> 프로젝트 </a:t>
            </a:r>
            <a:r>
              <a:rPr lang="en-US" altLang="ko-KR" sz="1200"/>
              <a:t>root </a:t>
            </a:r>
            <a:r>
              <a:rPr lang="ko-KR" altLang="en-US" sz="1200"/>
              <a:t>경로에</a:t>
            </a:r>
            <a:br>
              <a:rPr lang="en-US" altLang="ko-KR" sz="1200"/>
            </a:br>
            <a:r>
              <a:rPr lang="en-US" altLang="ko-KR" sz="1200"/>
              <a:t>CLAUDE.md / PRD.md /ROADMAP.md </a:t>
            </a:r>
            <a:r>
              <a:rPr lang="ko-KR" altLang="en-US" sz="1200"/>
              <a:t>파일을 참고하여</a:t>
            </a:r>
            <a:r>
              <a:rPr lang="en-US" altLang="ko-KR" sz="1200"/>
              <a:t> shrimp-rules.md </a:t>
            </a:r>
            <a:r>
              <a:rPr lang="ko-KR" altLang="en-US" sz="1200"/>
              <a:t>파일 생성</a:t>
            </a:r>
            <a:r>
              <a:rPr lang="en-US" altLang="ko-KR" sz="1200"/>
              <a:t>.</a:t>
            </a:r>
            <a:br>
              <a:rPr lang="en-US" altLang="ko-KR" sz="1200"/>
            </a:br>
            <a:r>
              <a:rPr lang="en-US" altLang="ko-KR" sz="1200"/>
              <a:t>shrimp-rules.md</a:t>
            </a:r>
            <a:r>
              <a:rPr lang="ko-KR" altLang="en-US" sz="1200"/>
              <a:t>는 </a:t>
            </a:r>
            <a:r>
              <a:rPr lang="en-US" altLang="ko-KR" sz="1200"/>
              <a:t>shrimp-task-master</a:t>
            </a:r>
            <a:r>
              <a:rPr lang="ko-KR" altLang="en-US" sz="1200"/>
              <a:t>의 업무 규칙으로</a:t>
            </a:r>
            <a:br>
              <a:rPr lang="en-US" altLang="ko-KR" sz="1200"/>
            </a:br>
            <a:r>
              <a:rPr lang="en-US" altLang="ko-KR" sz="1200"/>
              <a:t>task </a:t>
            </a:r>
            <a:r>
              <a:rPr lang="ko-KR" altLang="en-US" sz="1200"/>
              <a:t>도구 사용시 참고된다</a:t>
            </a:r>
            <a:r>
              <a:rPr lang="en-US" altLang="ko-KR" sz="1200"/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395337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AD6E9F-E71B-BCDB-B66D-5AA59CE94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Init_project_rules -1.2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A230E4-4557-34C7-235B-9A17D9698F7B}"/>
              </a:ext>
            </a:extLst>
          </p:cNvPr>
          <p:cNvSpPr txBox="1"/>
          <p:nvPr/>
        </p:nvSpPr>
        <p:spPr>
          <a:xfrm>
            <a:off x="1187777" y="1847654"/>
            <a:ext cx="104637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init_project_rules  </a:t>
            </a:r>
            <a:r>
              <a:rPr lang="en-US" altLang="ko-KR" sz="1400">
                <a:sym typeface="Wingdings" panose="05000000000000000000" pitchFamily="2" charset="2"/>
              </a:rPr>
              <a:t> CLAUDE.md</a:t>
            </a:r>
            <a:r>
              <a:rPr lang="ko-KR" altLang="en-US" sz="1400">
                <a:sym typeface="Wingdings" panose="05000000000000000000" pitchFamily="2" charset="2"/>
              </a:rPr>
              <a:t>나 </a:t>
            </a:r>
            <a:r>
              <a:rPr lang="en-US" altLang="ko-KR" sz="1400">
                <a:sym typeface="Wingdings" panose="05000000000000000000" pitchFamily="2" charset="2"/>
              </a:rPr>
              <a:t>PRD.md </a:t>
            </a:r>
            <a:r>
              <a:rPr lang="ko-KR" altLang="en-US" sz="1400">
                <a:sym typeface="Wingdings" panose="05000000000000000000" pitchFamily="2" charset="2"/>
              </a:rPr>
              <a:t>또는 프로젝트 룰을 참고하여 </a:t>
            </a:r>
            <a:r>
              <a:rPr lang="en-US" altLang="ko-KR" sz="1400">
                <a:sym typeface="Wingdings" panose="05000000000000000000" pitchFamily="2" charset="2"/>
              </a:rPr>
              <a:t>shrimp_rules.md </a:t>
            </a:r>
            <a:r>
              <a:rPr lang="ko-KR" altLang="en-US" sz="1400">
                <a:sym typeface="Wingdings" panose="05000000000000000000" pitchFamily="2" charset="2"/>
              </a:rPr>
              <a:t>를 생성하는데만 사용해야하는 명령어이다</a:t>
            </a:r>
            <a:r>
              <a:rPr lang="en-US" altLang="ko-KR" sz="1400">
                <a:sym typeface="Wingdings" panose="05000000000000000000" pitchFamily="2" charset="2"/>
              </a:rPr>
              <a:t>.</a:t>
            </a:r>
            <a:br>
              <a:rPr lang="en-US" altLang="ko-KR" sz="1400">
                <a:sym typeface="Wingdings" panose="05000000000000000000" pitchFamily="2" charset="2"/>
              </a:rPr>
            </a:br>
            <a:endParaRPr lang="ko-KR" altLang="en-US" sz="14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F302D7E-AD7D-E259-9C73-066A5E555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073" y="2481168"/>
            <a:ext cx="4657708" cy="31334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722C76-4D8F-C4EF-BBC8-26F6E22B74E1}"/>
              </a:ext>
            </a:extLst>
          </p:cNvPr>
          <p:cNvSpPr txBox="1"/>
          <p:nvPr/>
        </p:nvSpPr>
        <p:spPr>
          <a:xfrm>
            <a:off x="5420412" y="2481168"/>
            <a:ext cx="638194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shrimp task master </a:t>
            </a:r>
            <a:r>
              <a:rPr lang="ko-KR" altLang="en-US" sz="1100"/>
              <a:t>명령어로 헷갈리는 부분 정리</a:t>
            </a:r>
            <a:endParaRPr lang="en-US" altLang="ko-KR" sz="1100"/>
          </a:p>
          <a:p>
            <a:endParaRPr lang="en-US" altLang="ko-KR" sz="1100"/>
          </a:p>
          <a:p>
            <a:r>
              <a:rPr lang="en-US" altLang="ko-KR" sz="1100">
                <a:sym typeface="Wingdings" panose="05000000000000000000" pitchFamily="2" charset="2"/>
              </a:rPr>
              <a:t>CLAUDE.md  </a:t>
            </a:r>
            <a:r>
              <a:rPr lang="ko-KR" altLang="en-US" sz="1100">
                <a:sym typeface="Wingdings" panose="05000000000000000000" pitchFamily="2" charset="2"/>
              </a:rPr>
              <a:t>프로젝트 룰이나 기술스택 컨벤션은 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                             </a:t>
            </a:r>
            <a:r>
              <a:rPr lang="ko-KR" altLang="en-US" sz="1100">
                <a:sym typeface="Wingdings" panose="05000000000000000000" pitchFamily="2" charset="2"/>
              </a:rPr>
              <a:t>프로젝트를 진행하려고 하는 개발자가 지정하고 선택하는것이다</a:t>
            </a:r>
            <a:r>
              <a:rPr lang="en-US" altLang="ko-KR" sz="1100">
                <a:sym typeface="Wingdings" panose="05000000000000000000" pitchFamily="2" charset="2"/>
              </a:rPr>
              <a:t>.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                             </a:t>
            </a:r>
            <a:r>
              <a:rPr lang="ko-KR" altLang="en-US" sz="1100">
                <a:sym typeface="Wingdings" panose="05000000000000000000" pitchFamily="2" charset="2"/>
              </a:rPr>
              <a:t>이 과정은 전문 </a:t>
            </a:r>
            <a:r>
              <a:rPr lang="en-US" altLang="ko-KR" sz="1100">
                <a:sym typeface="Wingdings" panose="05000000000000000000" pitchFamily="2" charset="2"/>
              </a:rPr>
              <a:t>sub-agent</a:t>
            </a:r>
            <a:r>
              <a:rPr lang="ko-KR" altLang="en-US" sz="1100">
                <a:sym typeface="Wingdings" panose="05000000000000000000" pitchFamily="2" charset="2"/>
              </a:rPr>
              <a:t>나 프롬프트 대화를 통해 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                             </a:t>
            </a:r>
            <a:r>
              <a:rPr lang="ko-KR" altLang="en-US" sz="1100">
                <a:sym typeface="Wingdings" panose="05000000000000000000" pitchFamily="2" charset="2"/>
              </a:rPr>
              <a:t>프로젝트를 진행함에 있어 유용한 기술스택이나 룰에 대하여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                             </a:t>
            </a:r>
            <a:r>
              <a:rPr lang="ko-KR" altLang="en-US" sz="1100">
                <a:sym typeface="Wingdings" panose="05000000000000000000" pitchFamily="2" charset="2"/>
              </a:rPr>
              <a:t>도움을 받을수 있다</a:t>
            </a:r>
            <a:r>
              <a:rPr lang="en-US" altLang="ko-KR" sz="1100">
                <a:sym typeface="Wingdings" panose="05000000000000000000" pitchFamily="2" charset="2"/>
              </a:rPr>
              <a:t>.(</a:t>
            </a:r>
            <a:r>
              <a:rPr lang="ko-KR" altLang="en-US" sz="1100">
                <a:sym typeface="Wingdings" panose="05000000000000000000" pitchFamily="2" charset="2"/>
              </a:rPr>
              <a:t>결국 결정은 본인 몫</a:t>
            </a:r>
            <a:r>
              <a:rPr lang="en-US" altLang="ko-KR" sz="1100">
                <a:sym typeface="Wingdings" panose="05000000000000000000" pitchFamily="2" charset="2"/>
              </a:rPr>
              <a:t>)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PRD.md  </a:t>
            </a:r>
            <a:r>
              <a:rPr lang="ko-KR" altLang="en-US" sz="1100">
                <a:sym typeface="Wingdings" panose="05000000000000000000" pitchFamily="2" charset="2"/>
              </a:rPr>
              <a:t>주요 기능 등의 맥락 </a:t>
            </a:r>
            <a:r>
              <a:rPr lang="en-US" altLang="ko-KR" sz="1100">
                <a:sym typeface="Wingdings" panose="05000000000000000000" pitchFamily="2" charset="2"/>
              </a:rPr>
              <a:t>/ </a:t>
            </a:r>
            <a:r>
              <a:rPr lang="ko-KR" altLang="en-US" sz="1100">
                <a:sym typeface="Wingdings" panose="05000000000000000000" pitchFamily="2" charset="2"/>
              </a:rPr>
              <a:t>일의 흐름 </a:t>
            </a:r>
            <a:r>
              <a:rPr lang="en-US" altLang="ko-KR" sz="1100">
                <a:sym typeface="Wingdings" panose="05000000000000000000" pitchFamily="2" charset="2"/>
              </a:rPr>
              <a:t>(Transaction) / </a:t>
            </a:r>
            <a:r>
              <a:rPr lang="ko-KR" altLang="en-US" sz="1100">
                <a:sym typeface="Wingdings" panose="05000000000000000000" pitchFamily="2" charset="2"/>
              </a:rPr>
              <a:t>예상 데이터 </a:t>
            </a:r>
            <a:r>
              <a:rPr lang="en-US" altLang="ko-KR" sz="1100">
                <a:sym typeface="Wingdings" panose="05000000000000000000" pitchFamily="2" charset="2"/>
              </a:rPr>
              <a:t>(</a:t>
            </a:r>
            <a:r>
              <a:rPr lang="ko-KR" altLang="en-US" sz="1100">
                <a:sym typeface="Wingdings" panose="05000000000000000000" pitchFamily="2" charset="2"/>
              </a:rPr>
              <a:t>데이터 모델</a:t>
            </a:r>
            <a:r>
              <a:rPr lang="en-US" altLang="ko-KR" sz="1100">
                <a:sym typeface="Wingdings" panose="05000000000000000000" pitchFamily="2" charset="2"/>
              </a:rPr>
              <a:t>)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                      / </a:t>
            </a:r>
            <a:r>
              <a:rPr lang="ko-KR" altLang="en-US" sz="1100">
                <a:sym typeface="Wingdings" panose="05000000000000000000" pitchFamily="2" charset="2"/>
              </a:rPr>
              <a:t>카테고리</a:t>
            </a:r>
            <a:r>
              <a:rPr lang="en-US" altLang="ko-KR" sz="1100">
                <a:sym typeface="Wingdings" panose="05000000000000000000" pitchFamily="2" charset="2"/>
              </a:rPr>
              <a:t>(</a:t>
            </a:r>
            <a:r>
              <a:rPr lang="ko-KR" altLang="en-US" sz="1100">
                <a:sym typeface="Wingdings" panose="05000000000000000000" pitchFamily="2" charset="2"/>
              </a:rPr>
              <a:t>메뉴</a:t>
            </a:r>
            <a:r>
              <a:rPr lang="en-US" altLang="ko-KR" sz="1100">
                <a:sym typeface="Wingdings" panose="05000000000000000000" pitchFamily="2" charset="2"/>
              </a:rPr>
              <a:t>)</a:t>
            </a:r>
            <a:r>
              <a:rPr lang="ko-KR" altLang="en-US" sz="1100">
                <a:sym typeface="Wingdings" panose="05000000000000000000" pitchFamily="2" charset="2"/>
              </a:rPr>
              <a:t> 구조 등 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                       </a:t>
            </a:r>
            <a:r>
              <a:rPr lang="ko-KR" altLang="en-US" sz="1100">
                <a:sym typeface="Wingdings" panose="05000000000000000000" pitchFamily="2" charset="2"/>
              </a:rPr>
              <a:t>서브 에이전트나 메타 프롬프트의 도움을 받아작성한다</a:t>
            </a:r>
            <a:r>
              <a:rPr lang="en-US" altLang="ko-KR" sz="1100">
                <a:sym typeface="Wingdings" panose="05000000000000000000" pitchFamily="2" charset="2"/>
              </a:rPr>
              <a:t>. 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                     (shrimp –task –manager </a:t>
            </a:r>
            <a:r>
              <a:rPr lang="ko-KR" altLang="en-US" sz="1100">
                <a:sym typeface="Wingdings" panose="05000000000000000000" pitchFamily="2" charset="2"/>
              </a:rPr>
              <a:t>가 </a:t>
            </a:r>
            <a:r>
              <a:rPr lang="en-US" altLang="ko-KR" sz="1100">
                <a:sym typeface="Wingdings" panose="05000000000000000000" pitchFamily="2" charset="2"/>
              </a:rPr>
              <a:t>PRD.md</a:t>
            </a:r>
            <a:r>
              <a:rPr lang="ko-KR" altLang="en-US" sz="1100">
                <a:sym typeface="Wingdings" panose="05000000000000000000" pitchFamily="2" charset="2"/>
              </a:rPr>
              <a:t>를 작성해주는 명령어는 존재하지 않다</a:t>
            </a:r>
            <a:r>
              <a:rPr lang="en-US" altLang="ko-KR" sz="1100">
                <a:sym typeface="Wingdings" panose="05000000000000000000" pitchFamily="2" charset="2"/>
              </a:rPr>
              <a:t>.)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                     (shrimp –task –manager </a:t>
            </a:r>
            <a:r>
              <a:rPr lang="ko-KR" altLang="en-US" sz="1100">
                <a:sym typeface="Wingdings" panose="05000000000000000000" pitchFamily="2" charset="2"/>
              </a:rPr>
              <a:t>는 어디까지나 자연어 요구사항에 대해 단위를 쪼개고 계획하는 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                      </a:t>
            </a:r>
            <a:r>
              <a:rPr lang="ko-KR" altLang="en-US" sz="1100">
                <a:sym typeface="Wingdings" panose="05000000000000000000" pitchFamily="2" charset="2"/>
              </a:rPr>
              <a:t>도구이다</a:t>
            </a:r>
            <a:r>
              <a:rPr lang="en-US" altLang="ko-KR" sz="1100">
                <a:sym typeface="Wingdings" panose="05000000000000000000" pitchFamily="2" charset="2"/>
              </a:rPr>
              <a:t>.)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                       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ROADMAP.md  </a:t>
            </a:r>
            <a:r>
              <a:rPr lang="ko-KR" altLang="en-US" sz="1100">
                <a:sym typeface="Wingdings" panose="05000000000000000000" pitchFamily="2" charset="2"/>
              </a:rPr>
              <a:t>제로 베이스의 개발자의 경우 </a:t>
            </a:r>
            <a:r>
              <a:rPr lang="en-US" altLang="ko-KR" sz="1100">
                <a:sym typeface="Wingdings" panose="05000000000000000000" pitchFamily="2" charset="2"/>
              </a:rPr>
              <a:t>PRD</a:t>
            </a:r>
            <a:r>
              <a:rPr lang="ko-KR" altLang="en-US" sz="1100">
                <a:sym typeface="Wingdings" panose="05000000000000000000" pitchFamily="2" charset="2"/>
              </a:rPr>
              <a:t>문서를 기반으로 </a:t>
            </a:r>
            <a:r>
              <a:rPr lang="en-US" altLang="ko-KR" sz="1100">
                <a:sym typeface="Wingdings" panose="05000000000000000000" pitchFamily="2" charset="2"/>
              </a:rPr>
              <a:t>plan_task</a:t>
            </a:r>
            <a:r>
              <a:rPr lang="ko-KR" altLang="en-US" sz="1100">
                <a:sym typeface="Wingdings" panose="05000000000000000000" pitchFamily="2" charset="2"/>
              </a:rPr>
              <a:t>를 진행해달라고 할 수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                               </a:t>
            </a:r>
            <a:r>
              <a:rPr lang="ko-KR" altLang="en-US" sz="1100">
                <a:sym typeface="Wingdings" panose="05000000000000000000" pitchFamily="2" charset="2"/>
              </a:rPr>
              <a:t> 있다</a:t>
            </a:r>
            <a:r>
              <a:rPr lang="en-US" altLang="ko-KR" sz="1100">
                <a:sym typeface="Wingdings" panose="05000000000000000000" pitchFamily="2" charset="2"/>
              </a:rPr>
              <a:t>. </a:t>
            </a:r>
            <a:r>
              <a:rPr lang="ko-KR" altLang="en-US" sz="1100">
                <a:sym typeface="Wingdings" panose="05000000000000000000" pitchFamily="2" charset="2"/>
              </a:rPr>
              <a:t>이 경우 </a:t>
            </a:r>
            <a:r>
              <a:rPr lang="en-US" altLang="ko-KR" sz="1100">
                <a:sym typeface="Wingdings" panose="05000000000000000000" pitchFamily="2" charset="2"/>
              </a:rPr>
              <a:t>shrimp task manager</a:t>
            </a:r>
            <a:r>
              <a:rPr lang="ko-KR" altLang="en-US" sz="1100">
                <a:sym typeface="Wingdings" panose="05000000000000000000" pitchFamily="2" charset="2"/>
              </a:rPr>
              <a:t>에서 생성하는 계획 관련 </a:t>
            </a:r>
            <a:r>
              <a:rPr lang="en-US" altLang="ko-KR" sz="1100">
                <a:sym typeface="Wingdings" panose="05000000000000000000" pitchFamily="2" charset="2"/>
              </a:rPr>
              <a:t>md </a:t>
            </a:r>
            <a:r>
              <a:rPr lang="ko-KR" altLang="en-US" sz="1100">
                <a:sym typeface="Wingdings" panose="05000000000000000000" pitchFamily="2" charset="2"/>
              </a:rPr>
              <a:t>파일 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                                 (/tasks/XXX-description.md) </a:t>
            </a:r>
            <a:r>
              <a:rPr lang="ko-KR" altLang="en-US" sz="1100">
                <a:sym typeface="Wingdings" panose="05000000000000000000" pitchFamily="2" charset="2"/>
              </a:rPr>
              <a:t>은 </a:t>
            </a:r>
            <a:r>
              <a:rPr lang="en-US" altLang="ko-KR" sz="1100">
                <a:sym typeface="Wingdings" panose="05000000000000000000" pitchFamily="2" charset="2"/>
              </a:rPr>
              <a:t>ROADMAP.md </a:t>
            </a:r>
            <a:r>
              <a:rPr lang="ko-KR" altLang="en-US" sz="1100">
                <a:sym typeface="Wingdings" panose="05000000000000000000" pitchFamily="2" charset="2"/>
              </a:rPr>
              <a:t>파일과 결이 같다</a:t>
            </a:r>
            <a:r>
              <a:rPr lang="en-US" altLang="ko-KR" sz="1100">
                <a:sym typeface="Wingdings" panose="05000000000000000000" pitchFamily="2" charset="2"/>
              </a:rPr>
              <a:t>.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                                </a:t>
            </a:r>
            <a:r>
              <a:rPr lang="ko-KR" altLang="en-US" sz="1100">
                <a:sym typeface="Wingdings" panose="05000000000000000000" pitchFamily="2" charset="2"/>
              </a:rPr>
              <a:t>즉 이름만 바꿔서 </a:t>
            </a:r>
            <a:r>
              <a:rPr lang="en-US" altLang="ko-KR" sz="1100">
                <a:sym typeface="Wingdings" panose="05000000000000000000" pitchFamily="2" charset="2"/>
              </a:rPr>
              <a:t>ROADMAP.md </a:t>
            </a:r>
            <a:r>
              <a:rPr lang="ko-KR" altLang="en-US" sz="1100">
                <a:sym typeface="Wingdings" panose="05000000000000000000" pitchFamily="2" charset="2"/>
              </a:rPr>
              <a:t>경로에 가져다 놓으면 된다</a:t>
            </a:r>
            <a:r>
              <a:rPr lang="en-US" altLang="ko-KR" sz="1100">
                <a:sym typeface="Wingdings" panose="05000000000000000000" pitchFamily="2" charset="2"/>
              </a:rPr>
              <a:t>.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3807297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43573-E0C5-E50E-294A-2C0C4E6D7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BAB4C0-3F0D-F393-F591-771BF7445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Init_project_rules</a:t>
            </a:r>
            <a:r>
              <a:rPr lang="en-US" altLang="ko-KR" dirty="0"/>
              <a:t> -2 [</a:t>
            </a:r>
            <a:r>
              <a:rPr lang="en-US" altLang="ko-KR" dirty="0" err="1"/>
              <a:t>reseach_mode</a:t>
            </a:r>
            <a:r>
              <a:rPr lang="en-US" altLang="ko-KR" dirty="0"/>
              <a:t>]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1E6A5CA-BA7A-2342-8A5A-335FD8C65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934" y="1821240"/>
            <a:ext cx="5539611" cy="4852937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BB80CAB1-5176-2FA2-526A-84F7F1D434E3}"/>
              </a:ext>
            </a:extLst>
          </p:cNvPr>
          <p:cNvGrpSpPr/>
          <p:nvPr/>
        </p:nvGrpSpPr>
        <p:grpSpPr>
          <a:xfrm>
            <a:off x="6012838" y="1821240"/>
            <a:ext cx="4634232" cy="2307700"/>
            <a:chOff x="6012838" y="1821240"/>
            <a:chExt cx="4634232" cy="230770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44660B60-12A2-DCFB-27AE-41304DB82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44449"/>
            <a:stretch>
              <a:fillRect/>
            </a:stretch>
          </p:blipFill>
          <p:spPr>
            <a:xfrm>
              <a:off x="6012838" y="1821240"/>
              <a:ext cx="4634232" cy="2307700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6A00F48-7DC7-C524-5ADD-814D143D1052}"/>
                </a:ext>
              </a:extLst>
            </p:cNvPr>
            <p:cNvSpPr/>
            <p:nvPr/>
          </p:nvSpPr>
          <p:spPr>
            <a:xfrm>
              <a:off x="6096000" y="3544478"/>
              <a:ext cx="3679596" cy="31108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99748EC-45FF-4D9A-997E-F2D7B57B38CE}"/>
              </a:ext>
            </a:extLst>
          </p:cNvPr>
          <p:cNvSpPr txBox="1"/>
          <p:nvPr/>
        </p:nvSpPr>
        <p:spPr>
          <a:xfrm>
            <a:off x="5986021" y="4336330"/>
            <a:ext cx="5854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초기화 룰을 읽어보다가 마음에 들지 않아 기술적인 부분에서 더 자세한 조사가 필요하다</a:t>
            </a:r>
            <a:r>
              <a:rPr lang="en-US" altLang="ko-KR" sz="1200" dirty="0"/>
              <a:t> </a:t>
            </a:r>
            <a:r>
              <a:rPr lang="ko-KR" altLang="en-US" sz="1200" dirty="0"/>
              <a:t>판단되면 </a:t>
            </a:r>
            <a:r>
              <a:rPr lang="en-US" altLang="ko-KR" sz="1200" dirty="0" err="1"/>
              <a:t>research_mode</a:t>
            </a:r>
            <a:r>
              <a:rPr lang="en-US" altLang="ko-KR" sz="1200" dirty="0"/>
              <a:t> </a:t>
            </a:r>
            <a:r>
              <a:rPr lang="ko-KR" altLang="en-US" sz="1200" dirty="0"/>
              <a:t>로 </a:t>
            </a:r>
            <a:br>
              <a:rPr lang="en-US" altLang="ko-KR" sz="1200" dirty="0"/>
            </a:br>
            <a:r>
              <a:rPr lang="ko-KR" altLang="en-US" sz="1200" dirty="0"/>
              <a:t>조사가 필요한 부분을 더 심층적으로 연구 조사 할 수 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77350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AC5E2E-9825-558B-AD91-28F979A66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Plan_task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B17CF49-0026-3A32-FCE9-E9B2744B2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75541"/>
            <a:ext cx="2397551" cy="98260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F3E1275-53C1-952C-EEFA-575CF5A4B0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068" y="1875540"/>
            <a:ext cx="5539611" cy="48529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52CE1E-FF17-1232-CEE2-A52994EBA2CB}"/>
              </a:ext>
            </a:extLst>
          </p:cNvPr>
          <p:cNvSpPr txBox="1"/>
          <p:nvPr/>
        </p:nvSpPr>
        <p:spPr>
          <a:xfrm>
            <a:off x="6096000" y="2858143"/>
            <a:ext cx="58948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프로젝트 룰을 통해 </a:t>
            </a:r>
            <a:r>
              <a:rPr lang="en-US" altLang="ko-KR" sz="1100" dirty="0"/>
              <a:t>Plan</a:t>
            </a:r>
            <a:r>
              <a:rPr lang="ko-KR" altLang="en-US" sz="1100" dirty="0"/>
              <a:t>을 세우고 싶을 때 사용하는 명령어</a:t>
            </a:r>
            <a:r>
              <a:rPr lang="en-US" altLang="ko-KR" sz="1100" dirty="0"/>
              <a:t>.</a:t>
            </a:r>
            <a:br>
              <a:rPr lang="en-US" altLang="ko-KR" sz="1100" dirty="0"/>
            </a:br>
            <a:endParaRPr lang="ko-KR" altLang="en-US" sz="11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678FDE4-4D56-05C4-376A-BB57555FDB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355669"/>
            <a:ext cx="5195948" cy="3372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397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4AD1B9-E4BD-CE0B-4F94-7F5692E2E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Plan_task</a:t>
            </a:r>
            <a:r>
              <a:rPr lang="en-US" altLang="ko-KR" dirty="0"/>
              <a:t> -2 [</a:t>
            </a:r>
            <a:r>
              <a:rPr lang="en-US" altLang="ko-KR" dirty="0" err="1"/>
              <a:t>list_tasks</a:t>
            </a:r>
            <a:r>
              <a:rPr lang="en-US" altLang="ko-KR" dirty="0"/>
              <a:t>]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3736846-A781-C48D-D8DE-3D91F1A91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275" y="1961376"/>
            <a:ext cx="2547739" cy="90493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06BA195-F50F-4854-F19E-664DDCB05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275" y="2967950"/>
            <a:ext cx="3358445" cy="37481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0450A5-6854-83EC-9EE0-63D36BFC54DB}"/>
              </a:ext>
            </a:extLst>
          </p:cNvPr>
          <p:cNvSpPr txBox="1"/>
          <p:nvPr/>
        </p:nvSpPr>
        <p:spPr>
          <a:xfrm>
            <a:off x="4901938" y="1961376"/>
            <a:ext cx="61047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list_tasks</a:t>
            </a:r>
            <a:r>
              <a:rPr lang="en-US" altLang="ko-KR" sz="1400" dirty="0"/>
              <a:t> </a:t>
            </a:r>
            <a:r>
              <a:rPr lang="en-US" altLang="ko-KR" sz="1400" dirty="0"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sym typeface="Wingdings" panose="05000000000000000000" pitchFamily="2" charset="2"/>
              </a:rPr>
              <a:t>세워진 계획 중 진행 상태 확인 명령어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328418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8BC66-C47F-C02A-C95A-403AD8528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Execute_task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AFCD848-40F7-907D-F4C5-2D571FF46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799" y="1911822"/>
            <a:ext cx="3103478" cy="72414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33255ED-A615-5D62-7874-349A0DAAA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911822"/>
            <a:ext cx="3358445" cy="37481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274BFC-17EF-F61C-3A6E-778DD04C5445}"/>
              </a:ext>
            </a:extLst>
          </p:cNvPr>
          <p:cNvSpPr txBox="1"/>
          <p:nvPr/>
        </p:nvSpPr>
        <p:spPr>
          <a:xfrm>
            <a:off x="4628561" y="2790334"/>
            <a:ext cx="7004115" cy="25930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execute_task</a:t>
            </a:r>
            <a:r>
              <a:rPr lang="en-US" altLang="ko-KR" sz="1400" dirty="0"/>
              <a:t> </a:t>
            </a:r>
            <a:r>
              <a:rPr lang="en-US" altLang="ko-KR" sz="1400" dirty="0"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sym typeface="Wingdings" panose="05000000000000000000" pitchFamily="2" charset="2"/>
              </a:rPr>
              <a:t>단계 별로 계획을 실행시키는 명령어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  <a:br>
              <a:rPr lang="en-US" altLang="ko-KR" sz="1400" dirty="0">
                <a:sym typeface="Wingdings" panose="05000000000000000000" pitchFamily="2" charset="2"/>
              </a:rPr>
            </a:br>
            <a:r>
              <a:rPr lang="en-US" altLang="ko-KR" sz="1400" dirty="0">
                <a:sym typeface="Wingdings" panose="05000000000000000000" pitchFamily="2" charset="2"/>
              </a:rPr>
              <a:t>                              </a:t>
            </a:r>
            <a:r>
              <a:rPr lang="ko-KR" altLang="en-US" sz="1400" dirty="0">
                <a:sym typeface="Wingdings" panose="05000000000000000000" pitchFamily="2" charset="2"/>
              </a:rPr>
              <a:t>연속적으로 단계를 실행시킬 수도 있고</a:t>
            </a:r>
            <a:r>
              <a:rPr lang="en-US" altLang="ko-KR" sz="1400" dirty="0">
                <a:sym typeface="Wingdings" panose="05000000000000000000" pitchFamily="2" charset="2"/>
              </a:rPr>
              <a:t>, </a:t>
            </a:r>
            <a:r>
              <a:rPr lang="ko-KR" altLang="en-US" sz="1400" dirty="0">
                <a:sym typeface="Wingdings" panose="05000000000000000000" pitchFamily="2" charset="2"/>
              </a:rPr>
              <a:t>사진과 같이 </a:t>
            </a:r>
            <a:br>
              <a:rPr lang="en-US" altLang="ko-KR" sz="1400" dirty="0">
                <a:sym typeface="Wingdings" panose="05000000000000000000" pitchFamily="2" charset="2"/>
              </a:rPr>
            </a:br>
            <a:r>
              <a:rPr lang="en-US" altLang="ko-KR" sz="1400" dirty="0">
                <a:sym typeface="Wingdings" panose="05000000000000000000" pitchFamily="2" charset="2"/>
              </a:rPr>
              <a:t>                              </a:t>
            </a:r>
            <a:r>
              <a:rPr lang="ko-KR" altLang="en-US" sz="1400" dirty="0">
                <a:sym typeface="Wingdings" panose="05000000000000000000" pitchFamily="2" charset="2"/>
              </a:rPr>
              <a:t>작은 단위로 계획을 실행 </a:t>
            </a:r>
            <a:r>
              <a:rPr lang="ko-KR" altLang="en-US" sz="1400" dirty="0" err="1">
                <a:sym typeface="Wingdings" panose="05000000000000000000" pitchFamily="2" charset="2"/>
              </a:rPr>
              <a:t>시킬수</a:t>
            </a:r>
            <a:r>
              <a:rPr lang="ko-KR" altLang="en-US" sz="1400" dirty="0">
                <a:sym typeface="Wingdings" panose="05000000000000000000" pitchFamily="2" charset="2"/>
              </a:rPr>
              <a:t> 있다</a:t>
            </a:r>
            <a:r>
              <a:rPr lang="en-US" altLang="ko-KR" sz="1400" dirty="0">
                <a:sym typeface="Wingdings" panose="05000000000000000000" pitchFamily="2" charset="2"/>
              </a:rPr>
              <a:t>. </a:t>
            </a:r>
          </a:p>
          <a:p>
            <a:br>
              <a:rPr lang="en-US" altLang="ko-KR" sz="1000" dirty="0">
                <a:sym typeface="Wingdings" panose="05000000000000000000" pitchFamily="2" charset="2"/>
              </a:rPr>
            </a:br>
            <a:r>
              <a:rPr lang="en-US" altLang="ko-KR" sz="1000" dirty="0">
                <a:sym typeface="Wingdings" panose="05000000000000000000" pitchFamily="2" charset="2"/>
              </a:rPr>
              <a:t>(※ </a:t>
            </a:r>
            <a:r>
              <a:rPr lang="ko-KR" altLang="en-US" sz="1000" dirty="0">
                <a:sym typeface="Wingdings" panose="05000000000000000000" pitchFamily="2" charset="2"/>
              </a:rPr>
              <a:t>개발 계획의 경우 </a:t>
            </a:r>
            <a:r>
              <a:rPr lang="en-US" altLang="ko-KR" sz="1000" dirty="0">
                <a:sym typeface="Wingdings" panose="05000000000000000000" pitchFamily="2" charset="2"/>
              </a:rPr>
              <a:t>1</a:t>
            </a:r>
            <a:r>
              <a:rPr lang="ko-KR" altLang="en-US" sz="1000" dirty="0">
                <a:sym typeface="Wingdings" panose="05000000000000000000" pitchFamily="2" charset="2"/>
              </a:rPr>
              <a:t>번을 작업하다 </a:t>
            </a:r>
            <a:r>
              <a:rPr lang="en-US" altLang="ko-KR" sz="1000" dirty="0">
                <a:sym typeface="Wingdings" panose="05000000000000000000" pitchFamily="2" charset="2"/>
              </a:rPr>
              <a:t>4</a:t>
            </a:r>
            <a:r>
              <a:rPr lang="ko-KR" altLang="en-US" sz="1000" dirty="0">
                <a:sym typeface="Wingdings" panose="05000000000000000000" pitchFamily="2" charset="2"/>
              </a:rPr>
              <a:t>번을 작업하라는 둥 명령은 내릴 수 있지만</a:t>
            </a:r>
            <a:r>
              <a:rPr lang="en-US" altLang="ko-KR" sz="1000" dirty="0">
                <a:sym typeface="Wingdings" panose="05000000000000000000" pitchFamily="2" charset="2"/>
              </a:rPr>
              <a:t>.</a:t>
            </a:r>
            <a:br>
              <a:rPr lang="en-US" altLang="ko-KR" sz="1000" dirty="0">
                <a:sym typeface="Wingdings" panose="05000000000000000000" pitchFamily="2" charset="2"/>
              </a:rPr>
            </a:br>
            <a:r>
              <a:rPr lang="en-US" altLang="ko-KR" sz="1000" dirty="0">
                <a:sym typeface="Wingdings" panose="05000000000000000000" pitchFamily="2" charset="2"/>
              </a:rPr>
              <a:t>      </a:t>
            </a:r>
            <a:r>
              <a:rPr lang="ko-KR" altLang="en-US" sz="1000" dirty="0">
                <a:sym typeface="Wingdings" panose="05000000000000000000" pitchFamily="2" charset="2"/>
              </a:rPr>
              <a:t>개발 계획 순서대로 개발이 진행되지 </a:t>
            </a:r>
            <a:r>
              <a:rPr lang="ko-KR" altLang="en-US" sz="1000" dirty="0" err="1">
                <a:sym typeface="Wingdings" panose="05000000000000000000" pitchFamily="2" charset="2"/>
              </a:rPr>
              <a:t>않을경우</a:t>
            </a:r>
            <a:r>
              <a:rPr lang="ko-KR" altLang="en-US" sz="1000" dirty="0">
                <a:sym typeface="Wingdings" panose="05000000000000000000" pitchFamily="2" charset="2"/>
              </a:rPr>
              <a:t> 어떠한 문제가 생길지 모른다</a:t>
            </a:r>
            <a:r>
              <a:rPr lang="en-US" altLang="ko-KR" sz="1000" dirty="0">
                <a:sym typeface="Wingdings" panose="05000000000000000000" pitchFamily="2" charset="2"/>
              </a:rPr>
              <a:t>.</a:t>
            </a:r>
            <a:br>
              <a:rPr lang="en-US" altLang="ko-KR" sz="1000" dirty="0">
                <a:sym typeface="Wingdings" panose="05000000000000000000" pitchFamily="2" charset="2"/>
              </a:rPr>
            </a:br>
            <a:r>
              <a:rPr lang="en-US" altLang="ko-KR" sz="1000" dirty="0">
                <a:sym typeface="Wingdings" panose="05000000000000000000" pitchFamily="2" charset="2"/>
              </a:rPr>
              <a:t>      </a:t>
            </a:r>
            <a:r>
              <a:rPr lang="ko-KR" altLang="en-US" sz="1000" dirty="0">
                <a:sym typeface="Wingdings" panose="05000000000000000000" pitchFamily="2" charset="2"/>
              </a:rPr>
              <a:t>연속 개발이든 작은 범위의 계획 수행이든 순서대로 계획이 진행되도록 권장한다</a:t>
            </a:r>
            <a:r>
              <a:rPr lang="en-US" altLang="ko-KR" sz="1000" dirty="0">
                <a:sym typeface="Wingdings" panose="05000000000000000000" pitchFamily="2" charset="2"/>
              </a:rPr>
              <a:t>.)</a:t>
            </a:r>
          </a:p>
          <a:p>
            <a:endParaRPr lang="en-US" altLang="ko-KR" sz="1050" dirty="0">
              <a:sym typeface="Wingdings" panose="05000000000000000000" pitchFamily="2" charset="2"/>
            </a:endParaRPr>
          </a:p>
          <a:p>
            <a:r>
              <a:rPr lang="ko-KR" altLang="en-US" sz="1400" dirty="0">
                <a:sym typeface="Wingdings" panose="05000000000000000000" pitchFamily="2" charset="2"/>
              </a:rPr>
              <a:t>계획 수행 완료 시 생성된 앱에 에러가 발생했을 경우에는 에러의 피드백을 전달하고 다시 앱 작성을 요청한다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  <a:br>
              <a:rPr lang="en-US" altLang="ko-KR" sz="1400" dirty="0">
                <a:sym typeface="Wingdings" panose="05000000000000000000" pitchFamily="2" charset="2"/>
              </a:rPr>
            </a:br>
            <a:br>
              <a:rPr lang="en-US" altLang="ko-KR" sz="1400" dirty="0">
                <a:sym typeface="Wingdings" panose="05000000000000000000" pitchFamily="2" charset="2"/>
              </a:rPr>
            </a:br>
            <a:r>
              <a:rPr lang="ko-KR" altLang="en-US" sz="1400" dirty="0">
                <a:sym typeface="Wingdings" panose="05000000000000000000" pitchFamily="2" charset="2"/>
              </a:rPr>
              <a:t>계획 수행이 정상적이라면 다시 </a:t>
            </a:r>
            <a:r>
              <a:rPr lang="en-US" altLang="ko-KR" sz="1400" dirty="0" err="1">
                <a:sym typeface="Wingdings" panose="05000000000000000000" pitchFamily="2" charset="2"/>
              </a:rPr>
              <a:t>list_tasks</a:t>
            </a:r>
            <a:r>
              <a:rPr lang="en-US" altLang="ko-KR" sz="1400" dirty="0">
                <a:sym typeface="Wingdings" panose="05000000000000000000" pitchFamily="2" charset="2"/>
              </a:rPr>
              <a:t> </a:t>
            </a:r>
            <a:r>
              <a:rPr lang="ko-KR" altLang="en-US" sz="1400" dirty="0">
                <a:sym typeface="Wingdings" panose="05000000000000000000" pitchFamily="2" charset="2"/>
              </a:rPr>
              <a:t>명령으로 완료된 작업과 남은 작업을 확인 가능하다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289148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A31E90-21C5-8B68-16E9-D64492775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Delete_task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858F7B-A5B7-6FE9-56B2-B947669D91FD}"/>
              </a:ext>
            </a:extLst>
          </p:cNvPr>
          <p:cNvSpPr txBox="1"/>
          <p:nvPr/>
        </p:nvSpPr>
        <p:spPr>
          <a:xfrm>
            <a:off x="1084082" y="1847654"/>
            <a:ext cx="10105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Task</a:t>
            </a:r>
            <a:r>
              <a:rPr lang="ko-KR" altLang="en-US" dirty="0"/>
              <a:t>가 마음에 들지 않을 때 사용함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5197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C38293-911E-EA5E-FF24-2AE15CB45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Update_task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BE976C-57AA-621C-2A96-9D59DF4375E6}"/>
              </a:ext>
            </a:extLst>
          </p:cNvPr>
          <p:cNvSpPr txBox="1"/>
          <p:nvPr/>
        </p:nvSpPr>
        <p:spPr>
          <a:xfrm>
            <a:off x="1102936" y="1828800"/>
            <a:ext cx="10077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작업계획의 세부내용을 조정할 때 사용</a:t>
            </a:r>
          </a:p>
        </p:txBody>
      </p:sp>
    </p:spTree>
    <p:extLst>
      <p:ext uri="{BB962C8B-B14F-4D97-AF65-F5344CB8AC3E}">
        <p14:creationId xmlns:p14="http://schemas.microsoft.com/office/powerpoint/2010/main" val="36592050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9B4DEB-78B2-1327-2C16-E96638843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Analyze_task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92F768-9667-FA2C-B612-B28035BA5ECB}"/>
              </a:ext>
            </a:extLst>
          </p:cNvPr>
          <p:cNvSpPr txBox="1"/>
          <p:nvPr/>
        </p:nvSpPr>
        <p:spPr>
          <a:xfrm>
            <a:off x="1102936" y="1828800"/>
            <a:ext cx="10077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계획을 쪼개거나 </a:t>
            </a:r>
            <a:r>
              <a:rPr lang="ko-KR" altLang="en-US" dirty="0" err="1"/>
              <a:t>실행전</a:t>
            </a:r>
            <a:r>
              <a:rPr lang="ko-KR" altLang="en-US" dirty="0"/>
              <a:t> 기술적으로 타당한지 검토하는 명령어</a:t>
            </a:r>
          </a:p>
        </p:txBody>
      </p:sp>
    </p:spTree>
    <p:extLst>
      <p:ext uri="{BB962C8B-B14F-4D97-AF65-F5344CB8AC3E}">
        <p14:creationId xmlns:p14="http://schemas.microsoft.com/office/powerpoint/2010/main" val="40735340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53422-BB29-EC12-4E78-5867CEB5F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/>
              <a:t>split_tasks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F82DDD-E27A-5AE3-A330-EF6D5BCEC506}"/>
              </a:ext>
            </a:extLst>
          </p:cNvPr>
          <p:cNvSpPr txBox="1"/>
          <p:nvPr/>
        </p:nvSpPr>
        <p:spPr>
          <a:xfrm>
            <a:off x="1102936" y="1828800"/>
            <a:ext cx="10077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복잡한 계획을 더 작은 단위의 </a:t>
            </a:r>
            <a:r>
              <a:rPr lang="en-US" altLang="ko-KR" dirty="0"/>
              <a:t>task</a:t>
            </a:r>
            <a:r>
              <a:rPr lang="ko-KR" altLang="en-US" dirty="0"/>
              <a:t>로 쪼개는 명령어</a:t>
            </a:r>
          </a:p>
        </p:txBody>
      </p:sp>
    </p:spTree>
    <p:extLst>
      <p:ext uri="{BB962C8B-B14F-4D97-AF65-F5344CB8AC3E}">
        <p14:creationId xmlns:p14="http://schemas.microsoft.com/office/powerpoint/2010/main" val="17168667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205E9A-B512-F3A3-FF0C-1777FF901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Reflect task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4AECFE-4326-81D1-B3EC-D68D9AC89F32}"/>
              </a:ext>
            </a:extLst>
          </p:cNvPr>
          <p:cNvSpPr txBox="1"/>
          <p:nvPr/>
        </p:nvSpPr>
        <p:spPr>
          <a:xfrm>
            <a:off x="1102936" y="1828800"/>
            <a:ext cx="10077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작업을 한번 더 검토하고 개선</a:t>
            </a:r>
          </a:p>
        </p:txBody>
      </p:sp>
    </p:spTree>
    <p:extLst>
      <p:ext uri="{BB962C8B-B14F-4D97-AF65-F5344CB8AC3E}">
        <p14:creationId xmlns:p14="http://schemas.microsoft.com/office/powerpoint/2010/main" val="35826455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66CF5A-F335-6FEB-61AC-A1B475503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Analyze_task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107877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8EEEB0-2A0D-8A82-CF98-966283132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Verify_task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91990F-E311-6CEB-9EFE-751AD519F85D}"/>
              </a:ext>
            </a:extLst>
          </p:cNvPr>
          <p:cNvSpPr txBox="1"/>
          <p:nvPr/>
        </p:nvSpPr>
        <p:spPr>
          <a:xfrm>
            <a:off x="1112363" y="1894788"/>
            <a:ext cx="10105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완료</a:t>
            </a:r>
            <a:r>
              <a:rPr lang="en-US" altLang="ko-KR" dirty="0"/>
              <a:t> </a:t>
            </a:r>
            <a:r>
              <a:rPr lang="ko-KR" altLang="en-US" dirty="0"/>
              <a:t>여부를 점수로 판정하는 </a:t>
            </a:r>
            <a:r>
              <a:rPr lang="en-US" altLang="ko-KR" dirty="0"/>
              <a:t>“</a:t>
            </a:r>
            <a:r>
              <a:rPr lang="ko-KR" altLang="en-US" dirty="0"/>
              <a:t>자가 채점</a:t>
            </a:r>
            <a:r>
              <a:rPr lang="en-US" altLang="ko-KR" dirty="0"/>
              <a:t>“ </a:t>
            </a:r>
            <a:r>
              <a:rPr lang="ko-KR" altLang="en-US" dirty="0"/>
              <a:t>명령어</a:t>
            </a:r>
          </a:p>
        </p:txBody>
      </p:sp>
    </p:spTree>
    <p:extLst>
      <p:ext uri="{BB962C8B-B14F-4D97-AF65-F5344CB8AC3E}">
        <p14:creationId xmlns:p14="http://schemas.microsoft.com/office/powerpoint/2010/main" val="3729531038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884</TotalTime>
  <Words>1051</Words>
  <Application>Microsoft Office PowerPoint</Application>
  <PresentationFormat>와이드스크린</PresentationFormat>
  <Paragraphs>84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7" baseType="lpstr">
      <vt:lpstr>JetBrains Mono</vt:lpstr>
      <vt:lpstr>Monaspace Neon</vt:lpstr>
      <vt:lpstr>Calibri</vt:lpstr>
      <vt:lpstr>Calibri Light</vt:lpstr>
      <vt:lpstr>Wingdings</vt:lpstr>
      <vt:lpstr>추억</vt:lpstr>
      <vt:lpstr>Shrimp Task Master MCP</vt:lpstr>
      <vt:lpstr>Shrimp Task Manager 학습 참고 주소</vt:lpstr>
      <vt:lpstr>Shrimp Task Mananger 설치-1</vt:lpstr>
      <vt:lpstr>Shrimp Task Mananger 설치-2</vt:lpstr>
      <vt:lpstr>Shrimp Task Mananger 설치-3</vt:lpstr>
      <vt:lpstr>Shrimp Task Mananger 설치-4</vt:lpstr>
      <vt:lpstr>Shrimp Task Manager 기능 살펴보기-1</vt:lpstr>
      <vt:lpstr>Init_project_rules -1</vt:lpstr>
      <vt:lpstr>Init_project_rules -1.1</vt:lpstr>
      <vt:lpstr>Init_project_rules -1.2</vt:lpstr>
      <vt:lpstr>Init_project_rules -2 [reseach_mode]</vt:lpstr>
      <vt:lpstr>Plan_task</vt:lpstr>
      <vt:lpstr>Plan_task -2 [list_tasks]</vt:lpstr>
      <vt:lpstr>Execute_task</vt:lpstr>
      <vt:lpstr>Delete_task</vt:lpstr>
      <vt:lpstr>Update_task</vt:lpstr>
      <vt:lpstr>Analyze_task</vt:lpstr>
      <vt:lpstr>split_tasks</vt:lpstr>
      <vt:lpstr>Reflect task</vt:lpstr>
      <vt:lpstr>Analyze_task</vt:lpstr>
      <vt:lpstr>Verify_task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55</cp:revision>
  <dcterms:created xsi:type="dcterms:W3CDTF">2026-07-01T12:22:44Z</dcterms:created>
  <dcterms:modified xsi:type="dcterms:W3CDTF">2026-10-01T16:08:41Z</dcterms:modified>
</cp:coreProperties>
</file>