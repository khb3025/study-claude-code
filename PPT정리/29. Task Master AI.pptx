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AA4F872-6643-46D7-9DD7-D328219597E2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Task Manager 사용법" id="{BE2535E6-F2E5-4344-BB4D-B063043BBCA3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Work Flow" id="{3AD72D8F-F0E9-4975-BF44-264F88C77654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017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231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384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833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65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006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406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DCCB462-B40D-428D-8FC4-842D104849F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361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34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897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882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DCCB462-B40D-428D-8FC4-842D104849F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7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claude.com/settings/keys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BF99D-51EE-C4CD-6B0F-DB21988998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Task Master AI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708BB3-833D-271A-C8AB-F6333494C9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0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11D4E-5DA3-55D9-3369-0B6E07C30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Task Master AI </a:t>
            </a:r>
            <a:r>
              <a:rPr lang="ko-KR" altLang="en-US"/>
              <a:t>필요성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50AEAF-F878-617B-C129-0C86D0245D8B}"/>
              </a:ext>
            </a:extLst>
          </p:cNvPr>
          <p:cNvSpPr txBox="1"/>
          <p:nvPr/>
        </p:nvSpPr>
        <p:spPr>
          <a:xfrm>
            <a:off x="1253765" y="1913641"/>
            <a:ext cx="99019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1. AI </a:t>
            </a:r>
            <a:r>
              <a:rPr lang="ko-KR" altLang="en-US" err="1"/>
              <a:t>개발시</a:t>
            </a:r>
            <a:r>
              <a:rPr lang="ko-KR" altLang="en-US"/>
              <a:t> 갑자기 이상한 방향으로 개발하는 경우</a:t>
            </a:r>
            <a:r>
              <a:rPr lang="en-US" altLang="ko-KR"/>
              <a:t>. </a:t>
            </a:r>
            <a:br>
              <a:rPr lang="en-US" altLang="ko-KR"/>
            </a:br>
            <a:r>
              <a:rPr lang="en-US" altLang="ko-KR"/>
              <a:t>2. </a:t>
            </a:r>
            <a:r>
              <a:rPr lang="ko-KR" altLang="en-US"/>
              <a:t>개발했던 기능을 다시 개발하려는 경우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3. </a:t>
            </a:r>
            <a:r>
              <a:rPr lang="ko-KR" altLang="en-US"/>
              <a:t>요청하지 않은 기능이지만 방대한 기능을 작성하는 경우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959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3AA87-59CB-468E-DBA7-6F1A5DEA9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 - Install 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9D19E0-4E9D-C826-95E9-4862CA2C3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33" y="1829065"/>
            <a:ext cx="5029221" cy="43779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51613-B32F-1636-B1BC-52B9C688EC18}"/>
              </a:ext>
            </a:extLst>
          </p:cNvPr>
          <p:cNvSpPr txBox="1"/>
          <p:nvPr/>
        </p:nvSpPr>
        <p:spPr>
          <a:xfrm>
            <a:off x="5621539" y="1737360"/>
            <a:ext cx="609442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# </a:t>
            </a:r>
            <a:r>
              <a:rPr lang="ko-KR" altLang="en-US" err="1"/>
              <a:t>Install</a:t>
            </a:r>
            <a:r>
              <a:rPr lang="ko-KR" altLang="en-US"/>
              <a:t> </a:t>
            </a:r>
            <a:r>
              <a:rPr lang="ko-KR" altLang="en-US" err="1"/>
              <a:t>globally</a:t>
            </a:r>
            <a:endParaRPr lang="ko-KR" altLang="en-US"/>
          </a:p>
          <a:p>
            <a:r>
              <a:rPr lang="ko-KR" altLang="en-US" sz="1200" err="1"/>
              <a:t>npm</a:t>
            </a:r>
            <a:r>
              <a:rPr lang="ko-KR" altLang="en-US" sz="1200"/>
              <a:t> </a:t>
            </a:r>
            <a:r>
              <a:rPr lang="ko-KR" altLang="en-US" sz="1200" err="1"/>
              <a:t>install</a:t>
            </a:r>
            <a:r>
              <a:rPr lang="ko-KR" altLang="en-US" sz="1200"/>
              <a:t> -</a:t>
            </a:r>
            <a:r>
              <a:rPr lang="ko-KR" altLang="en-US" sz="1200" err="1"/>
              <a:t>g</a:t>
            </a:r>
            <a:r>
              <a:rPr lang="ko-KR" altLang="en-US" sz="1200"/>
              <a:t> </a:t>
            </a:r>
            <a:r>
              <a:rPr lang="ko-KR" altLang="en-US" sz="1200" err="1"/>
              <a:t>task-master-ai</a:t>
            </a:r>
            <a:endParaRPr lang="ko-KR" altLang="en-US" sz="1200"/>
          </a:p>
          <a:p>
            <a:endParaRPr lang="ko-KR" altLang="en-US" sz="1200"/>
          </a:p>
          <a:p>
            <a:r>
              <a:rPr lang="ko-KR" altLang="en-US" sz="1200"/>
              <a:t># OR </a:t>
            </a:r>
            <a:r>
              <a:rPr lang="ko-KR" altLang="en-US" sz="1200" err="1"/>
              <a:t>install</a:t>
            </a:r>
            <a:r>
              <a:rPr lang="ko-KR" altLang="en-US" sz="1200"/>
              <a:t> </a:t>
            </a:r>
            <a:r>
              <a:rPr lang="ko-KR" altLang="en-US" sz="1200" err="1"/>
              <a:t>locally</a:t>
            </a:r>
            <a:r>
              <a:rPr lang="ko-KR" altLang="en-US" sz="1200"/>
              <a:t> </a:t>
            </a:r>
            <a:r>
              <a:rPr lang="ko-KR" altLang="en-US" sz="1200" err="1"/>
              <a:t>within</a:t>
            </a:r>
            <a:r>
              <a:rPr lang="ko-KR" altLang="en-US" sz="1200"/>
              <a:t> </a:t>
            </a:r>
            <a:r>
              <a:rPr lang="ko-KR" altLang="en-US" sz="1200" err="1"/>
              <a:t>your</a:t>
            </a:r>
            <a:r>
              <a:rPr lang="ko-KR" altLang="en-US" sz="1200"/>
              <a:t> </a:t>
            </a:r>
            <a:r>
              <a:rPr lang="ko-KR" altLang="en-US" sz="1200" err="1"/>
              <a:t>project</a:t>
            </a:r>
            <a:endParaRPr lang="ko-KR" altLang="en-US" sz="1200"/>
          </a:p>
          <a:p>
            <a:r>
              <a:rPr lang="ko-KR" altLang="en-US" sz="1200" err="1"/>
              <a:t>npm</a:t>
            </a:r>
            <a:r>
              <a:rPr lang="ko-KR" altLang="en-US" sz="1200"/>
              <a:t> </a:t>
            </a:r>
            <a:r>
              <a:rPr lang="ko-KR" altLang="en-US" sz="1200" err="1"/>
              <a:t>install</a:t>
            </a:r>
            <a:r>
              <a:rPr lang="ko-KR" altLang="en-US" sz="1200"/>
              <a:t> </a:t>
            </a:r>
            <a:r>
              <a:rPr lang="ko-KR" altLang="en-US" sz="1200" err="1"/>
              <a:t>task-master-ai</a:t>
            </a:r>
            <a:br>
              <a:rPr lang="en-US" altLang="ko-KR"/>
            </a:br>
            <a:br>
              <a:rPr lang="en-US" altLang="ko-KR"/>
            </a:br>
            <a:r>
              <a:rPr lang="en-US" altLang="ko-KR"/>
              <a:t># Initialize a new project</a:t>
            </a:r>
            <a:br>
              <a:rPr lang="en-US" altLang="ko-KR"/>
            </a:br>
            <a:r>
              <a:rPr lang="en-US" altLang="ko-KR" sz="1200"/>
              <a:t># If installed globally</a:t>
            </a:r>
          </a:p>
          <a:p>
            <a:r>
              <a:rPr lang="en-US" altLang="ko-KR" sz="1200"/>
              <a:t>task-master </a:t>
            </a:r>
            <a:r>
              <a:rPr lang="en-US" altLang="ko-KR" sz="1200" err="1"/>
              <a:t>init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# If installed locally</a:t>
            </a:r>
          </a:p>
          <a:p>
            <a:r>
              <a:rPr lang="en-US" altLang="ko-KR" sz="1200" err="1"/>
              <a:t>npx</a:t>
            </a:r>
            <a:r>
              <a:rPr lang="en-US" altLang="ko-KR" sz="1200"/>
              <a:t> task-master </a:t>
            </a:r>
            <a:r>
              <a:rPr lang="en-US" altLang="ko-KR" sz="1200" err="1"/>
              <a:t>init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# Initialize project with specific rules</a:t>
            </a:r>
          </a:p>
          <a:p>
            <a:r>
              <a:rPr lang="en-US" altLang="ko-KR" sz="1200"/>
              <a:t>task-master </a:t>
            </a:r>
            <a:r>
              <a:rPr lang="en-US" altLang="ko-KR" sz="1200" err="1"/>
              <a:t>init</a:t>
            </a:r>
            <a:r>
              <a:rPr lang="en-US" altLang="ko-KR" sz="1200"/>
              <a:t> --rules </a:t>
            </a:r>
            <a:r>
              <a:rPr lang="en-US" altLang="ko-KR" sz="1200" err="1"/>
              <a:t>cursor,windsurf,vscode</a:t>
            </a:r>
            <a:br>
              <a:rPr lang="en-US" altLang="ko-KR" sz="1200"/>
            </a:b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설치는 </a:t>
            </a:r>
            <a:r>
              <a:rPr lang="en-US" altLang="ko-KR" sz="1200">
                <a:sym typeface="Wingdings" panose="05000000000000000000" pitchFamily="2" charset="2"/>
              </a:rPr>
              <a:t>cli </a:t>
            </a:r>
            <a:r>
              <a:rPr lang="ko-KR" altLang="en-US" sz="1200">
                <a:sym typeface="Wingdings" panose="05000000000000000000" pitchFamily="2" charset="2"/>
              </a:rPr>
              <a:t>글로벌로 실행은 </a:t>
            </a:r>
            <a:r>
              <a:rPr lang="en-US" altLang="ko-KR" sz="1200">
                <a:sym typeface="Wingdings" panose="05000000000000000000" pitchFamily="2" charset="2"/>
              </a:rPr>
              <a:t>Claude Code </a:t>
            </a:r>
            <a:r>
              <a:rPr lang="ko-KR" altLang="en-US" sz="1200">
                <a:sym typeface="Wingdings" panose="05000000000000000000" pitchFamily="2" charset="2"/>
              </a:rPr>
              <a:t>의 </a:t>
            </a:r>
            <a:r>
              <a:rPr lang="en-US" altLang="ko-KR" sz="1200">
                <a:sym typeface="Wingdings" panose="05000000000000000000" pitchFamily="2" charset="2"/>
              </a:rPr>
              <a:t>MCP</a:t>
            </a:r>
            <a:r>
              <a:rPr lang="ko-KR" altLang="en-US" sz="1200">
                <a:sym typeface="Wingdings" panose="05000000000000000000" pitchFamily="2" charset="2"/>
              </a:rPr>
              <a:t>로 진행</a:t>
            </a:r>
            <a:endParaRPr lang="ko-KR" altLang="en-US" sz="12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AE38190-01D1-9FD5-E717-D3326DB4E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539" y="5100511"/>
            <a:ext cx="4757372" cy="170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02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596BCE-C16E-16DD-F2FD-1C7D3231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MCP</a:t>
            </a:r>
            <a:r>
              <a:rPr lang="ko-KR" altLang="en-US"/>
              <a:t> </a:t>
            </a:r>
            <a:r>
              <a:rPr lang="en-US" altLang="ko-KR"/>
              <a:t>– Install (1)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087AA7D-2728-4FA3-F9B3-83A9FB37A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1" y="1847932"/>
            <a:ext cx="4502242" cy="47789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286764D-736E-2307-59D0-454DE6FB7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017" y="1847932"/>
            <a:ext cx="6049219" cy="48393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4985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8FEBB-E1C1-6E11-8272-3673F0011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DB7D4A-6A28-8FD9-F1E7-4188673B0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MCP – </a:t>
            </a:r>
            <a:r>
              <a:rPr lang="ko-KR" altLang="en-US"/>
              <a:t>복사 붙여넣기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C62277-F977-3D83-0DC4-76CFA225E02E}"/>
              </a:ext>
            </a:extLst>
          </p:cNvPr>
          <p:cNvSpPr txBox="1"/>
          <p:nvPr/>
        </p:nvSpPr>
        <p:spPr>
          <a:xfrm>
            <a:off x="1199561" y="1950186"/>
            <a:ext cx="609442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/>
              <a:t>{</a:t>
            </a:r>
          </a:p>
          <a:p>
            <a:r>
              <a:rPr lang="ko-KR" altLang="en-US" sz="1200"/>
              <a:t>  "</a:t>
            </a:r>
            <a:r>
              <a:rPr lang="ko-KR" altLang="en-US" sz="1200" err="1"/>
              <a:t>mcpServers</a:t>
            </a:r>
            <a:r>
              <a:rPr lang="ko-KR" altLang="en-US" sz="1200"/>
              <a:t>": {</a:t>
            </a:r>
          </a:p>
          <a:p>
            <a:r>
              <a:rPr lang="ko-KR" altLang="en-US" sz="1200"/>
              <a:t>    "</a:t>
            </a:r>
            <a:r>
              <a:rPr lang="ko-KR" altLang="en-US" sz="1200" err="1"/>
              <a:t>taskmaster-ai</a:t>
            </a:r>
            <a:r>
              <a:rPr lang="ko-KR" altLang="en-US" sz="1200"/>
              <a:t>": {</a:t>
            </a:r>
          </a:p>
          <a:p>
            <a:r>
              <a:rPr lang="ko-KR" altLang="en-US" sz="1200"/>
              <a:t>      "</a:t>
            </a:r>
            <a:r>
              <a:rPr lang="ko-KR" altLang="en-US" sz="1200" err="1"/>
              <a:t>command</a:t>
            </a:r>
            <a:r>
              <a:rPr lang="ko-KR" altLang="en-US" sz="1200"/>
              <a:t>": "</a:t>
            </a:r>
            <a:r>
              <a:rPr lang="ko-KR" altLang="en-US" sz="1200" err="1"/>
              <a:t>npx</a:t>
            </a:r>
            <a:r>
              <a:rPr lang="ko-KR" altLang="en-US" sz="1200"/>
              <a:t>",</a:t>
            </a:r>
          </a:p>
          <a:p>
            <a:r>
              <a:rPr lang="ko-KR" altLang="en-US" sz="1200"/>
              <a:t>      "</a:t>
            </a:r>
            <a:r>
              <a:rPr lang="ko-KR" altLang="en-US" sz="1200" err="1"/>
              <a:t>args</a:t>
            </a:r>
            <a:r>
              <a:rPr lang="ko-KR" altLang="en-US" sz="1200"/>
              <a:t>": ["-</a:t>
            </a:r>
            <a:r>
              <a:rPr lang="ko-KR" altLang="en-US" sz="1200" err="1"/>
              <a:t>y</a:t>
            </a:r>
            <a:r>
              <a:rPr lang="ko-KR" altLang="en-US" sz="1200"/>
              <a:t>", "</a:t>
            </a:r>
            <a:r>
              <a:rPr lang="ko-KR" altLang="en-US" sz="1200" err="1"/>
              <a:t>task-master-ai</a:t>
            </a:r>
            <a:r>
              <a:rPr lang="ko-KR" altLang="en-US" sz="1200"/>
              <a:t>"],</a:t>
            </a:r>
          </a:p>
          <a:p>
            <a:r>
              <a:rPr lang="ko-KR" altLang="en-US" sz="1200"/>
              <a:t>      "</a:t>
            </a:r>
            <a:r>
              <a:rPr lang="ko-KR" altLang="en-US" sz="1200" err="1"/>
              <a:t>env</a:t>
            </a:r>
            <a:r>
              <a:rPr lang="ko-KR" altLang="en-US" sz="1200"/>
              <a:t>": {</a:t>
            </a:r>
          </a:p>
          <a:p>
            <a:r>
              <a:rPr lang="ko-KR" altLang="en-US" sz="1200"/>
              <a:t>        "ANTHROPIC_API_KEY": "YOUR_ANTHROPIC_API_KEY_HERE",</a:t>
            </a:r>
          </a:p>
          <a:p>
            <a:r>
              <a:rPr lang="ko-KR" altLang="en-US" sz="1200"/>
              <a:t>        "PERPLEXITY_API_KEY": "YOUR_PERPLEXITY_API_KEY_HERE",</a:t>
            </a:r>
          </a:p>
          <a:p>
            <a:r>
              <a:rPr lang="ko-KR" altLang="en-US" sz="1200"/>
              <a:t>        "OPENAI_API_KEY": "YOUR_OPENAI_KEY_HERE",</a:t>
            </a:r>
          </a:p>
          <a:p>
            <a:r>
              <a:rPr lang="ko-KR" altLang="en-US" sz="1200"/>
              <a:t>        "GOOGLE_API_KEY": "YOUR_GOOGLE_KEY_HERE",</a:t>
            </a:r>
          </a:p>
          <a:p>
            <a:r>
              <a:rPr lang="ko-KR" altLang="en-US" sz="1200"/>
              <a:t>        "MISTRAL_API_KEY": "YOUR_MISTRAL_KEY_HERE",</a:t>
            </a:r>
          </a:p>
          <a:p>
            <a:r>
              <a:rPr lang="ko-KR" altLang="en-US" sz="1200"/>
              <a:t>        "OPENROUTER_API_KEY": "YOUR_OPENROUTER_KEY_HERE",</a:t>
            </a:r>
          </a:p>
          <a:p>
            <a:r>
              <a:rPr lang="ko-KR" altLang="en-US" sz="1200"/>
              <a:t>        "XAI_API_KEY": "YOUR_XAI_KEY_HERE",</a:t>
            </a:r>
          </a:p>
          <a:p>
            <a:r>
              <a:rPr lang="ko-KR" altLang="en-US" sz="1200"/>
              <a:t>        "AZURE_OPENAI_API_KEY": "YOUR_AZURE_KEY_HERE",</a:t>
            </a:r>
          </a:p>
          <a:p>
            <a:r>
              <a:rPr lang="ko-KR" altLang="en-US" sz="1200"/>
              <a:t>        "OLLAMA_API_KEY": "YOUR_OLLAMA_API_KEY_HERE"</a:t>
            </a:r>
          </a:p>
          <a:p>
            <a:r>
              <a:rPr lang="ko-KR" altLang="en-US" sz="1200"/>
              <a:t>      }</a:t>
            </a:r>
          </a:p>
          <a:p>
            <a:r>
              <a:rPr lang="ko-KR" altLang="en-US" sz="1200"/>
              <a:t>    }</a:t>
            </a:r>
          </a:p>
          <a:p>
            <a:r>
              <a:rPr lang="ko-KR" altLang="en-US" sz="1200"/>
              <a:t>  }</a:t>
            </a:r>
          </a:p>
          <a:p>
            <a:r>
              <a:rPr lang="ko-KR" altLang="en-US" sz="1200"/>
              <a:t>}</a:t>
            </a:r>
            <a:br>
              <a:rPr lang="en-US" altLang="ko-KR" sz="1200"/>
            </a:br>
            <a:endParaRPr lang="ko-KR" altLang="en-US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7DDDFF-44C1-CA3C-1E32-3EFBDFB3338E}"/>
              </a:ext>
            </a:extLst>
          </p:cNvPr>
          <p:cNvSpPr txBox="1"/>
          <p:nvPr/>
        </p:nvSpPr>
        <p:spPr>
          <a:xfrm>
            <a:off x="6007231" y="1950186"/>
            <a:ext cx="6094428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/>
              <a:t>{</a:t>
            </a:r>
          </a:p>
          <a:p>
            <a:r>
              <a:rPr lang="ko-KR" altLang="en-US" sz="1200"/>
              <a:t>  "</a:t>
            </a:r>
            <a:r>
              <a:rPr lang="ko-KR" altLang="en-US" sz="1200" err="1"/>
              <a:t>servers</a:t>
            </a:r>
            <a:r>
              <a:rPr lang="ko-KR" altLang="en-US" sz="1200"/>
              <a:t>": {</a:t>
            </a:r>
          </a:p>
          <a:p>
            <a:r>
              <a:rPr lang="ko-KR" altLang="en-US" sz="1200"/>
              <a:t>    "</a:t>
            </a:r>
            <a:r>
              <a:rPr lang="ko-KR" altLang="en-US" sz="1200" err="1"/>
              <a:t>taskmaster-ai</a:t>
            </a:r>
            <a:r>
              <a:rPr lang="ko-KR" altLang="en-US" sz="1200"/>
              <a:t>": {</a:t>
            </a:r>
          </a:p>
          <a:p>
            <a:r>
              <a:rPr lang="ko-KR" altLang="en-US" sz="1200"/>
              <a:t>      "</a:t>
            </a:r>
            <a:r>
              <a:rPr lang="ko-KR" altLang="en-US" sz="1200" err="1"/>
              <a:t>command</a:t>
            </a:r>
            <a:r>
              <a:rPr lang="ko-KR" altLang="en-US" sz="1200"/>
              <a:t>": "</a:t>
            </a:r>
            <a:r>
              <a:rPr lang="ko-KR" altLang="en-US" sz="1200" err="1"/>
              <a:t>npx</a:t>
            </a:r>
            <a:r>
              <a:rPr lang="ko-KR" altLang="en-US" sz="1200"/>
              <a:t>",</a:t>
            </a:r>
          </a:p>
          <a:p>
            <a:r>
              <a:rPr lang="ko-KR" altLang="en-US" sz="1200"/>
              <a:t>      "</a:t>
            </a:r>
            <a:r>
              <a:rPr lang="ko-KR" altLang="en-US" sz="1200" err="1"/>
              <a:t>args</a:t>
            </a:r>
            <a:r>
              <a:rPr lang="ko-KR" altLang="en-US" sz="1200"/>
              <a:t>": ["-</a:t>
            </a:r>
            <a:r>
              <a:rPr lang="ko-KR" altLang="en-US" sz="1200" err="1"/>
              <a:t>y</a:t>
            </a:r>
            <a:r>
              <a:rPr lang="ko-KR" altLang="en-US" sz="1200"/>
              <a:t>", "</a:t>
            </a:r>
            <a:r>
              <a:rPr lang="ko-KR" altLang="en-US" sz="1200" err="1"/>
              <a:t>task-master-ai</a:t>
            </a:r>
            <a:r>
              <a:rPr lang="ko-KR" altLang="en-US" sz="1200"/>
              <a:t>"],</a:t>
            </a:r>
          </a:p>
          <a:p>
            <a:r>
              <a:rPr lang="ko-KR" altLang="en-US" sz="1200"/>
              <a:t>      "</a:t>
            </a:r>
            <a:r>
              <a:rPr lang="ko-KR" altLang="en-US" sz="1200" err="1"/>
              <a:t>env</a:t>
            </a:r>
            <a:r>
              <a:rPr lang="ko-KR" altLang="en-US" sz="1200"/>
              <a:t>": {</a:t>
            </a:r>
          </a:p>
          <a:p>
            <a:r>
              <a:rPr lang="ko-KR" altLang="en-US" sz="1200"/>
              <a:t>        "ANTHROPIC_API_KEY": "YOUR_ANTHROPIC_API_KEY_HERE",</a:t>
            </a:r>
          </a:p>
          <a:p>
            <a:r>
              <a:rPr lang="ko-KR" altLang="en-US" sz="1200"/>
              <a:t>        "PERPLEXITY_API_KEY": "YOUR_PERPLEXITY_API_KEY_HERE",</a:t>
            </a:r>
          </a:p>
          <a:p>
            <a:r>
              <a:rPr lang="ko-KR" altLang="en-US" sz="1200"/>
              <a:t>        "OPENAI_API_KEY": "YOUR_OPENAI_KEY_HERE",</a:t>
            </a:r>
          </a:p>
          <a:p>
            <a:r>
              <a:rPr lang="ko-KR" altLang="en-US" sz="1200"/>
              <a:t>        "GOOGLE_API_KEY": "YOUR_GOOGLE_KEY_HERE",</a:t>
            </a:r>
          </a:p>
          <a:p>
            <a:r>
              <a:rPr lang="ko-KR" altLang="en-US" sz="1200"/>
              <a:t>        "MISTRAL_API_KEY": "YOUR_MISTRAL_KEY_HERE",</a:t>
            </a:r>
          </a:p>
          <a:p>
            <a:r>
              <a:rPr lang="ko-KR" altLang="en-US" sz="1200"/>
              <a:t>        "OPENROUTER_API_KEY": "YOUR_OPENROUTER_KEY_HERE",</a:t>
            </a:r>
          </a:p>
          <a:p>
            <a:r>
              <a:rPr lang="ko-KR" altLang="en-US" sz="1200"/>
              <a:t>        "XAI_API_KEY": "YOUR_XAI_KEY_HERE",</a:t>
            </a:r>
          </a:p>
          <a:p>
            <a:r>
              <a:rPr lang="ko-KR" altLang="en-US" sz="1200"/>
              <a:t>        "AZURE_OPENAI_API_KEY": "YOUR_AZURE_KEY_HERE"</a:t>
            </a:r>
          </a:p>
          <a:p>
            <a:r>
              <a:rPr lang="ko-KR" altLang="en-US" sz="1200"/>
              <a:t>      },</a:t>
            </a:r>
          </a:p>
          <a:p>
            <a:r>
              <a:rPr lang="ko-KR" altLang="en-US" sz="1200"/>
              <a:t>      "</a:t>
            </a:r>
            <a:r>
              <a:rPr lang="ko-KR" altLang="en-US" sz="1200" err="1"/>
              <a:t>type</a:t>
            </a:r>
            <a:r>
              <a:rPr lang="ko-KR" altLang="en-US" sz="1200"/>
              <a:t>": "</a:t>
            </a:r>
            <a:r>
              <a:rPr lang="ko-KR" altLang="en-US" sz="1200" err="1"/>
              <a:t>stdio</a:t>
            </a:r>
            <a:r>
              <a:rPr lang="ko-KR" altLang="en-US" sz="1200"/>
              <a:t>"</a:t>
            </a:r>
          </a:p>
          <a:p>
            <a:r>
              <a:rPr lang="ko-KR" altLang="en-US" sz="1200"/>
              <a:t>    }</a:t>
            </a:r>
          </a:p>
          <a:p>
            <a:r>
              <a:rPr lang="ko-KR" altLang="en-US" sz="1200"/>
              <a:t>  }</a:t>
            </a:r>
          </a:p>
          <a:p>
            <a:r>
              <a:rPr lang="ko-KR" altLang="en-US" sz="12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60944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10FC65-D810-F796-B6A6-1DE780AB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MCP</a:t>
            </a:r>
            <a:r>
              <a:rPr lang="ko-KR" altLang="en-US"/>
              <a:t> </a:t>
            </a:r>
            <a:r>
              <a:rPr lang="en-US" altLang="ko-KR"/>
              <a:t>– Install (2)  [.</a:t>
            </a:r>
            <a:r>
              <a:rPr lang="en-US" altLang="ko-KR" err="1"/>
              <a:t>mcp.json</a:t>
            </a:r>
            <a:r>
              <a:rPr lang="ko-KR" altLang="en-US"/>
              <a:t>설정</a:t>
            </a:r>
            <a:r>
              <a:rPr lang="en-US" altLang="ko-KR"/>
              <a:t>]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AEE45B-A0D0-C82F-5671-E0A575CDB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30" y="1910560"/>
            <a:ext cx="3848637" cy="1943371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E22C822F-3DA5-A663-95E2-52BEECDF5C32}"/>
              </a:ext>
            </a:extLst>
          </p:cNvPr>
          <p:cNvGrpSpPr/>
          <p:nvPr/>
        </p:nvGrpSpPr>
        <p:grpSpPr>
          <a:xfrm>
            <a:off x="4575059" y="1910560"/>
            <a:ext cx="7397752" cy="2536581"/>
            <a:chOff x="4575059" y="1910560"/>
            <a:chExt cx="7397752" cy="2536581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E0A8BE8A-F013-0689-5CE1-E2CC721898D3}"/>
                </a:ext>
              </a:extLst>
            </p:cNvPr>
            <p:cNvGrpSpPr/>
            <p:nvPr/>
          </p:nvGrpSpPr>
          <p:grpSpPr>
            <a:xfrm>
              <a:off x="4575059" y="1910560"/>
              <a:ext cx="7397752" cy="2536581"/>
              <a:chOff x="4575059" y="1910560"/>
              <a:chExt cx="7397752" cy="2536581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DF509188-F1F2-0D70-F4D2-0153793728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5059" y="1910560"/>
                <a:ext cx="7397752" cy="2536581"/>
              </a:xfrm>
              <a:prstGeom prst="rect">
                <a:avLst/>
              </a:prstGeom>
            </p:spPr>
          </p:pic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6624BCD9-03C6-15B4-03A6-5771D3F17CB1}"/>
                  </a:ext>
                </a:extLst>
              </p:cNvPr>
              <p:cNvSpPr/>
              <p:nvPr/>
            </p:nvSpPr>
            <p:spPr>
              <a:xfrm>
                <a:off x="7230359" y="3619893"/>
                <a:ext cx="3148552" cy="25452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0AC4D42-8A91-5ECE-9F56-D144CA4A0B2B}"/>
                </a:ext>
              </a:extLst>
            </p:cNvPr>
            <p:cNvSpPr/>
            <p:nvPr/>
          </p:nvSpPr>
          <p:spPr>
            <a:xfrm>
              <a:off x="7627855" y="4192618"/>
              <a:ext cx="677159" cy="25452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36F670F-A6A0-9E03-2256-8E96125D16D5}"/>
              </a:ext>
            </a:extLst>
          </p:cNvPr>
          <p:cNvGrpSpPr/>
          <p:nvPr/>
        </p:nvGrpSpPr>
        <p:grpSpPr>
          <a:xfrm>
            <a:off x="3886902" y="4620341"/>
            <a:ext cx="3412587" cy="2039926"/>
            <a:chOff x="3886902" y="4620341"/>
            <a:chExt cx="3412587" cy="2039926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142B6723-4D50-B59F-1C4D-83BF3B07E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86902" y="4620341"/>
              <a:ext cx="3412587" cy="2039926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FBA325D-E03B-365C-6A71-664344C89EFD}"/>
                </a:ext>
              </a:extLst>
            </p:cNvPr>
            <p:cNvSpPr/>
            <p:nvPr/>
          </p:nvSpPr>
          <p:spPr>
            <a:xfrm>
              <a:off x="3978111" y="5052767"/>
              <a:ext cx="3252248" cy="38649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8240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7C0D89-2FFD-5312-E734-DFA3B6FF3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MCP</a:t>
            </a:r>
            <a:r>
              <a:rPr lang="ko-KR" altLang="en-US"/>
              <a:t> </a:t>
            </a:r>
            <a:r>
              <a:rPr lang="en-US" altLang="ko-KR"/>
              <a:t>– Install (3) [CLI </a:t>
            </a:r>
            <a:r>
              <a:rPr lang="ko-KR" altLang="en-US"/>
              <a:t>설치 진행</a:t>
            </a:r>
            <a:r>
              <a:rPr lang="en-US" altLang="ko-KR"/>
              <a:t>]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24522E3-3B69-4581-1904-17F5A487D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3392"/>
            <a:ext cx="9545382" cy="12670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CCF4AF-FA49-F6E5-761F-FA8FD9AFDBCF}"/>
              </a:ext>
            </a:extLst>
          </p:cNvPr>
          <p:cNvSpPr txBox="1"/>
          <p:nvPr/>
        </p:nvSpPr>
        <p:spPr>
          <a:xfrm>
            <a:off x="1097280" y="3195687"/>
            <a:ext cx="9545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Task Manager </a:t>
            </a:r>
            <a:r>
              <a:rPr lang="ko-KR" altLang="en-US"/>
              <a:t>프로젝트 초기화 명령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5B176BD-34F3-814F-6C30-3140F8A9B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650312"/>
            <a:ext cx="9392961" cy="7335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573099-3734-1E06-0E03-D0D0B273A65B}"/>
              </a:ext>
            </a:extLst>
          </p:cNvPr>
          <p:cNvSpPr txBox="1"/>
          <p:nvPr/>
        </p:nvSpPr>
        <p:spPr>
          <a:xfrm>
            <a:off x="1097280" y="4383839"/>
            <a:ext cx="9997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Claude Code (CLI) </a:t>
            </a:r>
            <a:r>
              <a:rPr lang="ko-KR" altLang="en-US" sz="1400"/>
              <a:t>를 통해 </a:t>
            </a:r>
            <a:r>
              <a:rPr lang="en-US" altLang="ko-KR" sz="1400" err="1"/>
              <a:t>mcp</a:t>
            </a:r>
            <a:r>
              <a:rPr lang="ko-KR" altLang="en-US" sz="1400"/>
              <a:t>를 사용할 경우 </a:t>
            </a:r>
            <a:r>
              <a:rPr lang="en-US" altLang="ko-KR" sz="1400"/>
              <a:t>Research </a:t>
            </a:r>
            <a:r>
              <a:rPr lang="ko-KR" altLang="en-US" sz="1400"/>
              <a:t>명령은 별도의 </a:t>
            </a:r>
            <a:r>
              <a:rPr lang="en-US" altLang="ko-KR" sz="1400"/>
              <a:t>API </a:t>
            </a:r>
            <a:r>
              <a:rPr lang="ko-KR" altLang="en-US" sz="1400"/>
              <a:t>키가 필요하다 한다</a:t>
            </a:r>
            <a:r>
              <a:rPr lang="en-US" altLang="ko-KR" sz="1400"/>
              <a:t>. </a:t>
            </a:r>
          </a:p>
          <a:p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ko-KR" altLang="en-US" sz="1400">
                <a:sym typeface="Wingdings" panose="05000000000000000000" pitchFamily="2" charset="2"/>
              </a:rPr>
              <a:t>유료</a:t>
            </a:r>
            <a:r>
              <a:rPr lang="en-US" altLang="ko-KR" sz="1400">
                <a:sym typeface="Wingdings" panose="05000000000000000000" pitchFamily="2" charset="2"/>
              </a:rPr>
              <a:t>(</a:t>
            </a:r>
            <a:r>
              <a:rPr lang="ko-KR" altLang="en-US" sz="1400">
                <a:sym typeface="Wingdings" panose="05000000000000000000" pitchFamily="2" charset="2"/>
              </a:rPr>
              <a:t>정액제와 다른 토큰 사용량 결제</a:t>
            </a:r>
            <a:r>
              <a:rPr lang="en-US" altLang="ko-KR" sz="1400">
                <a:sym typeface="Wingdings" panose="05000000000000000000" pitchFamily="2" charset="2"/>
              </a:rPr>
              <a:t>)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580267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313251-DB29-B843-50B9-FDA207345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/>
              <a:t>API </a:t>
            </a:r>
            <a:r>
              <a:rPr lang="ko-KR" altLang="en-US" sz="2800"/>
              <a:t>키를 활성화 하고 </a:t>
            </a:r>
            <a:r>
              <a:rPr lang="ko-KR" altLang="en-US" sz="2800" err="1"/>
              <a:t>싶은경우</a:t>
            </a:r>
            <a:r>
              <a:rPr lang="en-US" altLang="ko-KR" sz="2800"/>
              <a:t>. (</a:t>
            </a:r>
            <a:r>
              <a:rPr lang="ko-KR" altLang="en-US" sz="2800"/>
              <a:t>사용량에 따라 유료 금액</a:t>
            </a:r>
            <a:r>
              <a:rPr lang="en-US" altLang="ko-KR" sz="2800"/>
              <a:t>)</a:t>
            </a:r>
            <a:endParaRPr lang="ko-KR" altLang="en-US" sz="2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4609E66-6BCF-313F-2A37-4636FB5AA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55" y="1847653"/>
            <a:ext cx="10588490" cy="35917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E35639-F973-515E-28BD-20D0A71D3831}"/>
              </a:ext>
            </a:extLst>
          </p:cNvPr>
          <p:cNvSpPr txBox="1"/>
          <p:nvPr/>
        </p:nvSpPr>
        <p:spPr>
          <a:xfrm>
            <a:off x="728221" y="5439376"/>
            <a:ext cx="60944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Anthropic</a:t>
            </a:r>
            <a:r>
              <a:rPr lang="ko-KR" altLang="en-US" sz="1200"/>
              <a:t> 로그인 </a:t>
            </a:r>
            <a:r>
              <a:rPr lang="en-US" altLang="ko-KR" sz="1200"/>
              <a:t>-&gt; </a:t>
            </a:r>
            <a:r>
              <a:rPr lang="ko-KR" altLang="en-US" sz="1200">
                <a:hlinkClick r:id="rId3"/>
              </a:rPr>
              <a:t>https://platform.claude.com/settings/keys</a:t>
            </a:r>
            <a:endParaRPr lang="en-US" altLang="ko-KR" sz="1200"/>
          </a:p>
          <a:p>
            <a:r>
              <a:rPr lang="en-US" altLang="ko-KR" sz="1200"/>
              <a:t>- </a:t>
            </a:r>
            <a:r>
              <a:rPr lang="en-US" altLang="ko-KR" sz="1200" err="1"/>
              <a:t>Mcp.json</a:t>
            </a:r>
            <a:r>
              <a:rPr lang="en-US" altLang="ko-KR" sz="1200"/>
              <a:t> [※ API </a:t>
            </a:r>
            <a:r>
              <a:rPr lang="ko-KR" altLang="en-US" sz="1200"/>
              <a:t>키는 노출되면 안됨으로 </a:t>
            </a:r>
            <a:r>
              <a:rPr lang="en-US" altLang="ko-KR" sz="1200"/>
              <a:t>.env </a:t>
            </a:r>
            <a:r>
              <a:rPr lang="ko-KR" altLang="en-US" sz="1200"/>
              <a:t>파일로 </a:t>
            </a:r>
            <a:r>
              <a:rPr lang="ko-KR" altLang="en-US" sz="1200" err="1"/>
              <a:t>저장하는게</a:t>
            </a:r>
            <a:r>
              <a:rPr lang="ko-KR" altLang="en-US" sz="1200"/>
              <a:t> 일반적</a:t>
            </a:r>
            <a:r>
              <a:rPr lang="en-US" altLang="ko-KR" sz="1200"/>
              <a:t>]</a:t>
            </a:r>
          </a:p>
          <a:p>
            <a:r>
              <a:rPr lang="ko-KR" altLang="en-US" sz="1200"/>
              <a:t> </a:t>
            </a:r>
            <a:r>
              <a:rPr lang="en-US" altLang="ko-KR" sz="1200"/>
              <a:t>env : {</a:t>
            </a:r>
          </a:p>
          <a:p>
            <a:r>
              <a:rPr lang="en-US" altLang="ko-KR" sz="1200"/>
              <a:t>	</a:t>
            </a:r>
            <a:r>
              <a:rPr lang="ko-KR" altLang="en-US" sz="1200"/>
              <a:t>"ANTHROPIC_API_KEY": "YOUR_ANTHROPIC_API_KEY_HERE“</a:t>
            </a:r>
            <a:br>
              <a:rPr lang="en-US" altLang="ko-KR" sz="1200"/>
            </a:br>
            <a:r>
              <a:rPr lang="en-US" altLang="ko-KR" sz="1200"/>
              <a:t>}</a:t>
            </a:r>
            <a:r>
              <a:rPr lang="ko-KR" altLang="en-US" sz="12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6510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CC9EE9-2771-3735-60AE-D38887F6C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Task Manager </a:t>
            </a:r>
            <a:r>
              <a:rPr lang="ko-KR" altLang="en-US"/>
              <a:t>사용가능 모델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D41D321-B684-1151-DA2A-F78D31F45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63" y="1933053"/>
            <a:ext cx="2114845" cy="395342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FCDF12C-B1F6-DF5A-A62D-B9DA085D9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230" y="1933053"/>
            <a:ext cx="2584799" cy="48400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E3FE81-D3AB-97C8-9333-E8AE03870950}"/>
              </a:ext>
            </a:extLst>
          </p:cNvPr>
          <p:cNvSpPr txBox="1"/>
          <p:nvPr/>
        </p:nvSpPr>
        <p:spPr>
          <a:xfrm>
            <a:off x="5269251" y="1933053"/>
            <a:ext cx="23944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지원하는 모델을 </a:t>
            </a:r>
            <a:r>
              <a:rPr lang="en-US" altLang="ko-KR" sz="1100"/>
              <a:t>.taskmaster</a:t>
            </a:r>
            <a:r>
              <a:rPr lang="ko-KR" altLang="en-US" sz="1100"/>
              <a:t>내 </a:t>
            </a:r>
            <a:r>
              <a:rPr lang="en-US" altLang="ko-KR" sz="1100" err="1"/>
              <a:t>config.json</a:t>
            </a:r>
            <a:r>
              <a:rPr lang="ko-KR" altLang="en-US" sz="1100"/>
              <a:t>으로 확인할 수 있다</a:t>
            </a:r>
            <a:r>
              <a:rPr lang="en-US" altLang="ko-KR" sz="1100"/>
              <a:t>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1330884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57926-BB7E-D7A2-598D-6D8525112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현재 셋팅 모델 확인 및 변경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45FFD4-EB79-6E67-F34D-B46B4A9AC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16" y="1904785"/>
            <a:ext cx="9721365" cy="30484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346CC1-926A-9DD9-C1A4-7EC977D142F2}"/>
              </a:ext>
            </a:extLst>
          </p:cNvPr>
          <p:cNvSpPr txBox="1"/>
          <p:nvPr/>
        </p:nvSpPr>
        <p:spPr>
          <a:xfrm>
            <a:off x="365316" y="5071621"/>
            <a:ext cx="97213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변경 명령 </a:t>
            </a:r>
            <a:br>
              <a:rPr lang="en-US" altLang="ko-KR" sz="1400"/>
            </a:br>
            <a:r>
              <a:rPr lang="en-US" altLang="ko-KR" sz="1400">
                <a:solidFill>
                  <a:srgbClr val="FF0000"/>
                </a:solidFill>
              </a:rPr>
              <a:t>@.taskmaster </a:t>
            </a:r>
            <a:r>
              <a:rPr lang="en-US" altLang="ko-KR" sz="1400">
                <a:solidFill>
                  <a:srgbClr val="0000FF"/>
                </a:solidFill>
              </a:rPr>
              <a:t>tm  models --setup </a:t>
            </a:r>
          </a:p>
          <a:p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880087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A50DD3-A7DF-7178-A550-9E9BFA519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Shrimp Task Master </a:t>
            </a:r>
            <a:r>
              <a:rPr lang="ko-KR" altLang="en-US" sz="3600"/>
              <a:t>와 </a:t>
            </a:r>
            <a:r>
              <a:rPr lang="en-US" altLang="ko-KR" sz="3600"/>
              <a:t>Task Master - </a:t>
            </a:r>
            <a:r>
              <a:rPr lang="ko-KR" altLang="en-US" sz="3600"/>
              <a:t>특징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A71CB9-7172-463E-1B51-944D8D33B540}"/>
              </a:ext>
            </a:extLst>
          </p:cNvPr>
          <p:cNvSpPr txBox="1"/>
          <p:nvPr/>
        </p:nvSpPr>
        <p:spPr>
          <a:xfrm>
            <a:off x="1197204" y="1838227"/>
            <a:ext cx="99584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Shrimp – master </a:t>
            </a:r>
            <a:r>
              <a:rPr lang="ko-KR" altLang="en-US" sz="1200"/>
              <a:t>는 작성하려는 웹의 특징과 기능</a:t>
            </a:r>
            <a:r>
              <a:rPr lang="en-US" altLang="ko-KR" sz="1200"/>
              <a:t>,</a:t>
            </a:r>
            <a:r>
              <a:rPr lang="ko-KR" altLang="en-US" sz="1200"/>
              <a:t> 기술스택을 제시하고 그에 맞는 프로젝트 룰과 절차에 대한 </a:t>
            </a:r>
            <a:r>
              <a:rPr lang="en-US" altLang="ko-KR" sz="1200"/>
              <a:t>PRD </a:t>
            </a:r>
            <a:r>
              <a:rPr lang="ko-KR" altLang="en-US" sz="1200"/>
              <a:t>문서를 작성해달라고 하면</a:t>
            </a:r>
            <a:br>
              <a:rPr lang="en-US" altLang="ko-KR" sz="1200"/>
            </a:br>
            <a:r>
              <a:rPr lang="en-US" altLang="ko-KR" sz="1200"/>
              <a:t>AI</a:t>
            </a:r>
            <a:r>
              <a:rPr lang="ko-KR" altLang="en-US" sz="1200"/>
              <a:t>의 기준으로 잘 생성해주며</a:t>
            </a:r>
            <a:r>
              <a:rPr lang="en-US" altLang="ko-KR" sz="1200"/>
              <a:t>, </a:t>
            </a:r>
            <a:r>
              <a:rPr lang="ko-KR" altLang="en-US" sz="1200"/>
              <a:t>이에 따른 작업과 계획을 관리한다</a:t>
            </a:r>
            <a:r>
              <a:rPr lang="en-US" altLang="ko-KR" sz="1200"/>
              <a:t>.</a:t>
            </a:r>
          </a:p>
          <a:p>
            <a:br>
              <a:rPr lang="en-US" altLang="ko-KR" sz="1200"/>
            </a:br>
            <a:r>
              <a:rPr lang="ko-KR" altLang="en-US" sz="1200"/>
              <a:t>그러나 </a:t>
            </a:r>
            <a:r>
              <a:rPr lang="en-US" altLang="ko-KR" sz="1200"/>
              <a:t>Claude Taskmaster </a:t>
            </a:r>
            <a:r>
              <a:rPr lang="ko-KR" altLang="en-US" sz="1200"/>
              <a:t>의 경우는 절차적으로 이미 잘 계획된</a:t>
            </a:r>
            <a:r>
              <a:rPr lang="en-US" altLang="ko-KR" sz="1200"/>
              <a:t>, PRD</a:t>
            </a:r>
            <a:r>
              <a:rPr lang="ko-KR" altLang="en-US" sz="1200"/>
              <a:t>를 기준으로 </a:t>
            </a:r>
            <a:r>
              <a:rPr lang="en-US" altLang="ko-KR" sz="1200"/>
              <a:t>Task</a:t>
            </a:r>
            <a:r>
              <a:rPr lang="ko-KR" altLang="en-US" sz="1200"/>
              <a:t>관리에 최적화된 도구이다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ko-KR" altLang="en-US" sz="1200"/>
              <a:t>두 </a:t>
            </a:r>
            <a:r>
              <a:rPr lang="en-US" altLang="ko-KR" sz="1200"/>
              <a:t>Task Master</a:t>
            </a:r>
            <a:r>
              <a:rPr lang="ko-KR" altLang="en-US" sz="1200"/>
              <a:t>의 경우에는 개발자의 현재 성향에 따라 사용하는데 서로다른 이점을 가질수 있다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Shrimp Task Master</a:t>
            </a:r>
          </a:p>
          <a:p>
            <a:pPr marL="228600" indent="-228600">
              <a:buAutoNum type="arabicPeriod"/>
            </a:pPr>
            <a:r>
              <a:rPr lang="ko-KR" altLang="en-US" sz="1200">
                <a:sym typeface="Wingdings" panose="05000000000000000000" pitchFamily="2" charset="2"/>
              </a:rPr>
              <a:t>시니어 개발자</a:t>
            </a:r>
            <a:endParaRPr lang="en-US" altLang="ko-KR" sz="120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en-US" altLang="ko-KR" sz="1200">
                <a:sym typeface="Wingdings" panose="05000000000000000000" pitchFamily="2" charset="2"/>
              </a:rPr>
              <a:t>PRD</a:t>
            </a:r>
            <a:r>
              <a:rPr lang="ko-KR" altLang="en-US" sz="1200">
                <a:sym typeface="Wingdings" panose="05000000000000000000" pitchFamily="2" charset="2"/>
              </a:rPr>
              <a:t> 가 완성 되어있지 않거나 모호한 경우</a:t>
            </a:r>
            <a:endParaRPr lang="en-US" altLang="ko-KR" sz="120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ko-KR" altLang="en-US" sz="1200">
                <a:sym typeface="Wingdings" panose="05000000000000000000" pitchFamily="2" charset="2"/>
              </a:rPr>
              <a:t>프로젝트 기능별로 유연하게 구현을 하고 싶을때</a:t>
            </a:r>
            <a:endParaRPr lang="en-US" altLang="ko-KR" sz="120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ko-KR" altLang="en-US" sz="1200"/>
              <a:t>팀과의 소통과 절차적 개발보다 빠르게 </a:t>
            </a:r>
            <a:r>
              <a:rPr lang="en-US" altLang="ko-KR" sz="1200"/>
              <a:t>MVP </a:t>
            </a:r>
            <a:r>
              <a:rPr lang="ko-KR" altLang="en-US" sz="1200"/>
              <a:t>를 개발을 서둘러야하는 경우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Task Master</a:t>
            </a:r>
          </a:p>
          <a:p>
            <a:pPr marL="228600" indent="-228600">
              <a:buAutoNum type="arabicPeriod"/>
            </a:pPr>
            <a:r>
              <a:rPr lang="ko-KR" altLang="en-US" sz="1200"/>
              <a:t>주니어</a:t>
            </a:r>
            <a:r>
              <a:rPr lang="en-US" altLang="ko-KR" sz="1200"/>
              <a:t> </a:t>
            </a:r>
            <a:r>
              <a:rPr lang="ko-KR" altLang="en-US" sz="1200"/>
              <a:t>및 프로 개발자</a:t>
            </a:r>
            <a:r>
              <a:rPr lang="en-US" altLang="ko-KR" sz="1200"/>
              <a:t>.</a:t>
            </a:r>
          </a:p>
          <a:p>
            <a:pPr marL="228600" indent="-228600">
              <a:buAutoNum type="arabicPeriod"/>
            </a:pPr>
            <a:r>
              <a:rPr lang="en-US" altLang="ko-KR" sz="1200"/>
              <a:t>PRD</a:t>
            </a:r>
            <a:r>
              <a:rPr lang="ko-KR" altLang="en-US" sz="1200"/>
              <a:t> 가 절차적으로 그리고 체계적으로 갖추어진 경우</a:t>
            </a:r>
            <a:r>
              <a:rPr lang="en-US" altLang="ko-KR" sz="1200"/>
              <a:t>.</a:t>
            </a:r>
          </a:p>
          <a:p>
            <a:pPr marL="228600" indent="-228600">
              <a:buAutoNum type="arabicPeriod"/>
            </a:pPr>
            <a:r>
              <a:rPr lang="ko-KR" altLang="en-US" sz="1200"/>
              <a:t>팀과의 소통 그리고 프로그램 기능이 순차적으로 작업되어야 하는 경우</a:t>
            </a:r>
            <a:r>
              <a:rPr lang="en-US" altLang="ko-KR" sz="1200"/>
              <a:t>.</a:t>
            </a:r>
            <a:br>
              <a:rPr lang="en-US" altLang="ko-KR" sz="1200"/>
            </a:b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743273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714F96-15EE-99BF-EFEA-7CFC34B6F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Task Master </a:t>
            </a:r>
            <a:r>
              <a:rPr lang="ko-KR" altLang="en-US"/>
              <a:t>초기화 명령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C24609-2A37-E9A1-F86B-73F1C371F69F}"/>
              </a:ext>
            </a:extLst>
          </p:cNvPr>
          <p:cNvSpPr txBox="1"/>
          <p:nvPr/>
        </p:nvSpPr>
        <p:spPr>
          <a:xfrm>
            <a:off x="1178351" y="1894788"/>
            <a:ext cx="10218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@.taskmaster </a:t>
            </a:r>
            <a:r>
              <a:rPr lang="en-US" altLang="ko-KR">
                <a:solidFill>
                  <a:srgbClr val="0000FF"/>
                </a:solidFill>
              </a:rPr>
              <a:t>tm init </a:t>
            </a:r>
            <a:r>
              <a:rPr lang="en-US" altLang="ko-KR">
                <a:sym typeface="Wingdings" panose="05000000000000000000" pitchFamily="2" charset="2"/>
              </a:rPr>
              <a:t> .taskmaster</a:t>
            </a:r>
            <a:r>
              <a:rPr lang="ko-KR" altLang="en-US">
                <a:sym typeface="Wingdings" panose="05000000000000000000" pitchFamily="2" charset="2"/>
              </a:rPr>
              <a:t> 디렉터리 구조의 뼈대를 만듬</a:t>
            </a:r>
            <a:r>
              <a:rPr lang="en-US" altLang="ko-KR">
                <a:sym typeface="Wingdings" panose="05000000000000000000" pitchFamily="2" charset="2"/>
              </a:rPr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403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71A08C-2DE2-3FE9-ED61-2646197F7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Task Master PRD</a:t>
            </a:r>
            <a:r>
              <a:rPr lang="ko-KR" altLang="en-US"/>
              <a:t> 생성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442E57B-30F7-8F38-21B9-79CCFEF09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50" y="1894788"/>
            <a:ext cx="4827750" cy="43751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01DEA8-F4C2-F7F4-4FE4-2E77B0B49D20}"/>
              </a:ext>
            </a:extLst>
          </p:cNvPr>
          <p:cNvSpPr txBox="1"/>
          <p:nvPr/>
        </p:nvSpPr>
        <p:spPr>
          <a:xfrm>
            <a:off x="5279010" y="1894788"/>
            <a:ext cx="6555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※ Shrimp Task Master</a:t>
            </a:r>
            <a:r>
              <a:rPr lang="ko-KR" altLang="en-US" sz="1400"/>
              <a:t>는 </a:t>
            </a:r>
            <a:r>
              <a:rPr lang="en-US" altLang="ko-KR" sz="1400"/>
              <a:t>PRD </a:t>
            </a:r>
            <a:r>
              <a:rPr lang="ko-KR" altLang="en-US" sz="1400"/>
              <a:t>문서까지 만들어주지만 </a:t>
            </a:r>
            <a:r>
              <a:rPr lang="en-US" altLang="ko-KR" sz="1400"/>
              <a:t>Task Master</a:t>
            </a:r>
            <a:r>
              <a:rPr lang="ko-KR" altLang="en-US" sz="1400"/>
              <a:t>는 </a:t>
            </a:r>
            <a:r>
              <a:rPr lang="en-US" altLang="ko-KR" sz="1400"/>
              <a:t>PRD </a:t>
            </a:r>
            <a:r>
              <a:rPr lang="ko-KR" altLang="en-US" sz="1400"/>
              <a:t>문서의 </a:t>
            </a:r>
            <a:br>
              <a:rPr lang="en-US" altLang="ko-KR" sz="1400"/>
            </a:br>
            <a:r>
              <a:rPr lang="en-US" altLang="ko-KR" sz="1400"/>
              <a:t>    </a:t>
            </a:r>
            <a:r>
              <a:rPr lang="ko-KR" altLang="en-US" sz="1400"/>
              <a:t>작성을 </a:t>
            </a:r>
            <a:r>
              <a:rPr lang="en-US" altLang="ko-KR" sz="1400"/>
              <a:t>Claude Code </a:t>
            </a:r>
            <a:r>
              <a:rPr lang="ko-KR" altLang="en-US" sz="1400"/>
              <a:t>에 요청한다</a:t>
            </a:r>
            <a:r>
              <a:rPr lang="en-US" altLang="ko-KR" sz="1400"/>
              <a:t>.</a:t>
            </a:r>
            <a:endParaRPr lang="ko-KR" altLang="en-US" sz="14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3C911-9ED2-A5C9-3DFB-0B2FC14B3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805" y="2575437"/>
            <a:ext cx="1783551" cy="171376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92B97D7-8789-9E36-0014-C9C2D31AA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9661" y="2575436"/>
            <a:ext cx="3335289" cy="29769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C80A81-C053-1A17-E55A-024B8858866A}"/>
              </a:ext>
            </a:extLst>
          </p:cNvPr>
          <p:cNvSpPr txBox="1"/>
          <p:nvPr/>
        </p:nvSpPr>
        <p:spPr>
          <a:xfrm>
            <a:off x="5315805" y="5552388"/>
            <a:ext cx="6693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Task Manager</a:t>
            </a:r>
            <a:r>
              <a:rPr lang="ko-KR" altLang="en-US" sz="1200"/>
              <a:t>는 </a:t>
            </a:r>
            <a:r>
              <a:rPr lang="en-US" altLang="ko-KR" sz="1200"/>
              <a:t>PRD </a:t>
            </a:r>
            <a:r>
              <a:rPr lang="ko-KR" altLang="en-US" sz="1200"/>
              <a:t>예제 샘플을 </a:t>
            </a:r>
            <a:r>
              <a:rPr lang="en-US" altLang="ko-KR" sz="1200"/>
              <a:t>.taskmaster/templates </a:t>
            </a:r>
            <a:r>
              <a:rPr lang="ko-KR" altLang="en-US" sz="1200"/>
              <a:t>폴더 내 제공한다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ko-KR" altLang="en-US" sz="1200"/>
              <a:t>해당 파일도 </a:t>
            </a:r>
            <a:r>
              <a:rPr lang="en-US" altLang="ko-KR" sz="1200"/>
              <a:t>PRD </a:t>
            </a:r>
            <a:r>
              <a:rPr lang="ko-KR" altLang="en-US" sz="1200"/>
              <a:t>요청과 함께 </a:t>
            </a:r>
            <a:r>
              <a:rPr lang="en-US" altLang="ko-KR" sz="1200"/>
              <a:t>Claude Code </a:t>
            </a:r>
            <a:r>
              <a:rPr lang="ko-KR" altLang="en-US" sz="1200"/>
              <a:t>에 제공하여</a:t>
            </a:r>
            <a:r>
              <a:rPr lang="en-US" altLang="ko-KR" sz="1200"/>
              <a:t>, </a:t>
            </a:r>
            <a:r>
              <a:rPr lang="ko-KR" altLang="en-US" sz="1200"/>
              <a:t>일관된 </a:t>
            </a:r>
            <a:r>
              <a:rPr lang="en-US" altLang="ko-KR" sz="1200"/>
              <a:t>PRD</a:t>
            </a:r>
            <a:r>
              <a:rPr lang="ko-KR" altLang="en-US" sz="1200"/>
              <a:t>를 얻는데 </a:t>
            </a:r>
            <a:br>
              <a:rPr lang="en-US" altLang="ko-KR" sz="1200"/>
            </a:br>
            <a:r>
              <a:rPr lang="ko-KR" altLang="en-US" sz="1200"/>
              <a:t>기여할 수 있다</a:t>
            </a:r>
            <a:r>
              <a:rPr lang="en-US" altLang="ko-KR" sz="1200"/>
              <a:t>.</a:t>
            </a:r>
            <a:br>
              <a:rPr lang="en-US" altLang="ko-KR" sz="1200"/>
            </a:br>
            <a:br>
              <a:rPr lang="en-US" altLang="ko-KR" sz="1200"/>
            </a:br>
            <a:r>
              <a:rPr lang="en-US" altLang="ko-KR" sz="1200"/>
              <a:t>※ PRD </a:t>
            </a:r>
            <a:r>
              <a:rPr lang="ko-KR" altLang="en-US" sz="1200"/>
              <a:t>문서는 잘못된 정보가 없는지 절차적으로 문제가 없는지 꼼꼼히 살펴보고</a:t>
            </a:r>
            <a:br>
              <a:rPr lang="en-US" altLang="ko-KR" sz="1200"/>
            </a:br>
            <a:r>
              <a:rPr lang="en-US" altLang="ko-KR" sz="1200"/>
              <a:t>    </a:t>
            </a:r>
            <a:r>
              <a:rPr lang="ko-KR" altLang="en-US" sz="1200"/>
              <a:t>계획</a:t>
            </a:r>
            <a:r>
              <a:rPr lang="en-US" altLang="ko-KR" sz="1200"/>
              <a:t>(</a:t>
            </a:r>
            <a:r>
              <a:rPr lang="ko-KR" altLang="en-US" sz="1200"/>
              <a:t>작업 </a:t>
            </a:r>
            <a:r>
              <a:rPr lang="en-US" altLang="ko-KR" sz="1200"/>
              <a:t>= Task)</a:t>
            </a:r>
            <a:r>
              <a:rPr lang="ko-KR" altLang="en-US" sz="1200"/>
              <a:t>을 작성을 요청해야한다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083399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BA0D2B-6D5B-FA37-7FA4-EF2474479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Task Master Task</a:t>
            </a:r>
            <a:r>
              <a:rPr lang="ko-KR" altLang="en-US"/>
              <a:t> 생성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A251D1-6C53-C03F-58B4-0E0103FDDBA3}"/>
              </a:ext>
            </a:extLst>
          </p:cNvPr>
          <p:cNvSpPr txBox="1"/>
          <p:nvPr/>
        </p:nvSpPr>
        <p:spPr>
          <a:xfrm>
            <a:off x="1084082" y="1904214"/>
            <a:ext cx="1008668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FF0000"/>
                </a:solidFill>
              </a:rPr>
              <a:t>@.taskmaster </a:t>
            </a:r>
            <a:r>
              <a:rPr lang="en-US" altLang="ko-KR" sz="1400">
                <a:solidFill>
                  <a:srgbClr val="0000FF"/>
                </a:solidFill>
              </a:rPr>
              <a:t>tm parse-prd </a:t>
            </a:r>
            <a:r>
              <a:rPr lang="en-US" altLang="ko-KR" sz="1400"/>
              <a:t>${path/prd.txt} </a:t>
            </a:r>
            <a:r>
              <a:rPr lang="en-US" altLang="ko-KR" sz="1400">
                <a:sym typeface="Wingdings" panose="05000000000000000000" pitchFamily="2" charset="2"/>
              </a:rPr>
              <a:t> PRD</a:t>
            </a:r>
            <a:r>
              <a:rPr lang="ko-KR" altLang="en-US" sz="1400">
                <a:sym typeface="Wingdings" panose="05000000000000000000" pitchFamily="2" charset="2"/>
              </a:rPr>
              <a:t> 파싱으로 </a:t>
            </a:r>
            <a:r>
              <a:rPr lang="en-US" altLang="ko-KR" sz="1400">
                <a:sym typeface="Wingdings" panose="05000000000000000000" pitchFamily="2" charset="2"/>
              </a:rPr>
              <a:t>Task </a:t>
            </a:r>
            <a:r>
              <a:rPr lang="ko-KR" altLang="en-US" sz="1400">
                <a:sym typeface="Wingdings" panose="05000000000000000000" pitchFamily="2" charset="2"/>
              </a:rPr>
              <a:t>생성 명령어</a:t>
            </a:r>
            <a:endParaRPr lang="en-US" altLang="ko-KR" sz="1400">
              <a:sym typeface="Wingdings" panose="05000000000000000000" pitchFamily="2" charset="2"/>
            </a:endParaRPr>
          </a:p>
          <a:p>
            <a:endParaRPr lang="en-US" altLang="ko-KR" sz="1400"/>
          </a:p>
          <a:p>
            <a:r>
              <a:rPr lang="en-US" altLang="ko-KR" sz="1400" b="1"/>
              <a:t>CLI </a:t>
            </a:r>
            <a:r>
              <a:rPr lang="ko-KR" altLang="en-US" sz="1400" b="1"/>
              <a:t>로 </a:t>
            </a:r>
            <a:r>
              <a:rPr lang="en-US" altLang="ko-KR" sz="1400" b="1"/>
              <a:t>Task Master</a:t>
            </a:r>
            <a:r>
              <a:rPr lang="ko-KR" altLang="en-US" sz="1400" b="1"/>
              <a:t>를 사용할 경우 </a:t>
            </a:r>
            <a:r>
              <a:rPr lang="en-US" altLang="ko-KR" sz="1400" b="1"/>
              <a:t>.env </a:t>
            </a:r>
            <a:r>
              <a:rPr lang="ko-KR" altLang="en-US" sz="1400" b="1"/>
              <a:t>파일에 </a:t>
            </a:r>
            <a:r>
              <a:rPr lang="en-US" altLang="ko-KR" sz="1400" b="1"/>
              <a:t>API Key </a:t>
            </a:r>
            <a:r>
              <a:rPr lang="ko-KR" altLang="en-US" sz="1400" b="1"/>
              <a:t>가 존재해야한다</a:t>
            </a:r>
            <a:r>
              <a:rPr lang="en-US" altLang="ko-KR" sz="1400" b="1"/>
              <a:t>. </a:t>
            </a:r>
            <a:br>
              <a:rPr lang="en-US" altLang="ko-KR" sz="1400"/>
            </a:br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ko-KR" altLang="en-US" sz="1400">
                <a:sym typeface="Wingdings" panose="05000000000000000000" pitchFamily="2" charset="2"/>
              </a:rPr>
              <a:t>그러나 </a:t>
            </a:r>
            <a:r>
              <a:rPr lang="en-US" altLang="ko-KR" sz="1400">
                <a:sym typeface="Wingdings" panose="05000000000000000000" pitchFamily="2" charset="2"/>
              </a:rPr>
              <a:t>claude code </a:t>
            </a:r>
            <a:r>
              <a:rPr lang="ko-KR" altLang="en-US" sz="1400">
                <a:sym typeface="Wingdings" panose="05000000000000000000" pitchFamily="2" charset="2"/>
              </a:rPr>
              <a:t>로 함으로 </a:t>
            </a:r>
            <a:r>
              <a:rPr lang="en-US" altLang="ko-KR" sz="1400">
                <a:sym typeface="Wingdings" panose="05000000000000000000" pitchFamily="2" charset="2"/>
              </a:rPr>
              <a:t>API Key </a:t>
            </a:r>
            <a:r>
              <a:rPr lang="ko-KR" altLang="en-US" sz="1400">
                <a:sym typeface="Wingdings" panose="05000000000000000000" pitchFamily="2" charset="2"/>
              </a:rPr>
              <a:t>자체가 없음</a:t>
            </a:r>
            <a:r>
              <a:rPr lang="en-US" altLang="ko-KR" sz="1400">
                <a:sym typeface="Wingdings" panose="05000000000000000000" pitchFamily="2" charset="2"/>
              </a:rPr>
              <a:t>. (</a:t>
            </a:r>
            <a:r>
              <a:rPr lang="ko-KR" altLang="en-US" sz="1400">
                <a:sym typeface="Wingdings" panose="05000000000000000000" pitchFamily="2" charset="2"/>
              </a:rPr>
              <a:t>만약 </a:t>
            </a:r>
            <a:r>
              <a:rPr lang="en-US" altLang="ko-KR" sz="1400">
                <a:sym typeface="Wingdings" panose="05000000000000000000" pitchFamily="2" charset="2"/>
              </a:rPr>
              <a:t>API</a:t>
            </a:r>
            <a:r>
              <a:rPr lang="ko-KR" altLang="en-US" sz="1400">
                <a:sym typeface="Wingdings" panose="05000000000000000000" pitchFamily="2" charset="2"/>
              </a:rPr>
              <a:t>로 사용량에 따른 요금 결제를 원할 시에 참고</a:t>
            </a:r>
            <a:r>
              <a:rPr lang="en-US" altLang="ko-KR" sz="1400">
                <a:sym typeface="Wingdings" panose="05000000000000000000" pitchFamily="2" charset="2"/>
              </a:rPr>
              <a:t>)</a:t>
            </a:r>
          </a:p>
          <a:p>
            <a:endParaRPr lang="ko-KR" altLang="en-US" sz="14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7FEA33-B6AD-DF41-A58B-87E87B6B5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073765"/>
            <a:ext cx="6782747" cy="65731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3CD92F3-96BB-1698-DC19-D5F4429FA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1" y="3869077"/>
            <a:ext cx="6796778" cy="22300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DFC63F-F1F1-DA53-1874-9D03770813AF}"/>
              </a:ext>
            </a:extLst>
          </p:cNvPr>
          <p:cNvSpPr txBox="1"/>
          <p:nvPr/>
        </p:nvSpPr>
        <p:spPr>
          <a:xfrm>
            <a:off x="7894059" y="3869077"/>
            <a:ext cx="404970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task</a:t>
            </a:r>
            <a:r>
              <a:rPr lang="ko-KR" altLang="en-US" sz="1400"/>
              <a:t> 생성 결과</a:t>
            </a:r>
            <a:br>
              <a:rPr lang="en-US" altLang="ko-KR" sz="1400"/>
            </a:br>
            <a:br>
              <a:rPr lang="en-US" altLang="ko-KR" sz="1200"/>
            </a:br>
            <a:r>
              <a:rPr lang="en-US" altLang="ko-KR" sz="1200"/>
              <a:t>@.task-master </a:t>
            </a:r>
            <a:r>
              <a:rPr lang="en-US" altLang="ko-KR" sz="1200">
                <a:solidFill>
                  <a:srgbClr val="0000FF"/>
                </a:solidFill>
              </a:rPr>
              <a:t>tm list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작업 목록 확인</a:t>
            </a:r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>
                <a:sym typeface="Wingdings" panose="05000000000000000000" pitchFamily="2" charset="2"/>
              </a:rPr>
              <a:t>@.task-master</a:t>
            </a:r>
            <a:r>
              <a:rPr lang="ko-KR" altLang="en-US" sz="1200">
                <a:sym typeface="Wingdings" panose="05000000000000000000" pitchFamily="2" charset="2"/>
              </a:rPr>
              <a:t> </a:t>
            </a:r>
            <a:r>
              <a:rPr lang="en-US" altLang="ko-KR" sz="1200">
                <a:solidFill>
                  <a:srgbClr val="0000FF"/>
                </a:solidFill>
                <a:sym typeface="Wingdings" panose="05000000000000000000" pitchFamily="2" charset="2"/>
              </a:rPr>
              <a:t>tm</a:t>
            </a:r>
            <a:r>
              <a:rPr lang="ko-KR" altLang="en-US" sz="1200">
                <a:solidFill>
                  <a:srgbClr val="0000FF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200">
                <a:solidFill>
                  <a:srgbClr val="0000FF"/>
                </a:solidFill>
                <a:sym typeface="Wingdings" panose="05000000000000000000" pitchFamily="2" charset="2"/>
              </a:rPr>
              <a:t>expend</a:t>
            </a:r>
            <a:r>
              <a:rPr lang="ko-KR" altLang="en-US" sz="1200">
                <a:solidFill>
                  <a:srgbClr val="0000FF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200">
                <a:solidFill>
                  <a:srgbClr val="0000FF"/>
                </a:solidFill>
                <a:sym typeface="Wingdings" panose="05000000000000000000" pitchFamily="2" charset="2"/>
              </a:rPr>
              <a:t>--id=&lt;id&gt;</a:t>
            </a:r>
            <a:r>
              <a:rPr lang="en-US" altLang="ko-KR" sz="1200">
                <a:sym typeface="Wingdings" panose="05000000000000000000" pitchFamily="2" charset="2"/>
              </a:rPr>
              <a:t>  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     </a:t>
            </a:r>
            <a:r>
              <a:rPr lang="ko-KR" altLang="en-US" sz="1200">
                <a:sym typeface="Wingdings" panose="05000000000000000000" pitchFamily="2" charset="2"/>
              </a:rPr>
              <a:t>작업 번호에 대한 세부 작업 분할 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763418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2D5464-B8C8-3B1D-D736-70A0BE91E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Task Master List </a:t>
            </a:r>
            <a:r>
              <a:rPr lang="ko-KR" altLang="en-US"/>
              <a:t>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6C5E410-E977-09FA-BCD8-7178F22E6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99" y="1942281"/>
            <a:ext cx="7068536" cy="39915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F73B1A-60DD-1E3D-B594-06667FC6F804}"/>
              </a:ext>
            </a:extLst>
          </p:cNvPr>
          <p:cNvSpPr txBox="1"/>
          <p:nvPr/>
        </p:nvSpPr>
        <p:spPr>
          <a:xfrm>
            <a:off x="7475456" y="1942281"/>
            <a:ext cx="45154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F0000"/>
                </a:solidFill>
              </a:rPr>
              <a:t>@.taskmaster</a:t>
            </a:r>
            <a:r>
              <a:rPr lang="ko-KR" altLang="en-US" sz="1200">
                <a:solidFill>
                  <a:srgbClr val="FF0000"/>
                </a:solidFill>
              </a:rPr>
              <a:t> </a:t>
            </a:r>
            <a:r>
              <a:rPr lang="en-US" altLang="ko-KR" sz="1200">
                <a:solidFill>
                  <a:srgbClr val="0000FF"/>
                </a:solidFill>
              </a:rPr>
              <a:t>tm</a:t>
            </a:r>
            <a:r>
              <a:rPr lang="ko-KR" altLang="en-US" sz="1200">
                <a:solidFill>
                  <a:srgbClr val="0000FF"/>
                </a:solidFill>
              </a:rPr>
              <a:t> </a:t>
            </a:r>
            <a:r>
              <a:rPr lang="en-US" altLang="ko-KR" sz="1200">
                <a:solidFill>
                  <a:srgbClr val="0000FF"/>
                </a:solidFill>
              </a:rPr>
              <a:t>list</a:t>
            </a:r>
            <a:r>
              <a:rPr lang="ko-KR" altLang="en-US" sz="1200">
                <a:solidFill>
                  <a:srgbClr val="0000FF"/>
                </a:solidFill>
              </a:rPr>
              <a:t> </a:t>
            </a:r>
            <a:endParaRPr lang="en-US" altLang="ko-KR" sz="1200">
              <a:solidFill>
                <a:srgbClr val="0000FF"/>
              </a:solidFill>
            </a:endParaRPr>
          </a:p>
          <a:p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해당 명령을 통해 작업순서</a:t>
            </a:r>
            <a:r>
              <a:rPr lang="en-US" altLang="ko-KR" sz="1200">
                <a:sym typeface="Wingdings" panose="05000000000000000000" pitchFamily="2" charset="2"/>
              </a:rPr>
              <a:t>, </a:t>
            </a:r>
            <a:r>
              <a:rPr lang="ko-KR" altLang="en-US" sz="1200">
                <a:sym typeface="Wingdings" panose="05000000000000000000" pitchFamily="2" charset="2"/>
              </a:rPr>
              <a:t>타이틀</a:t>
            </a:r>
            <a:r>
              <a:rPr lang="en-US" altLang="ko-KR" sz="1200">
                <a:sym typeface="Wingdings" panose="05000000000000000000" pitchFamily="2" charset="2"/>
              </a:rPr>
              <a:t>,  </a:t>
            </a:r>
            <a:r>
              <a:rPr lang="ko-KR" altLang="en-US" sz="1200">
                <a:sym typeface="Wingdings" panose="05000000000000000000" pitchFamily="2" charset="2"/>
              </a:rPr>
              <a:t>상태</a:t>
            </a:r>
            <a:r>
              <a:rPr lang="en-US" altLang="ko-KR" sz="1200">
                <a:sym typeface="Wingdings" panose="05000000000000000000" pitchFamily="2" charset="2"/>
              </a:rPr>
              <a:t>, </a:t>
            </a:r>
            <a:r>
              <a:rPr lang="ko-KR" altLang="en-US" sz="1200">
                <a:sym typeface="Wingdings" panose="05000000000000000000" pitchFamily="2" charset="2"/>
              </a:rPr>
              <a:t>우선순위</a:t>
            </a:r>
            <a:r>
              <a:rPr lang="en-US" altLang="ko-KR" sz="1200">
                <a:sym typeface="Wingdings" panose="05000000000000000000" pitchFamily="2" charset="2"/>
              </a:rPr>
              <a:t>, </a:t>
            </a:r>
            <a:r>
              <a:rPr lang="ko-KR" altLang="en-US" sz="1200">
                <a:sym typeface="Wingdings" panose="05000000000000000000" pitchFamily="2" charset="2"/>
              </a:rPr>
              <a:t>의존작업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    </a:t>
            </a:r>
            <a:r>
              <a:rPr lang="ko-KR" altLang="en-US" sz="1200">
                <a:sym typeface="Wingdings" panose="05000000000000000000" pitchFamily="2" charset="2"/>
              </a:rPr>
              <a:t>으로 확인할 수 있다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br>
              <a:rPr lang="en-US" altLang="ko-KR" sz="1200">
                <a:sym typeface="Wingdings" panose="05000000000000000000" pitchFamily="2" charset="2"/>
              </a:rPr>
            </a:b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859165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894F33-F6AE-A56D-C41C-31E69ADF1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Task Master </a:t>
            </a:r>
            <a:r>
              <a:rPr lang="ko-KR" altLang="en-US"/>
              <a:t>작업 복잡도 분석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803EBE-CD2A-BAD3-77F3-27C8E090D5F1}"/>
              </a:ext>
            </a:extLst>
          </p:cNvPr>
          <p:cNvSpPr txBox="1"/>
          <p:nvPr/>
        </p:nvSpPr>
        <p:spPr>
          <a:xfrm>
            <a:off x="6454701" y="1855865"/>
            <a:ext cx="48360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F0000"/>
                </a:solidFill>
              </a:rPr>
              <a:t>@.taskmaster</a:t>
            </a:r>
            <a:r>
              <a:rPr lang="ko-KR" altLang="en-US" sz="1200">
                <a:solidFill>
                  <a:srgbClr val="FF0000"/>
                </a:solidFill>
              </a:rPr>
              <a:t> </a:t>
            </a:r>
            <a:r>
              <a:rPr lang="en-US" altLang="ko-KR" sz="1200">
                <a:solidFill>
                  <a:srgbClr val="0000FF"/>
                </a:solidFill>
              </a:rPr>
              <a:t>tm analyze-complexity</a:t>
            </a:r>
          </a:p>
          <a:p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해당 명령으로 작업 복잡도를 확인할 수 있다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br>
              <a:rPr lang="en-US" altLang="ko-KR" sz="1200">
                <a:sym typeface="Wingdings" panose="05000000000000000000" pitchFamily="2" charset="2"/>
              </a:rPr>
            </a:b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※ </a:t>
            </a:r>
            <a:r>
              <a:rPr lang="ko-KR" altLang="en-US" sz="1200">
                <a:sym typeface="Wingdings" panose="05000000000000000000" pitchFamily="2" charset="2"/>
              </a:rPr>
              <a:t>복잡도 뿐만아니라 설명까지 확인하고 싶으면 </a:t>
            </a:r>
            <a:r>
              <a:rPr lang="en-US" altLang="ko-KR" sz="1200">
                <a:sym typeface="Wingdings" panose="05000000000000000000" pitchFamily="2" charset="2"/>
              </a:rPr>
              <a:t>complexity-report</a:t>
            </a:r>
            <a:endParaRPr lang="ko-KR" altLang="en-US" sz="1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A5BF12D-5ED6-8661-C931-67C21859D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860" y="1855865"/>
            <a:ext cx="5053845" cy="432812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62CF3F9-4130-18E8-75AC-8DCB90492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701" y="3227130"/>
            <a:ext cx="4836048" cy="79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273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47D64A-F121-6291-9667-753CDE969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Task Master Task </a:t>
            </a:r>
            <a:r>
              <a:rPr lang="ko-KR" altLang="en-US"/>
              <a:t>나누기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8A3FE8A-D705-2821-8CED-7BA7B8F57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64" y="1903820"/>
            <a:ext cx="5752411" cy="12541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5888AB-A155-9F51-4A6F-1EDB23DBFEB0}"/>
              </a:ext>
            </a:extLst>
          </p:cNvPr>
          <p:cNvSpPr txBox="1"/>
          <p:nvPr/>
        </p:nvSpPr>
        <p:spPr>
          <a:xfrm>
            <a:off x="6096000" y="1903820"/>
            <a:ext cx="54047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@.taskmaster tm expand –all </a:t>
            </a:r>
            <a:r>
              <a:rPr lang="en-US" altLang="ko-KR" sz="1100">
                <a:sym typeface="Wingdings" panose="05000000000000000000" pitchFamily="2" charset="2"/>
              </a:rPr>
              <a:t> </a:t>
            </a:r>
            <a:r>
              <a:rPr lang="ko-KR" altLang="en-US" sz="1100">
                <a:sym typeface="Wingdings" panose="05000000000000000000" pitchFamily="2" charset="2"/>
              </a:rPr>
              <a:t>모든 작업에 대하여 복잡도 순으로 세부 작업으로 쪼갬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@.taskmaster</a:t>
            </a:r>
            <a:r>
              <a:rPr lang="ko-KR" altLang="en-US" sz="1100">
                <a:sym typeface="Wingdings" panose="05000000000000000000" pitchFamily="2" charset="2"/>
              </a:rPr>
              <a:t> </a:t>
            </a:r>
            <a:r>
              <a:rPr lang="en-US" altLang="ko-KR" sz="1100">
                <a:sym typeface="Wingdings" panose="05000000000000000000" pitchFamily="2" charset="2"/>
              </a:rPr>
              <a:t>tm</a:t>
            </a:r>
            <a:r>
              <a:rPr lang="ko-KR" altLang="en-US" sz="1100">
                <a:sym typeface="Wingdings" panose="05000000000000000000" pitchFamily="2" charset="2"/>
              </a:rPr>
              <a:t> </a:t>
            </a:r>
            <a:r>
              <a:rPr lang="en-US" altLang="ko-KR" sz="1100">
                <a:sym typeface="Wingdings" panose="05000000000000000000" pitchFamily="2" charset="2"/>
              </a:rPr>
              <a:t>expand</a:t>
            </a:r>
            <a:r>
              <a:rPr lang="ko-KR" altLang="en-US" sz="1100">
                <a:sym typeface="Wingdings" panose="05000000000000000000" pitchFamily="2" charset="2"/>
              </a:rPr>
              <a:t> </a:t>
            </a:r>
            <a:r>
              <a:rPr lang="en-US" altLang="ko-KR" sz="1100">
                <a:sym typeface="Wingdings" panose="05000000000000000000" pitchFamily="2" charset="2"/>
              </a:rPr>
              <a:t>--id = &lt;id&gt;  </a:t>
            </a:r>
            <a:r>
              <a:rPr lang="ko-KR" altLang="en-US" sz="1100">
                <a:sym typeface="Wingdings" panose="05000000000000000000" pitchFamily="2" charset="2"/>
              </a:rPr>
              <a:t>특정 작업을 세부 작업으로 나눔</a:t>
            </a:r>
            <a:r>
              <a:rPr lang="en-US" altLang="ko-KR" sz="1100">
                <a:sym typeface="Wingdings" panose="05000000000000000000" pitchFamily="2" charset="2"/>
              </a:rPr>
              <a:t>.</a:t>
            </a:r>
            <a:r>
              <a:rPr lang="ko-KR" altLang="en-US" sz="1100">
                <a:sym typeface="Wingdings" panose="05000000000000000000" pitchFamily="2" charset="2"/>
              </a:rPr>
              <a:t> 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4094347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E1B4A0-DD6F-2C19-66F3-05DB578BC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Task Master </a:t>
            </a:r>
            <a:r>
              <a:rPr lang="ko-KR" altLang="en-US"/>
              <a:t>사용 </a:t>
            </a:r>
            <a:r>
              <a:rPr lang="en-US" altLang="ko-KR"/>
              <a:t>Work Flow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213DB-F3E5-F3FC-7DFD-63E7B8C8C5AB}"/>
              </a:ext>
            </a:extLst>
          </p:cNvPr>
          <p:cNvSpPr txBox="1"/>
          <p:nvPr/>
        </p:nvSpPr>
        <p:spPr>
          <a:xfrm>
            <a:off x="1197204" y="1875934"/>
            <a:ext cx="9958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</a:rPr>
              <a:t>tm status</a:t>
            </a:r>
            <a:r>
              <a:rPr lang="en-US" altLang="ko-KR" sz="1200"/>
              <a:t> [</a:t>
            </a:r>
            <a:r>
              <a:rPr lang="ko-KR" altLang="en-US" sz="1200"/>
              <a:t>작업 상태 확인</a:t>
            </a:r>
            <a:r>
              <a:rPr lang="en-US" altLang="ko-KR" sz="1200"/>
              <a:t>] -&gt; pending(</a:t>
            </a:r>
            <a:r>
              <a:rPr lang="ko-KR" altLang="en-US" sz="1200"/>
              <a:t>보류중</a:t>
            </a:r>
            <a:r>
              <a:rPr lang="en-US" altLang="ko-KR" sz="1200"/>
              <a:t>) , in-progress(</a:t>
            </a:r>
            <a:r>
              <a:rPr lang="ko-KR" altLang="en-US" sz="1200"/>
              <a:t>작업중</a:t>
            </a:r>
            <a:r>
              <a:rPr lang="en-US" altLang="ko-KR" sz="1200"/>
              <a:t>), done(</a:t>
            </a:r>
            <a:r>
              <a:rPr lang="ko-KR" altLang="en-US" sz="1200"/>
              <a:t>완료</a:t>
            </a:r>
            <a:r>
              <a:rPr lang="en-US" altLang="ko-KR" sz="1200"/>
              <a:t>), review(</a:t>
            </a:r>
            <a:r>
              <a:rPr lang="ko-KR" altLang="en-US" sz="1200"/>
              <a:t>검토</a:t>
            </a:r>
            <a:r>
              <a:rPr lang="en-US" altLang="ko-KR" sz="1200"/>
              <a:t>), deferred(</a:t>
            </a:r>
            <a:r>
              <a:rPr lang="ko-KR" altLang="en-US" sz="1200"/>
              <a:t>연기됨</a:t>
            </a:r>
            <a:r>
              <a:rPr lang="en-US" altLang="ko-KR" sz="1200"/>
              <a:t>), cancelled</a:t>
            </a:r>
            <a:r>
              <a:rPr lang="ko-KR" altLang="en-US" sz="1200"/>
              <a:t> </a:t>
            </a:r>
            <a:r>
              <a:rPr lang="en-US" altLang="ko-KR" sz="1200"/>
              <a:t>(</a:t>
            </a:r>
            <a:r>
              <a:rPr lang="ko-KR" altLang="en-US" sz="1200"/>
              <a:t>취소됨</a:t>
            </a:r>
            <a:r>
              <a:rPr lang="en-US" altLang="ko-KR" sz="1200"/>
              <a:t>)</a:t>
            </a:r>
          </a:p>
          <a:p>
            <a:endParaRPr lang="en-US" altLang="ko-KR" sz="1200"/>
          </a:p>
          <a:p>
            <a:endParaRPr lang="ko-KR" altLang="en-US" sz="1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D14E31-700B-C680-E60D-C63E83138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045" y="3868422"/>
            <a:ext cx="4105848" cy="12670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4FAD82-D3BC-95FF-4029-6996A14222FE}"/>
              </a:ext>
            </a:extLst>
          </p:cNvPr>
          <p:cNvSpPr txBox="1"/>
          <p:nvPr/>
        </p:nvSpPr>
        <p:spPr>
          <a:xfrm>
            <a:off x="1197204" y="2328421"/>
            <a:ext cx="97975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/>
              <a:t>PRD</a:t>
            </a:r>
            <a:r>
              <a:rPr lang="ko-KR" altLang="en-US"/>
              <a:t> 생성 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PRD </a:t>
            </a:r>
            <a:r>
              <a:rPr lang="ko-KR" altLang="en-US"/>
              <a:t>검토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PRD</a:t>
            </a:r>
            <a:r>
              <a:rPr lang="ko-KR" altLang="en-US"/>
              <a:t> 기반 </a:t>
            </a:r>
            <a:r>
              <a:rPr lang="en-US" altLang="ko-KR"/>
              <a:t>Task </a:t>
            </a:r>
            <a:r>
              <a:rPr lang="ko-KR" altLang="en-US"/>
              <a:t>생성</a:t>
            </a:r>
            <a:r>
              <a:rPr lang="en-US" altLang="ko-KR"/>
              <a:t> </a:t>
            </a:r>
          </a:p>
          <a:p>
            <a:pPr marL="342900" indent="-342900">
              <a:buAutoNum type="arabicPeriod"/>
            </a:pPr>
            <a:r>
              <a:rPr lang="ko-KR" altLang="en-US"/>
              <a:t>작업 복잡도 </a:t>
            </a:r>
            <a:r>
              <a:rPr lang="en-US" altLang="ko-KR"/>
              <a:t>/ </a:t>
            </a:r>
            <a:r>
              <a:rPr lang="ko-KR" altLang="en-US"/>
              <a:t>세부 작업 필요 여부 확인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작업 요청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704200-4C28-07B3-CCEA-9FB475CE4A27}"/>
              </a:ext>
            </a:extLst>
          </p:cNvPr>
          <p:cNvSpPr txBox="1"/>
          <p:nvPr/>
        </p:nvSpPr>
        <p:spPr>
          <a:xfrm>
            <a:off x="1282045" y="5198097"/>
            <a:ext cx="4110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※ </a:t>
            </a:r>
            <a:r>
              <a:rPr lang="ko-KR" altLang="en-US" sz="1200"/>
              <a:t>작업 요청 예</a:t>
            </a:r>
          </a:p>
        </p:txBody>
      </p:sp>
    </p:spTree>
    <p:extLst>
      <p:ext uri="{BB962C8B-B14F-4D97-AF65-F5344CB8AC3E}">
        <p14:creationId xmlns:p14="http://schemas.microsoft.com/office/powerpoint/2010/main" val="4287326412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183</TotalTime>
  <Words>1137</Words>
  <Application>Microsoft Office PowerPoint</Application>
  <PresentationFormat>와이드스크린</PresentationFormat>
  <Paragraphs>113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Calibri</vt:lpstr>
      <vt:lpstr>Calibri Light</vt:lpstr>
      <vt:lpstr>Wingdings</vt:lpstr>
      <vt:lpstr>추억</vt:lpstr>
      <vt:lpstr>Task Master AI</vt:lpstr>
      <vt:lpstr>Task Master AI 필요성</vt:lpstr>
      <vt:lpstr>Cli - Install </vt:lpstr>
      <vt:lpstr>MCP – Install (1)</vt:lpstr>
      <vt:lpstr>MCP – 복사 붙여넣기 </vt:lpstr>
      <vt:lpstr>MCP – Install (2)  [.mcp.json설정]</vt:lpstr>
      <vt:lpstr>MCP – Install (3) [CLI 설치 진행]</vt:lpstr>
      <vt:lpstr>API 키를 활성화 하고 싶은경우. (사용량에 따라 유료 금액)</vt:lpstr>
      <vt:lpstr>Task Manager 사용가능 모델 확인</vt:lpstr>
      <vt:lpstr>현재 셋팅 모델 확인 및 변경</vt:lpstr>
      <vt:lpstr>Shrimp Task Master 와 Task Master - 특징</vt:lpstr>
      <vt:lpstr>Task Master 초기화 명령</vt:lpstr>
      <vt:lpstr>Task Master PRD 생성.</vt:lpstr>
      <vt:lpstr>Task Master Task 생성</vt:lpstr>
      <vt:lpstr>Task Master List 확인</vt:lpstr>
      <vt:lpstr>Task Master 작업 복잡도 분석</vt:lpstr>
      <vt:lpstr>Task Master Task 나누기</vt:lpstr>
      <vt:lpstr>Task Master 사용 Work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53</cp:revision>
  <dcterms:created xsi:type="dcterms:W3CDTF">2026-07-01T12:22:44Z</dcterms:created>
  <dcterms:modified xsi:type="dcterms:W3CDTF">2026-07-02T07:39:43Z</dcterms:modified>
</cp:coreProperties>
</file>