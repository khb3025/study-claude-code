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458E80A-4D91-4E56-B938-D02BCAC38098}">
          <p14:sldIdLst>
            <p14:sldId id="256"/>
            <p14:sldId id="257"/>
            <p14:sldId id="258"/>
            <p14:sldId id="259"/>
            <p14:sldId id="260"/>
          </p14:sldIdLst>
        </p14:section>
        <p14:section name="PRD, ROADMAP" id="{A9C28F5E-89D2-44AD-8647-0054FF1CD4F4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4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0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38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24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22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29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1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4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29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4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9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B8F06FD-BA88-44E4-8E41-5CCB7BADD75D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06A7AE-D543-49DD-9143-BB0E1732251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5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6BFE8-1738-3465-74E9-9339D30D7E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ROADMAP </a:t>
            </a:r>
            <a:r>
              <a:rPr lang="ko-KR" altLang="en-US"/>
              <a:t>작성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199BC7-456E-02A2-D653-A3ABA9EC1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09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936BC-8F6E-2408-583C-E68055A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강의가 추천하는 워크 </a:t>
            </a:r>
            <a:r>
              <a:rPr lang="en-US" altLang="ko-KR"/>
              <a:t>Flow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8D874B0-5386-2908-AF9E-209AB7A8EF97}"/>
              </a:ext>
            </a:extLst>
          </p:cNvPr>
          <p:cNvGrpSpPr/>
          <p:nvPr/>
        </p:nvGrpSpPr>
        <p:grpSpPr>
          <a:xfrm>
            <a:off x="1263192" y="1960775"/>
            <a:ext cx="4260915" cy="367646"/>
            <a:chOff x="1263192" y="1960775"/>
            <a:chExt cx="4260915" cy="3676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39CC070-3964-4703-99C7-3BDB461F3C26}"/>
                </a:ext>
              </a:extLst>
            </p:cNvPr>
            <p:cNvSpPr/>
            <p:nvPr/>
          </p:nvSpPr>
          <p:spPr>
            <a:xfrm>
              <a:off x="1263192" y="1960775"/>
              <a:ext cx="4260915" cy="36764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    RoadMap</a:t>
              </a:r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B2FD9E-6030-DEA7-64E9-7F7D670402E7}"/>
                </a:ext>
              </a:extLst>
            </p:cNvPr>
            <p:cNvSpPr/>
            <p:nvPr/>
          </p:nvSpPr>
          <p:spPr>
            <a:xfrm>
              <a:off x="1319753" y="2012622"/>
              <a:ext cx="641022" cy="26395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작업</a:t>
              </a:r>
              <a:r>
                <a:rPr lang="en-US" altLang="ko-KR" sz="1200">
                  <a:solidFill>
                    <a:schemeClr val="tx1"/>
                  </a:solidFill>
                </a:rPr>
                <a:t>1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EADD54B-BF35-B163-EDEF-F3DF7380D980}"/>
                </a:ext>
              </a:extLst>
            </p:cNvPr>
            <p:cNvSpPr/>
            <p:nvPr/>
          </p:nvSpPr>
          <p:spPr>
            <a:xfrm>
              <a:off x="2017336" y="2012621"/>
              <a:ext cx="641022" cy="26395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작업</a:t>
              </a:r>
              <a:r>
                <a:rPr lang="en-US" altLang="ko-KR" sz="1200">
                  <a:solidFill>
                    <a:schemeClr val="tx1"/>
                  </a:solidFill>
                </a:rPr>
                <a:t>2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1349080-AD3F-E463-E434-CF9CF7886FE2}"/>
                </a:ext>
              </a:extLst>
            </p:cNvPr>
            <p:cNvSpPr/>
            <p:nvPr/>
          </p:nvSpPr>
          <p:spPr>
            <a:xfrm>
              <a:off x="2696066" y="2135169"/>
              <a:ext cx="122549" cy="13197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48EDBA1-467D-259B-2DCE-46DB470E411A}"/>
                </a:ext>
              </a:extLst>
            </p:cNvPr>
            <p:cNvSpPr/>
            <p:nvPr/>
          </p:nvSpPr>
          <p:spPr>
            <a:xfrm>
              <a:off x="2848466" y="2127310"/>
              <a:ext cx="122549" cy="13197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706711F-4D3C-61BA-1F9A-3A523A9BF646}"/>
                </a:ext>
              </a:extLst>
            </p:cNvPr>
            <p:cNvSpPr/>
            <p:nvPr/>
          </p:nvSpPr>
          <p:spPr>
            <a:xfrm>
              <a:off x="4271912" y="2136737"/>
              <a:ext cx="122549" cy="13197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83C7831-A58C-052F-5E0F-07A8B5A34762}"/>
                </a:ext>
              </a:extLst>
            </p:cNvPr>
            <p:cNvSpPr/>
            <p:nvPr/>
          </p:nvSpPr>
          <p:spPr>
            <a:xfrm>
              <a:off x="4424312" y="2138305"/>
              <a:ext cx="122549" cy="13197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D68524F-9CB5-E072-89EA-2FA122EB282E}"/>
                </a:ext>
              </a:extLst>
            </p:cNvPr>
            <p:cNvSpPr/>
            <p:nvPr/>
          </p:nvSpPr>
          <p:spPr>
            <a:xfrm>
              <a:off x="4576712" y="2130446"/>
              <a:ext cx="122549" cy="13197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DFBBC0-A6DD-D946-6EB5-28917EFF5EC6}"/>
                </a:ext>
              </a:extLst>
            </p:cNvPr>
            <p:cNvSpPr/>
            <p:nvPr/>
          </p:nvSpPr>
          <p:spPr>
            <a:xfrm>
              <a:off x="4736969" y="2014189"/>
              <a:ext cx="641022" cy="26395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작업</a:t>
              </a:r>
              <a:r>
                <a:rPr lang="en-US" altLang="ko-KR" sz="1200">
                  <a:solidFill>
                    <a:schemeClr val="tx1"/>
                  </a:solidFill>
                </a:rPr>
                <a:t>N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0867A98-2ADA-16D3-A65A-894F23E094CA}"/>
              </a:ext>
            </a:extLst>
          </p:cNvPr>
          <p:cNvCxnSpPr>
            <a:stCxn id="4" idx="2"/>
          </p:cNvCxnSpPr>
          <p:nvPr/>
        </p:nvCxnSpPr>
        <p:spPr>
          <a:xfrm>
            <a:off x="1640264" y="2276573"/>
            <a:ext cx="0" cy="7400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8967EB-1866-1951-A6E9-78BA40029D1B}"/>
              </a:ext>
            </a:extLst>
          </p:cNvPr>
          <p:cNvSpPr/>
          <p:nvPr/>
        </p:nvSpPr>
        <p:spPr>
          <a:xfrm>
            <a:off x="1263191" y="3129699"/>
            <a:ext cx="4832807" cy="367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taskManager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CB3B4F-FE32-476F-53EF-45B0DEB5580D}"/>
              </a:ext>
            </a:extLst>
          </p:cNvPr>
          <p:cNvSpPr/>
          <p:nvPr/>
        </p:nvSpPr>
        <p:spPr>
          <a:xfrm>
            <a:off x="1319753" y="3181546"/>
            <a:ext cx="641022" cy="2639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작업</a:t>
            </a:r>
            <a:r>
              <a:rPr lang="en-US" altLang="ko-KR" sz="1100">
                <a:solidFill>
                  <a:schemeClr val="tx1"/>
                </a:solidFill>
              </a:rPr>
              <a:t>1.1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61935E-94FE-2EDC-D13E-CC0A8418D5DD}"/>
              </a:ext>
            </a:extLst>
          </p:cNvPr>
          <p:cNvSpPr/>
          <p:nvPr/>
        </p:nvSpPr>
        <p:spPr>
          <a:xfrm>
            <a:off x="2017336" y="3181546"/>
            <a:ext cx="641022" cy="2639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작업</a:t>
            </a:r>
            <a:r>
              <a:rPr lang="en-US" altLang="ko-KR" sz="1100">
                <a:solidFill>
                  <a:schemeClr val="tx1"/>
                </a:solidFill>
              </a:rPr>
              <a:t>1.2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62A2643-74DC-2AB7-FB1E-3A5BE1C09C21}"/>
              </a:ext>
            </a:extLst>
          </p:cNvPr>
          <p:cNvSpPr/>
          <p:nvPr/>
        </p:nvSpPr>
        <p:spPr>
          <a:xfrm>
            <a:off x="2716488" y="3315091"/>
            <a:ext cx="122549" cy="13197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7665C28-7949-37DA-4AB5-6B0821D80A4A}"/>
              </a:ext>
            </a:extLst>
          </p:cNvPr>
          <p:cNvSpPr/>
          <p:nvPr/>
        </p:nvSpPr>
        <p:spPr>
          <a:xfrm>
            <a:off x="2868888" y="3307232"/>
            <a:ext cx="122549" cy="13197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77960B5-F16E-7BAE-4701-8626D11F1240}"/>
              </a:ext>
            </a:extLst>
          </p:cNvPr>
          <p:cNvSpPr/>
          <p:nvPr/>
        </p:nvSpPr>
        <p:spPr>
          <a:xfrm>
            <a:off x="4424312" y="3297811"/>
            <a:ext cx="122549" cy="13197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E701D1-CA60-F965-BDCE-669FE68088E2}"/>
              </a:ext>
            </a:extLst>
          </p:cNvPr>
          <p:cNvSpPr/>
          <p:nvPr/>
        </p:nvSpPr>
        <p:spPr>
          <a:xfrm>
            <a:off x="4576712" y="3299379"/>
            <a:ext cx="122549" cy="13197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EF43FBB-448B-3B13-F536-0AADBD7186E0}"/>
              </a:ext>
            </a:extLst>
          </p:cNvPr>
          <p:cNvSpPr/>
          <p:nvPr/>
        </p:nvSpPr>
        <p:spPr>
          <a:xfrm>
            <a:off x="4729112" y="3291520"/>
            <a:ext cx="122549" cy="13197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E211CE-DDA7-219F-8AEC-D915C4FE732D}"/>
              </a:ext>
            </a:extLst>
          </p:cNvPr>
          <p:cNvSpPr/>
          <p:nvPr/>
        </p:nvSpPr>
        <p:spPr>
          <a:xfrm>
            <a:off x="4889368" y="3175263"/>
            <a:ext cx="898689" cy="2639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작업</a:t>
            </a:r>
            <a:r>
              <a:rPr lang="en-US" altLang="ko-KR" sz="1050">
                <a:solidFill>
                  <a:schemeClr val="tx1"/>
                </a:solidFill>
              </a:rPr>
              <a:t>1.N</a:t>
            </a:r>
            <a:endParaRPr lang="ko-KR" altLang="en-US" sz="105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22ECC-4A18-7935-3D77-4FD40D087C9F}"/>
              </a:ext>
            </a:extLst>
          </p:cNvPr>
          <p:cNvSpPr txBox="1"/>
          <p:nvPr/>
        </p:nvSpPr>
        <p:spPr>
          <a:xfrm>
            <a:off x="6353666" y="1960775"/>
            <a:ext cx="557123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RoadMap</a:t>
            </a:r>
            <a:r>
              <a:rPr lang="ko-KR" altLang="en-US" sz="1400"/>
              <a:t>을 직접 작성하고 계획을</a:t>
            </a:r>
            <a:br>
              <a:rPr lang="en-US" altLang="ko-KR" sz="1400"/>
            </a:br>
            <a:r>
              <a:rPr lang="en-US" altLang="ko-KR" sz="1400"/>
              <a:t>TaskManager(or</a:t>
            </a:r>
            <a:r>
              <a:rPr lang="ko-KR" altLang="en-US" sz="1400"/>
              <a:t> </a:t>
            </a:r>
            <a:r>
              <a:rPr lang="en-US" altLang="ko-KR" sz="1400"/>
              <a:t>Shrimp)</a:t>
            </a:r>
            <a:r>
              <a:rPr lang="ko-KR" altLang="en-US" sz="1400"/>
              <a:t>를 통해 세부적인 계획으로 </a:t>
            </a:r>
            <a:br>
              <a:rPr lang="en-US" altLang="ko-KR" sz="1400"/>
            </a:br>
            <a:r>
              <a:rPr lang="ko-KR" altLang="en-US" sz="1400"/>
              <a:t>나누어진행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만약 시작부터 워크</a:t>
            </a:r>
            <a:r>
              <a:rPr lang="en-US" altLang="ko-KR" sz="1400"/>
              <a:t>Flow</a:t>
            </a:r>
            <a:r>
              <a:rPr lang="ko-KR" altLang="en-US" sz="1400"/>
              <a:t>를 모른다면</a:t>
            </a:r>
            <a:r>
              <a:rPr lang="en-US" altLang="ko-KR" sz="1400"/>
              <a:t>, AI</a:t>
            </a:r>
            <a:r>
              <a:rPr lang="ko-KR" altLang="en-US" sz="1400"/>
              <a:t>의 도움</a:t>
            </a:r>
            <a:r>
              <a:rPr lang="en-US" altLang="ko-KR" sz="1400"/>
              <a:t>(Shrimp Task Manager </a:t>
            </a:r>
            <a:r>
              <a:rPr lang="ko-KR" altLang="en-US" sz="1400"/>
              <a:t>또는 </a:t>
            </a:r>
            <a:r>
              <a:rPr lang="en-US" altLang="ko-KR" sz="1400"/>
              <a:t>subAgent </a:t>
            </a:r>
            <a:r>
              <a:rPr lang="ko-KR" altLang="en-US" sz="1400"/>
              <a:t>또는 상황에 맞게 </a:t>
            </a:r>
            <a:r>
              <a:rPr lang="en-US" altLang="ko-KR" sz="1400"/>
              <a:t>Main Context) </a:t>
            </a:r>
            <a:r>
              <a:rPr lang="ko-KR" altLang="en-US" sz="1400"/>
              <a:t>을 받아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RoadMap</a:t>
            </a:r>
            <a:r>
              <a:rPr lang="ko-KR" altLang="en-US" sz="1400"/>
              <a:t>을 생성 및 업데이트하며 다듬어나가고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ko-KR" altLang="en-US" sz="1400"/>
              <a:t>세부 계획이 필요한 복잡한 작업들을 </a:t>
            </a:r>
            <a:r>
              <a:rPr lang="en-US" altLang="ko-KR" sz="1400"/>
              <a:t>TaskManager</a:t>
            </a:r>
            <a:r>
              <a:rPr lang="ko-KR" altLang="en-US" sz="1400"/>
              <a:t>를 통해</a:t>
            </a:r>
            <a:r>
              <a:rPr lang="en-US" altLang="ko-KR" sz="1400"/>
              <a:t> </a:t>
            </a:r>
            <a:r>
              <a:rPr lang="ko-KR" altLang="en-US" sz="1400"/>
              <a:t>나누어 진행하는것도 방법이다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br>
              <a:rPr lang="en-US" altLang="ko-KR" sz="1400"/>
            </a:br>
            <a:r>
              <a:rPr lang="en-US" altLang="ko-KR" sz="1400"/>
              <a:t>※ PRD.md</a:t>
            </a:r>
            <a:r>
              <a:rPr lang="ko-KR" altLang="en-US" sz="1400"/>
              <a:t> </a:t>
            </a:r>
            <a:r>
              <a:rPr lang="en-US" altLang="ko-KR" sz="1400"/>
              <a:t>-&gt;</a:t>
            </a:r>
            <a:r>
              <a:rPr lang="ko-KR" altLang="en-US" sz="1400"/>
              <a:t> </a:t>
            </a:r>
            <a:r>
              <a:rPr lang="en-US" altLang="ko-KR" sz="1400"/>
              <a:t>RoadMap.md -&gt; </a:t>
            </a:r>
            <a:r>
              <a:rPr lang="ko-KR" altLang="en-US" sz="1400"/>
              <a:t>작업 계획 및 세분화 </a:t>
            </a:r>
            <a:r>
              <a:rPr lang="en-US" altLang="ko-KR" sz="1400"/>
              <a:t>-&gt; </a:t>
            </a:r>
            <a:r>
              <a:rPr lang="ko-KR" altLang="en-US" sz="1400"/>
              <a:t>작업 수행 </a:t>
            </a:r>
            <a:r>
              <a:rPr lang="en-US" altLang="ko-KR" sz="1400"/>
              <a:t>-&gt; </a:t>
            </a:r>
            <a:r>
              <a:rPr lang="ko-KR" altLang="en-US" sz="1400"/>
              <a:t>검토</a:t>
            </a:r>
            <a:r>
              <a:rPr lang="en-US" altLang="ko-KR" sz="1400"/>
              <a:t> </a:t>
            </a:r>
            <a:br>
              <a:rPr lang="en-US" altLang="ko-KR" sz="1400"/>
            </a:b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9257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8BE1E-D86E-57EC-79D4-B4771910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서브에이전트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255FFD-70BB-AFC7-FBFE-E2BA5DC4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88" t="36838" b="36770"/>
          <a:stretch>
            <a:fillRect/>
          </a:stretch>
        </p:blipFill>
        <p:spPr>
          <a:xfrm>
            <a:off x="612742" y="1904215"/>
            <a:ext cx="5710420" cy="11500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B050C3-EAD5-6A03-B112-4D40940A9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308" y="1904215"/>
            <a:ext cx="5099783" cy="4964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04086D-A9AF-24A5-A426-8A26CE046ED3}"/>
              </a:ext>
            </a:extLst>
          </p:cNvPr>
          <p:cNvSpPr txBox="1"/>
          <p:nvPr/>
        </p:nvSpPr>
        <p:spPr>
          <a:xfrm>
            <a:off x="612742" y="3214540"/>
            <a:ext cx="571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에이전트 생성 결과 </a:t>
            </a:r>
            <a:r>
              <a:rPr lang="en-US" altLang="ko-KR">
                <a:sym typeface="Wingdings" panose="05000000000000000000" pitchFamily="2" charset="2"/>
              </a:rPr>
              <a:t> development-planner.md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60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FA48F-929D-DC13-5BAD-F424DA8F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PRD.md</a:t>
            </a:r>
            <a:r>
              <a:rPr lang="ko-KR" altLang="en-US" sz="3600"/>
              <a:t>를 참고한 </a:t>
            </a:r>
            <a:r>
              <a:rPr lang="en-US" altLang="ko-KR" sz="3600"/>
              <a:t>ROADMAP.md </a:t>
            </a:r>
            <a:r>
              <a:rPr lang="ko-KR" altLang="en-US" sz="3600"/>
              <a:t>파일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D29C63-5726-FFF1-5F4F-038D9EF9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66" t="34777" r="25696" b="30034"/>
          <a:stretch>
            <a:fillRect/>
          </a:stretch>
        </p:blipFill>
        <p:spPr>
          <a:xfrm>
            <a:off x="251381" y="1932493"/>
            <a:ext cx="5844619" cy="24132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B827549-81E5-56D7-FA22-C72703EFF4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21"/>
          <a:stretch>
            <a:fillRect/>
          </a:stretch>
        </p:blipFill>
        <p:spPr>
          <a:xfrm>
            <a:off x="6126480" y="1925424"/>
            <a:ext cx="2960816" cy="4840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D9425A-6AD9-EA75-6A03-1A417AA76ABF}"/>
              </a:ext>
            </a:extLst>
          </p:cNvPr>
          <p:cNvSpPr txBox="1"/>
          <p:nvPr/>
        </p:nvSpPr>
        <p:spPr>
          <a:xfrm>
            <a:off x="251381" y="4468305"/>
            <a:ext cx="5814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Phase 1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애플리케이션의 기술스택이 셋팅된 골격 구조 생성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Phase 2  </a:t>
            </a:r>
            <a:r>
              <a:rPr lang="ko-KR" altLang="en-US" sz="1200">
                <a:sym typeface="Wingdings" panose="05000000000000000000" pitchFamily="2" charset="2"/>
              </a:rPr>
              <a:t>기능이 구현되지 않은 </a:t>
            </a:r>
            <a:r>
              <a:rPr lang="en-US" altLang="ko-KR" sz="1200">
                <a:sym typeface="Wingdings" panose="05000000000000000000" pitchFamily="2" charset="2"/>
              </a:rPr>
              <a:t>UI </a:t>
            </a:r>
            <a:r>
              <a:rPr lang="ko-KR" altLang="en-US" sz="1200">
                <a:sym typeface="Wingdings" panose="05000000000000000000" pitchFamily="2" charset="2"/>
              </a:rPr>
              <a:t>로 기능 구상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(</a:t>
            </a:r>
            <a:r>
              <a:rPr lang="ko-KR" altLang="en-US" sz="1200">
                <a:sym typeface="Wingdings" panose="05000000000000000000" pitchFamily="2" charset="2"/>
              </a:rPr>
              <a:t>어떤 식으로 데이터를 처리할 것인지 계획 수정이 필요한지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Phase 3  Notion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API</a:t>
            </a:r>
            <a:r>
              <a:rPr lang="ko-KR" altLang="en-US" sz="1200">
                <a:sym typeface="Wingdings" panose="05000000000000000000" pitchFamily="2" charset="2"/>
              </a:rPr>
              <a:t>를 사용한 핵심 기능을 구현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466467-1006-B3EB-2978-BA85E87D0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255" y="1932493"/>
            <a:ext cx="2959188" cy="46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5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7F6FF-4D44-A5D4-7171-C86D21B3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PRD.md</a:t>
            </a:r>
            <a:r>
              <a:rPr lang="ko-KR" altLang="en-US" sz="4000"/>
              <a:t>를 참고한 </a:t>
            </a:r>
            <a:r>
              <a:rPr lang="en-US" altLang="ko-KR" sz="4000"/>
              <a:t>ROADMAP.md </a:t>
            </a:r>
            <a:r>
              <a:rPr lang="ko-KR" altLang="en-US" sz="4000"/>
              <a:t>파일 생성</a:t>
            </a:r>
            <a:r>
              <a:rPr lang="en-US" altLang="ko-KR" sz="4000"/>
              <a:t>-2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C07348-92FF-3FB5-2151-582FB95B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32" y="2049943"/>
            <a:ext cx="3648584" cy="4134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8F89A3-8F92-7C55-8D03-B9786FB31F16}"/>
              </a:ext>
            </a:extLst>
          </p:cNvPr>
          <p:cNvSpPr txBox="1"/>
          <p:nvPr/>
        </p:nvSpPr>
        <p:spPr>
          <a:xfrm>
            <a:off x="1273984" y="2177592"/>
            <a:ext cx="5814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Phase 4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결과 및 성능 검증 및 배포 구현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53867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3139D-B3AC-F191-398E-2CD2B06B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PRD</a:t>
            </a:r>
            <a:r>
              <a:rPr lang="ko-KR" altLang="en-US"/>
              <a:t>와 </a:t>
            </a:r>
            <a:r>
              <a:rPr lang="en-US" altLang="ko-KR"/>
              <a:t>ROADMAP</a:t>
            </a:r>
            <a:r>
              <a:rPr lang="ko-KR" altLang="en-US"/>
              <a:t>의 차이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FA5400-3964-CEC1-3CAF-D44D9E687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51" y="1754300"/>
            <a:ext cx="5258534" cy="94310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7985C1-689A-C1A4-4B21-D92A347C8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2" y="1754300"/>
            <a:ext cx="2321129" cy="48170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DEDF50-C3BC-2361-57E9-2E6404917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86" y="2819675"/>
            <a:ext cx="6184767" cy="3845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3AF841-50EE-D43B-9824-45B8B0438AE2}"/>
              </a:ext>
            </a:extLst>
          </p:cNvPr>
          <p:cNvSpPr txBox="1"/>
          <p:nvPr/>
        </p:nvSpPr>
        <p:spPr>
          <a:xfrm>
            <a:off x="3167406" y="2819675"/>
            <a:ext cx="2620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왼쪽</a:t>
            </a:r>
            <a:r>
              <a:rPr lang="en-US" altLang="ko-KR" sz="1200" b="1">
                <a:solidFill>
                  <a:srgbClr val="FF0000"/>
                </a:solidFill>
              </a:rPr>
              <a:t>(PRD)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기능에 대한 명세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</a:t>
            </a:r>
            <a:r>
              <a:rPr lang="ko-KR" altLang="en-US" sz="1200">
                <a:sym typeface="Wingdings" panose="05000000000000000000" pitchFamily="2" charset="2"/>
              </a:rPr>
              <a:t>기능의 흐름 </a:t>
            </a:r>
            <a:br>
              <a:rPr lang="en-US" altLang="ko-KR" sz="1200">
                <a:sym typeface="Wingdings" panose="05000000000000000000" pitchFamily="2" charset="2"/>
              </a:rPr>
            </a:br>
            <a:br>
              <a:rPr lang="en-US" altLang="ko-KR" sz="1200">
                <a:sym typeface="Wingdings" panose="05000000000000000000" pitchFamily="2" charset="2"/>
              </a:rPr>
            </a:b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 b="1">
                <a:solidFill>
                  <a:srgbClr val="FF0000"/>
                </a:solidFill>
                <a:sym typeface="Wingdings" panose="05000000000000000000" pitchFamily="2" charset="2"/>
              </a:rPr>
              <a:t>오른쪽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(ROADMAP)  </a:t>
            </a:r>
            <a:br>
              <a:rPr lang="en-US" altLang="ko-KR" sz="1200">
                <a:sym typeface="Wingdings" panose="05000000000000000000" pitchFamily="2" charset="2"/>
              </a:rPr>
            </a:b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코드베이스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(CLAUDE.md </a:t>
            </a:r>
            <a:r>
              <a:rPr lang="ko-KR" altLang="en-US" sz="1200">
                <a:sym typeface="Wingdings" panose="05000000000000000000" pitchFamily="2" charset="2"/>
              </a:rPr>
              <a:t>내 기술 스택 및 컨벤션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를 기준으로 애플리케이션의 틀을 생성하고</a:t>
            </a:r>
            <a:r>
              <a:rPr lang="en-US" altLang="ko-KR" sz="1200">
                <a:sym typeface="Wingdings" panose="05000000000000000000" pitchFamily="2" charset="2"/>
              </a:rPr>
              <a:t>,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작업을 어떤방식이나 순서로 진행해 나갈 것인지</a:t>
            </a:r>
            <a:r>
              <a:rPr lang="en-US" altLang="ko-KR" sz="1200">
                <a:sym typeface="Wingdings" panose="05000000000000000000" pitchFamily="2" charset="2"/>
              </a:rPr>
              <a:t> </a:t>
            </a:r>
            <a:r>
              <a:rPr lang="ko-KR" altLang="en-US" sz="1200">
                <a:sym typeface="Wingdings" panose="05000000000000000000" pitchFamily="2" charset="2"/>
              </a:rPr>
              <a:t>명세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751280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250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Wingdings</vt:lpstr>
      <vt:lpstr>추억</vt:lpstr>
      <vt:lpstr>ROADMAP 작성</vt:lpstr>
      <vt:lpstr>강의가 추천하는 워크 Flow</vt:lpstr>
      <vt:lpstr>서브에이전트 작성</vt:lpstr>
      <vt:lpstr>PRD.md를 참고한 ROADMAP.md 파일 생성</vt:lpstr>
      <vt:lpstr>PRD.md를 참고한 ROADMAP.md 파일 생성-2</vt:lpstr>
      <vt:lpstr>PRD와 ROADMAP의 차이.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</cp:revision>
  <dcterms:created xsi:type="dcterms:W3CDTF">2026-07-02T10:51:20Z</dcterms:created>
  <dcterms:modified xsi:type="dcterms:W3CDTF">2026-07-02T11:49:25Z</dcterms:modified>
</cp:coreProperties>
</file>