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859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2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26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99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69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60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39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42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03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08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8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F1D588-9E4E-4831-A7AA-03109D1AF2DC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04C775-188D-41E0-9DDA-1153F744607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upabase.com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ACD47-3005-0A7E-4EC3-D3CE286DE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140206-C1D3-B7EC-8E99-6760945B6D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- </a:t>
            </a:r>
            <a:r>
              <a:rPr lang="ko-KR" altLang="en-US"/>
              <a:t>인증 및 데이터베이스</a:t>
            </a:r>
          </a:p>
        </p:txBody>
      </p:sp>
    </p:spTree>
    <p:extLst>
      <p:ext uri="{BB962C8B-B14F-4D97-AF65-F5344CB8AC3E}">
        <p14:creationId xmlns:p14="http://schemas.microsoft.com/office/powerpoint/2010/main" val="236700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D66BA-B94B-48E1-8006-4DD2CE99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기능들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23C81-34DB-6A7D-D619-A00DB4EC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/>
              <a:t>- </a:t>
            </a:r>
            <a:r>
              <a:rPr lang="ko-KR" altLang="en-US" sz="1400"/>
              <a:t>데이터베이스</a:t>
            </a:r>
            <a:endParaRPr lang="en-US" altLang="ko-KR" sz="1400"/>
          </a:p>
          <a:p>
            <a:r>
              <a:rPr lang="en-US" altLang="ko-KR" sz="1400"/>
              <a:t>- </a:t>
            </a:r>
            <a:r>
              <a:rPr lang="ko-KR" altLang="en-US" sz="1400"/>
              <a:t>로그인 인증</a:t>
            </a:r>
            <a:endParaRPr lang="en-US" altLang="ko-KR" sz="1400"/>
          </a:p>
          <a:p>
            <a:r>
              <a:rPr lang="en-US" altLang="ko-KR" sz="1400"/>
              <a:t>- </a:t>
            </a:r>
            <a:r>
              <a:rPr lang="ko-KR" altLang="en-US" sz="1400"/>
              <a:t>실시간 채팅</a:t>
            </a:r>
            <a:endParaRPr lang="en-US" altLang="ko-KR" sz="1400"/>
          </a:p>
          <a:p>
            <a:r>
              <a:rPr lang="en-US" altLang="ko-KR" sz="1400"/>
              <a:t>- </a:t>
            </a:r>
            <a:r>
              <a:rPr lang="ko-KR" altLang="en-US" sz="1400"/>
              <a:t>스토리지 기능</a:t>
            </a:r>
            <a:endParaRPr lang="en-US" altLang="ko-KR" sz="1400"/>
          </a:p>
          <a:p>
            <a:r>
              <a:rPr lang="en-US" altLang="ko-KR" sz="1400"/>
              <a:t>- </a:t>
            </a:r>
            <a:r>
              <a:rPr lang="ko-KR" altLang="en-US" sz="1400"/>
              <a:t>서버없이 커스텀 로직을 사용할수 있는 기능 </a:t>
            </a:r>
          </a:p>
        </p:txBody>
      </p:sp>
    </p:spTree>
    <p:extLst>
      <p:ext uri="{BB962C8B-B14F-4D97-AF65-F5344CB8AC3E}">
        <p14:creationId xmlns:p14="http://schemas.microsoft.com/office/powerpoint/2010/main" val="3762620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AF486-C467-7A83-3BA0-A79533A2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셋팅 알기</a:t>
            </a:r>
            <a:r>
              <a:rPr lang="en-US" altLang="ko-KR"/>
              <a:t>-1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00C7C-BA5F-5748-1B32-721A18F2B997}"/>
              </a:ext>
            </a:extLst>
          </p:cNvPr>
          <p:cNvSpPr txBox="1"/>
          <p:nvPr/>
        </p:nvSpPr>
        <p:spPr>
          <a:xfrm>
            <a:off x="1197204" y="1875934"/>
            <a:ext cx="10275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hlinkClick r:id="rId2"/>
              </a:rPr>
              <a:t>https://supabase.com/</a:t>
            </a:r>
            <a:r>
              <a:rPr lang="en-US" altLang="ko-KR" sz="1200"/>
              <a:t> </a:t>
            </a:r>
            <a:r>
              <a:rPr lang="ko-KR" altLang="en-US" sz="1200"/>
              <a:t>공식 홈페이지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1. </a:t>
            </a:r>
            <a:r>
              <a:rPr lang="ko-KR" altLang="en-US" sz="1200"/>
              <a:t>상단 메뉴에 </a:t>
            </a:r>
            <a:r>
              <a:rPr lang="en-US" altLang="ko-KR" sz="1200"/>
              <a:t>Start </a:t>
            </a:r>
            <a:r>
              <a:rPr lang="ko-KR" altLang="en-US" sz="1200"/>
              <a:t>클릭</a:t>
            </a:r>
            <a:r>
              <a:rPr lang="en-US" altLang="ko-KR" sz="1200"/>
              <a:t> </a:t>
            </a: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BB81D6-C83E-35EE-F8AD-AF1394875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240" y="2588056"/>
            <a:ext cx="5239481" cy="43821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CA54DCC-791B-61DB-2304-581CA3A4330F}"/>
              </a:ext>
            </a:extLst>
          </p:cNvPr>
          <p:cNvGrpSpPr/>
          <p:nvPr/>
        </p:nvGrpSpPr>
        <p:grpSpPr>
          <a:xfrm>
            <a:off x="1289240" y="3528984"/>
            <a:ext cx="1705213" cy="905001"/>
            <a:chOff x="1289240" y="3542108"/>
            <a:chExt cx="1705213" cy="90500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145A52A-4847-545F-3776-2ED4B6A46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9240" y="3542108"/>
              <a:ext cx="1705213" cy="90500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C909E27-B4B6-EB5C-01D6-DC3590728AC3}"/>
                </a:ext>
              </a:extLst>
            </p:cNvPr>
            <p:cNvSpPr/>
            <p:nvPr/>
          </p:nvSpPr>
          <p:spPr>
            <a:xfrm>
              <a:off x="1432874" y="3817856"/>
              <a:ext cx="461914" cy="2356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C27D768-DA73-B916-6BBF-BFEBFAC4752D}"/>
              </a:ext>
            </a:extLst>
          </p:cNvPr>
          <p:cNvSpPr txBox="1"/>
          <p:nvPr/>
        </p:nvSpPr>
        <p:spPr>
          <a:xfrm>
            <a:off x="1197204" y="3163857"/>
            <a:ext cx="7788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2. </a:t>
            </a:r>
            <a:r>
              <a:rPr lang="ko-KR" altLang="en-US" sz="1200"/>
              <a:t>사이드 바 </a:t>
            </a:r>
            <a:r>
              <a:rPr lang="en-US" altLang="ko-KR" sz="1200"/>
              <a:t>(Frame Work Quick Start) </a:t>
            </a:r>
            <a:r>
              <a:rPr lang="en-US" altLang="ko-KR" sz="1200">
                <a:sym typeface="Wingdings" panose="05000000000000000000" pitchFamily="2" charset="2"/>
              </a:rPr>
              <a:t> Next.js </a:t>
            </a:r>
            <a:r>
              <a:rPr lang="ko-KR" altLang="en-US" sz="1200">
                <a:sym typeface="Wingdings" panose="05000000000000000000" pitchFamily="2" charset="2"/>
              </a:rPr>
              <a:t>선택</a:t>
            </a:r>
            <a:endParaRPr lang="ko-KR" altLang="en-US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37C134-1FBF-90E7-4B6D-04F17977207D}"/>
              </a:ext>
            </a:extLst>
          </p:cNvPr>
          <p:cNvSpPr txBox="1"/>
          <p:nvPr/>
        </p:nvSpPr>
        <p:spPr>
          <a:xfrm>
            <a:off x="1197204" y="4457966"/>
            <a:ext cx="7788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3. Supabase Project </a:t>
            </a:r>
            <a:r>
              <a:rPr lang="ko-KR" altLang="en-US" sz="1200"/>
              <a:t>생성 </a:t>
            </a:r>
            <a:r>
              <a:rPr lang="en-US" altLang="ko-KR" sz="1200">
                <a:sym typeface="Wingdings" panose="05000000000000000000" pitchFamily="2" charset="2"/>
              </a:rPr>
              <a:t> 1. Dashboard : database.new </a:t>
            </a:r>
            <a:r>
              <a:rPr lang="ko-KR" altLang="en-US" sz="1200">
                <a:sym typeface="Wingdings" panose="05000000000000000000" pitchFamily="2" charset="2"/>
              </a:rPr>
              <a:t>링크 클릭 </a:t>
            </a:r>
            <a:endParaRPr lang="ko-KR" altLang="en-US" sz="120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0F7CCB7-6F93-B8C9-FD99-0859613A8879}"/>
              </a:ext>
            </a:extLst>
          </p:cNvPr>
          <p:cNvGrpSpPr/>
          <p:nvPr/>
        </p:nvGrpSpPr>
        <p:grpSpPr>
          <a:xfrm>
            <a:off x="1197204" y="4758946"/>
            <a:ext cx="5331517" cy="1932991"/>
            <a:chOff x="1197204" y="4758946"/>
            <a:chExt cx="5331517" cy="193299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CD3F5EC-8BC9-B9E2-C42C-200AEBF6C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7204" y="4758946"/>
              <a:ext cx="5331517" cy="1932991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4E283FF-0B8D-5894-5306-E0C2B562B441}"/>
                </a:ext>
              </a:extLst>
            </p:cNvPr>
            <p:cNvSpPr/>
            <p:nvPr/>
          </p:nvSpPr>
          <p:spPr>
            <a:xfrm>
              <a:off x="5957740" y="4859104"/>
              <a:ext cx="320512" cy="3205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AD75BEC-0405-417C-0E76-20FA91BD1E9A}"/>
              </a:ext>
            </a:extLst>
          </p:cNvPr>
          <p:cNvSpPr txBox="1"/>
          <p:nvPr/>
        </p:nvSpPr>
        <p:spPr>
          <a:xfrm>
            <a:off x="6711885" y="4734965"/>
            <a:ext cx="50810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1. Supabase </a:t>
            </a:r>
            <a:r>
              <a:rPr lang="ko-KR" altLang="en-US" sz="1100"/>
              <a:t>애플리케이션을 사이트에 등록</a:t>
            </a:r>
            <a:br>
              <a:rPr lang="en-US" altLang="ko-KR" sz="1100"/>
            </a:b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로컬 설치시 지원받음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51797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E438F-456C-8D4F-ED0C-BBF4301F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셋팅 알기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BEB864-4556-B847-AEA5-F47BB6A89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2021079"/>
            <a:ext cx="3379650" cy="1749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2D2E0DB-0802-6942-7D38-27F1401B8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335" y="2021079"/>
            <a:ext cx="3379650" cy="47264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F7D38B-DDDC-B929-3233-4EAABC22A665}"/>
              </a:ext>
            </a:extLst>
          </p:cNvPr>
          <p:cNvSpPr txBox="1"/>
          <p:nvPr/>
        </p:nvSpPr>
        <p:spPr>
          <a:xfrm>
            <a:off x="7956985" y="2021079"/>
            <a:ext cx="39019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Project name : supabase </a:t>
            </a:r>
            <a:r>
              <a:rPr lang="ko-KR" altLang="en-US" sz="1400"/>
              <a:t>프로젝트 명</a:t>
            </a:r>
            <a:endParaRPr lang="en-US" altLang="ko-KR" sz="1400"/>
          </a:p>
          <a:p>
            <a:r>
              <a:rPr lang="en-US" altLang="ko-KR" sz="1400"/>
              <a:t>Database password : supabase</a:t>
            </a:r>
            <a:r>
              <a:rPr lang="ko-KR" altLang="en-US" sz="1400"/>
              <a:t>의 </a:t>
            </a:r>
            <a:r>
              <a:rPr lang="en-US" altLang="ko-KR" sz="1400"/>
              <a:t>DB</a:t>
            </a:r>
            <a:r>
              <a:rPr lang="ko-KR" altLang="en-US" sz="1400"/>
              <a:t>암호</a:t>
            </a:r>
            <a:endParaRPr lang="en-US" altLang="ko-KR" sz="1400"/>
          </a:p>
          <a:p>
            <a:r>
              <a:rPr lang="en-US" altLang="ko-KR" sz="1400"/>
              <a:t>Region : DB</a:t>
            </a:r>
            <a:r>
              <a:rPr lang="ko-KR" altLang="en-US" sz="1400"/>
              <a:t>가 생성될 지역 </a:t>
            </a:r>
            <a:r>
              <a:rPr lang="en-US" altLang="ko-KR" sz="1400"/>
              <a:t>( </a:t>
            </a:r>
            <a:r>
              <a:rPr lang="ko-KR" altLang="en-US" sz="1400"/>
              <a:t>가까워야 빠름 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Row Level Security </a:t>
            </a:r>
            <a:r>
              <a:rPr lang="ko-KR" altLang="en-US" sz="1400"/>
              <a:t>옵션 활성화 </a:t>
            </a:r>
            <a:br>
              <a:rPr lang="en-US" altLang="ko-KR" sz="1400"/>
            </a:br>
            <a:r>
              <a:rPr lang="en-US" altLang="ko-KR" sz="1400">
                <a:sym typeface="Wingdings" panose="05000000000000000000" pitchFamily="2" charset="2"/>
              </a:rPr>
              <a:t> anonymous </a:t>
            </a:r>
            <a:r>
              <a:rPr lang="ko-KR" altLang="en-US" sz="1400">
                <a:sym typeface="Wingdings" panose="05000000000000000000" pitchFamily="2" charset="2"/>
              </a:rPr>
              <a:t>유저 조회 활성화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5330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F9222-9D7E-3670-ED69-59726525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셋팅 알기</a:t>
            </a:r>
            <a:r>
              <a:rPr lang="en-US" altLang="ko-KR"/>
              <a:t>-3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A8CF488-3F46-67F3-A004-AC4FD7772641}"/>
              </a:ext>
            </a:extLst>
          </p:cNvPr>
          <p:cNvGrpSpPr/>
          <p:nvPr/>
        </p:nvGrpSpPr>
        <p:grpSpPr>
          <a:xfrm>
            <a:off x="1097280" y="2034190"/>
            <a:ext cx="5198923" cy="1538570"/>
            <a:chOff x="1097280" y="2034190"/>
            <a:chExt cx="5198923" cy="153857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86F0700-698E-FF99-5351-30B8BE0F062D}"/>
                </a:ext>
              </a:extLst>
            </p:cNvPr>
            <p:cNvGrpSpPr/>
            <p:nvPr/>
          </p:nvGrpSpPr>
          <p:grpSpPr>
            <a:xfrm>
              <a:off x="1097280" y="2034190"/>
              <a:ext cx="5198923" cy="1538570"/>
              <a:chOff x="1097280" y="2034190"/>
              <a:chExt cx="5198923" cy="1538570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48C00C27-A568-05E9-2930-593D8F0115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2034190"/>
                <a:ext cx="5198923" cy="1538570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7EE505-EEB7-9371-CF59-232E88200E5C}"/>
                  </a:ext>
                </a:extLst>
              </p:cNvPr>
              <p:cNvSpPr/>
              <p:nvPr/>
            </p:nvSpPr>
            <p:spPr>
              <a:xfrm>
                <a:off x="5859387" y="2172464"/>
                <a:ext cx="320512" cy="3205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CB8EA05-1C42-BE5B-95E4-4EF1A8A061D7}"/>
                </a:ext>
              </a:extLst>
            </p:cNvPr>
            <p:cNvSpPr/>
            <p:nvPr/>
          </p:nvSpPr>
          <p:spPr>
            <a:xfrm>
              <a:off x="4637988" y="2639505"/>
              <a:ext cx="1102936" cy="1791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85D5A0C-EDDC-CDE3-441F-56D0152ED0C0}"/>
              </a:ext>
            </a:extLst>
          </p:cNvPr>
          <p:cNvSpPr txBox="1"/>
          <p:nvPr/>
        </p:nvSpPr>
        <p:spPr>
          <a:xfrm>
            <a:off x="6429080" y="2034190"/>
            <a:ext cx="5198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2. Supabawse</a:t>
            </a:r>
            <a:r>
              <a:rPr lang="ko-KR" altLang="en-US" sz="1200"/>
              <a:t>의 데이터 셋팅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3C5691A-A6E4-BFB9-92B3-1EB46DFDE997}"/>
              </a:ext>
            </a:extLst>
          </p:cNvPr>
          <p:cNvGrpSpPr/>
          <p:nvPr/>
        </p:nvGrpSpPr>
        <p:grpSpPr>
          <a:xfrm>
            <a:off x="1097280" y="3690481"/>
            <a:ext cx="1638836" cy="2697344"/>
            <a:chOff x="1097280" y="3690481"/>
            <a:chExt cx="1638836" cy="269734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FAA2D40-D43D-013A-3C89-A4D90BB79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9408"/>
            <a:stretch>
              <a:fillRect/>
            </a:stretch>
          </p:blipFill>
          <p:spPr>
            <a:xfrm>
              <a:off x="1097280" y="3690481"/>
              <a:ext cx="1638836" cy="26973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10D7116-98C7-6455-814B-072AB8D4D8B1}"/>
                </a:ext>
              </a:extLst>
            </p:cNvPr>
            <p:cNvSpPr/>
            <p:nvPr/>
          </p:nvSpPr>
          <p:spPr>
            <a:xfrm>
              <a:off x="1097280" y="4656841"/>
              <a:ext cx="957763" cy="2733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DFE661E-E2AB-9F54-2DB4-CC41AFE5A2CC}"/>
              </a:ext>
            </a:extLst>
          </p:cNvPr>
          <p:cNvGrpSpPr/>
          <p:nvPr/>
        </p:nvGrpSpPr>
        <p:grpSpPr>
          <a:xfrm>
            <a:off x="3049680" y="3690481"/>
            <a:ext cx="1547983" cy="2697344"/>
            <a:chOff x="3407265" y="3690482"/>
            <a:chExt cx="1547983" cy="2697344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35364F2-96E9-288E-7C57-1CEF1ABAD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7265" y="3690482"/>
              <a:ext cx="1547983" cy="2697344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A8643C8-EBF4-5C3E-68B4-0FCDA6B521E8}"/>
                </a:ext>
              </a:extLst>
            </p:cNvPr>
            <p:cNvSpPr/>
            <p:nvPr/>
          </p:nvSpPr>
          <p:spPr>
            <a:xfrm>
              <a:off x="3407266" y="6146275"/>
              <a:ext cx="872504" cy="24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EFA381C3-6C02-FA63-7127-0AEE1A006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823" y="3690481"/>
            <a:ext cx="4563112" cy="91452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19807D-4017-40DA-3EE9-FA92B2D531AC}"/>
              </a:ext>
            </a:extLst>
          </p:cNvPr>
          <p:cNvSpPr/>
          <p:nvPr/>
        </p:nvSpPr>
        <p:spPr>
          <a:xfrm>
            <a:off x="4868419" y="3829058"/>
            <a:ext cx="4450515" cy="775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A6FCB67-06F6-8F87-F8F9-AC1552F88E6A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2055043" y="4793530"/>
            <a:ext cx="994638" cy="147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9884584-D7B6-7720-C6AC-1387EE5E703A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3922185" y="4147745"/>
            <a:ext cx="833638" cy="2119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18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DBB1B-52F6-B646-0B95-1E66B6D5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Instrument </a:t>
            </a:r>
            <a:r>
              <a:rPr lang="ko-KR" altLang="en-US"/>
              <a:t>예제 실행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E7A3C-DAFA-340E-63E7-D340D2E54F14}"/>
              </a:ext>
            </a:extLst>
          </p:cNvPr>
          <p:cNvSpPr txBox="1"/>
          <p:nvPr/>
        </p:nvSpPr>
        <p:spPr>
          <a:xfrm>
            <a:off x="1097280" y="1747242"/>
            <a:ext cx="6094428" cy="5110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-- Create the table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instruments 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 id bigint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key generated always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identity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 name text </a:t>
            </a:r>
            <a:r>
              <a:rPr lang="en-US" altLang="ko-KR" sz="900" b="0">
                <a:solidFill>
                  <a:srgbClr val="778899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78899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-- Insert sample data into the table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insert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instruments 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values</a:t>
            </a: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24B47E"/>
                </a:solidFill>
                <a:effectLst/>
                <a:latin typeface="Consolas" panose="020B0609020204030204" pitchFamily="49" charset="0"/>
              </a:rPr>
              <a:t>'violin'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24B47E"/>
                </a:solidFill>
                <a:effectLst/>
                <a:latin typeface="Consolas" panose="020B0609020204030204" pitchFamily="49" charset="0"/>
              </a:rPr>
              <a:t>'viola'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24B47E"/>
                </a:solidFill>
                <a:effectLst/>
                <a:latin typeface="Consolas" panose="020B0609020204030204" pitchFamily="49" charset="0"/>
              </a:rPr>
              <a:t>'cello'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-- Grant the privileges the role needs, which is read access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grant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public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instruments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anon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-- Enable row level security for the table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alter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instruments enable row level security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-- Create a policy to allow the anon role to read from the instruments table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policy "public can read instruments"</a:t>
            </a: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public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instruments</a:t>
            </a: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anon</a:t>
            </a:r>
          </a:p>
          <a:p>
            <a:pPr>
              <a:lnSpc>
                <a:spcPts val="1350"/>
              </a:lnSpc>
              <a:buNone/>
            </a:pP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900" b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77F534F-4448-07AC-B66A-92C7E48AEFF0}"/>
              </a:ext>
            </a:extLst>
          </p:cNvPr>
          <p:cNvCxnSpPr/>
          <p:nvPr/>
        </p:nvCxnSpPr>
        <p:spPr>
          <a:xfrm>
            <a:off x="3996965" y="6165130"/>
            <a:ext cx="30825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ECE319-5DF3-BC76-7FD4-B37EDD578AE2}"/>
              </a:ext>
            </a:extLst>
          </p:cNvPr>
          <p:cNvSpPr txBox="1"/>
          <p:nvPr/>
        </p:nvSpPr>
        <p:spPr>
          <a:xfrm>
            <a:off x="7191708" y="5995447"/>
            <a:ext cx="3963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row level security </a:t>
            </a:r>
            <a:r>
              <a:rPr lang="ko-KR" altLang="en-US" sz="1400"/>
              <a:t>정책 생성 </a:t>
            </a:r>
            <a:r>
              <a:rPr lang="en-US" altLang="ko-KR" sz="1400"/>
              <a:t>sql</a:t>
            </a:r>
            <a:r>
              <a:rPr lang="ko-KR" altLang="en-US" sz="1400"/>
              <a:t>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6D18A-963C-0FFC-02FA-C1D9FD3B0F98}"/>
              </a:ext>
            </a:extLst>
          </p:cNvPr>
          <p:cNvSpPr txBox="1"/>
          <p:nvPr/>
        </p:nvSpPr>
        <p:spPr>
          <a:xfrm>
            <a:off x="4450079" y="6348893"/>
            <a:ext cx="3963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anonymous </a:t>
            </a:r>
            <a:r>
              <a:rPr lang="ko-KR" altLang="en-US" sz="1400"/>
              <a:t>익명의 사용자에게 접근 허용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500CE58-D9A1-DCB6-C088-2202C6D2F3C9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358272" y="6502782"/>
            <a:ext cx="2091807" cy="3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94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12A69-4944-EDDE-1267-A33521AF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셋팅 알기</a:t>
            </a:r>
            <a:r>
              <a:rPr lang="en-US" altLang="ko-KR"/>
              <a:t>-4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92CF08-28BB-6FD3-F46B-0F1A84ADE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3889"/>
            <a:ext cx="7085186" cy="921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FD39EA-2A86-4405-6504-AD9F7C4B6B4C}"/>
              </a:ext>
            </a:extLst>
          </p:cNvPr>
          <p:cNvSpPr txBox="1"/>
          <p:nvPr/>
        </p:nvSpPr>
        <p:spPr>
          <a:xfrm>
            <a:off x="1097280" y="2871642"/>
            <a:ext cx="60944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rgbClr val="15593B"/>
                </a:solidFill>
                <a:latin typeface="Source Code Pro" panose="020F0502020204030204" pitchFamily="49" charset="0"/>
              </a:rPr>
              <a:t>터미널에서 하기명령어 실행</a:t>
            </a:r>
            <a:r>
              <a:rPr lang="en-US" altLang="ko-KR" sz="1100">
                <a:solidFill>
                  <a:srgbClr val="15593B"/>
                </a:solidFill>
                <a:latin typeface="Source Code Pro" panose="020F0502020204030204" pitchFamily="49" charset="0"/>
              </a:rPr>
              <a:t>( </a:t>
            </a:r>
            <a:r>
              <a:rPr lang="ko-KR" altLang="en-US" sz="1100">
                <a:solidFill>
                  <a:srgbClr val="15593B"/>
                </a:solidFill>
                <a:latin typeface="Source Code Pro" panose="020F0502020204030204" pitchFamily="49" charset="0"/>
              </a:rPr>
              <a:t>경로 </a:t>
            </a:r>
            <a:r>
              <a:rPr lang="en-US" altLang="ko-KR" sz="1100">
                <a:solidFill>
                  <a:srgbClr val="15593B"/>
                </a:solidFill>
                <a:latin typeface="Source Code Pro" panose="020F0502020204030204" pitchFamily="49" charset="0"/>
              </a:rPr>
              <a:t>: workspace )</a:t>
            </a:r>
            <a:br>
              <a:rPr lang="en-US" altLang="ko-KR" sz="1100" b="0" i="0">
                <a:solidFill>
                  <a:srgbClr val="15593B"/>
                </a:solidFill>
                <a:effectLst/>
                <a:latin typeface="Source Code Pro" panose="020F0502020204030204" pitchFamily="49" charset="0"/>
              </a:rPr>
            </a:br>
            <a:r>
              <a:rPr lang="en-US" altLang="ko-KR" sz="1100" b="0" i="0">
                <a:solidFill>
                  <a:srgbClr val="15593B"/>
                </a:solidFill>
                <a:effectLst/>
                <a:latin typeface="Source Code Pro" panose="020F0502020204030204" pitchFamily="49" charset="0"/>
              </a:rPr>
              <a:t>npx</a:t>
            </a:r>
            <a:r>
              <a:rPr lang="en-US" altLang="ko-KR" sz="1100" b="0" i="0">
                <a:effectLst/>
                <a:latin typeface="Source Code Pro" panose="020F0502020204030204" pitchFamily="49" charset="0"/>
              </a:rPr>
              <a:t> </a:t>
            </a:r>
            <a:r>
              <a:rPr lang="en-US" altLang="ko-KR" sz="1100" b="0" i="0">
                <a:solidFill>
                  <a:srgbClr val="F1A10D"/>
                </a:solidFill>
                <a:effectLst/>
                <a:latin typeface="Source Code Pro" panose="020F0502020204030204" pitchFamily="49" charset="0"/>
              </a:rPr>
              <a:t>create-next-app</a:t>
            </a:r>
            <a:r>
              <a:rPr lang="en-US" altLang="ko-KR" sz="1100" b="0" i="0">
                <a:effectLst/>
                <a:latin typeface="Source Code Pro" panose="020F0502020204030204" pitchFamily="49" charset="0"/>
              </a:rPr>
              <a:t> </a:t>
            </a:r>
            <a:r>
              <a:rPr lang="en-US" altLang="ko-KR" sz="1100" b="0" i="0">
                <a:solidFill>
                  <a:srgbClr val="15593B"/>
                </a:solidFill>
                <a:effectLst/>
                <a:latin typeface="Source Code Pro" panose="020F0502020204030204" pitchFamily="49" charset="0"/>
              </a:rPr>
              <a:t>-e</a:t>
            </a:r>
            <a:r>
              <a:rPr lang="en-US" altLang="ko-KR" sz="1100" b="0" i="0">
                <a:effectLst/>
                <a:latin typeface="Source Code Pro" panose="020F0502020204030204" pitchFamily="49" charset="0"/>
              </a:rPr>
              <a:t> </a:t>
            </a:r>
            <a:r>
              <a:rPr lang="en-US" altLang="ko-KR" sz="1100" b="0" i="0">
                <a:solidFill>
                  <a:srgbClr val="F1A10D"/>
                </a:solidFill>
                <a:effectLst/>
                <a:latin typeface="Source Code Pro" panose="020F0502020204030204" pitchFamily="49" charset="0"/>
              </a:rPr>
              <a:t>with-supabase</a:t>
            </a:r>
            <a:endParaRPr lang="ko-KR" altLang="en-US" sz="11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3C545E-DF19-A690-0480-8A76B7C75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29000"/>
            <a:ext cx="5350654" cy="12406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8D0975-DD6F-1A4C-A4B1-90AA9BB1F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92039"/>
            <a:ext cx="5350654" cy="21282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04AD9B-B96C-C137-1F1B-7BAF728D6496}"/>
              </a:ext>
            </a:extLst>
          </p:cNvPr>
          <p:cNvSpPr txBox="1"/>
          <p:nvPr/>
        </p:nvSpPr>
        <p:spPr>
          <a:xfrm>
            <a:off x="8333295" y="1843889"/>
            <a:ext cx="338422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3. Application </a:t>
            </a:r>
            <a:r>
              <a:rPr lang="ko-KR" altLang="en-US" sz="1100"/>
              <a:t>프로젝트 로컬 생성과 </a:t>
            </a:r>
            <a:r>
              <a:rPr lang="en-US" altLang="ko-KR" sz="1100"/>
              <a:t>Supabase </a:t>
            </a:r>
            <a:r>
              <a:rPr lang="ko-KR" altLang="en-US" sz="1100"/>
              <a:t>사이트 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연동</a:t>
            </a:r>
            <a:br>
              <a:rPr lang="en-US" altLang="ko-KR" sz="1100"/>
            </a:br>
            <a:r>
              <a:rPr lang="en-US" altLang="ko-KR" sz="1100"/>
              <a:t>    </a:t>
            </a:r>
            <a:br>
              <a:rPr lang="en-US" altLang="ko-KR" sz="1100"/>
            </a:br>
            <a:r>
              <a:rPr lang="ko-KR" altLang="en-US" sz="1100"/>
              <a:t>해당 명령어로 설치시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Auth(</a:t>
            </a:r>
            <a:r>
              <a:rPr lang="ko-KR" altLang="en-US" sz="1100"/>
              <a:t>인증</a:t>
            </a:r>
            <a:r>
              <a:rPr lang="en-US" altLang="ko-KR" sz="1100"/>
              <a:t>) / TypeScript / TailWindCSS</a:t>
            </a:r>
            <a:br>
              <a:rPr lang="en-US" altLang="ko-KR" sz="1100"/>
            </a:br>
            <a:r>
              <a:rPr lang="ko-KR" altLang="en-US" sz="1100"/>
              <a:t>라이브러리가 기본적으로 제공됨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B6E55F-43DF-001D-2609-6E437A493B7E}"/>
              </a:ext>
            </a:extLst>
          </p:cNvPr>
          <p:cNvSpPr/>
          <p:nvPr/>
        </p:nvSpPr>
        <p:spPr>
          <a:xfrm>
            <a:off x="7414810" y="1843889"/>
            <a:ext cx="320512" cy="320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10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B088F-CCDF-3199-FF0C-725C4A3B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서버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4256AA-F133-8FF5-7709-35D6F3633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481" y="1840803"/>
            <a:ext cx="4439270" cy="17623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E3F5EE-E41A-CF15-71DC-D936DC25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05" y="1840803"/>
            <a:ext cx="2762636" cy="4686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45DB05-9D20-DC9B-8A3D-9B1E01B6F576}"/>
              </a:ext>
            </a:extLst>
          </p:cNvPr>
          <p:cNvSpPr txBox="1"/>
          <p:nvPr/>
        </p:nvSpPr>
        <p:spPr>
          <a:xfrm>
            <a:off x="3749481" y="3714161"/>
            <a:ext cx="7996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셋팅 된 프로젝트로 애플리케이션 실행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EEA8C1-D17F-08D2-003A-A88413F5F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481" y="3991160"/>
            <a:ext cx="3108684" cy="280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2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1FE27-FD7B-839D-D529-8F7D8849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셋팅 알기</a:t>
            </a:r>
            <a:r>
              <a:rPr lang="en-US" altLang="ko-KR"/>
              <a:t>-5</a:t>
            </a: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5CB99F-6A06-8AC7-693E-834302440440}"/>
              </a:ext>
            </a:extLst>
          </p:cNvPr>
          <p:cNvGrpSpPr/>
          <p:nvPr/>
        </p:nvGrpSpPr>
        <p:grpSpPr>
          <a:xfrm>
            <a:off x="521247" y="1961461"/>
            <a:ext cx="4327443" cy="1838583"/>
            <a:chOff x="521247" y="1961461"/>
            <a:chExt cx="4327443" cy="183858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E146CBB-3B81-8575-62E6-7DB9BDE06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247" y="1961462"/>
              <a:ext cx="2143639" cy="183858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1835415-4CFD-DA40-9B90-2ECD20F7E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6319" y="1961461"/>
              <a:ext cx="1762371" cy="183858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A235C92-DB54-8A27-78FB-DDF926146ADF}"/>
                </a:ext>
              </a:extLst>
            </p:cNvPr>
            <p:cNvSpPr/>
            <p:nvPr/>
          </p:nvSpPr>
          <p:spPr>
            <a:xfrm>
              <a:off x="942680" y="3582186"/>
              <a:ext cx="1121790" cy="2178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CBDD12-045B-4D7D-4809-BC10B99E6969}"/>
                </a:ext>
              </a:extLst>
            </p:cNvPr>
            <p:cNvSpPr/>
            <p:nvPr/>
          </p:nvSpPr>
          <p:spPr>
            <a:xfrm>
              <a:off x="3086319" y="3582186"/>
              <a:ext cx="1121790" cy="2178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C778C0B5-5359-22B9-33B4-D1A1A7F0D735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2064470" y="3691115"/>
              <a:ext cx="102184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6ABE0BA-ECE4-350C-C95B-E77AD89DCE02}"/>
              </a:ext>
            </a:extLst>
          </p:cNvPr>
          <p:cNvSpPr txBox="1"/>
          <p:nvPr/>
        </p:nvSpPr>
        <p:spPr>
          <a:xfrm>
            <a:off x="5392132" y="1961461"/>
            <a:ext cx="5763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 </a:t>
            </a:r>
            <a:r>
              <a:rPr lang="ko-KR" altLang="en-US" sz="1200"/>
              <a:t>파일명 변경</a:t>
            </a:r>
            <a:br>
              <a:rPr lang="en-US" altLang="ko-KR" sz="1200"/>
            </a:br>
            <a:r>
              <a:rPr lang="en-US" altLang="ko-KR" sz="1200"/>
              <a:t>2. </a:t>
            </a:r>
            <a:r>
              <a:rPr lang="ko-KR" altLang="en-US" sz="1200"/>
              <a:t>메뉴얼 사이트 새로고침 </a:t>
            </a:r>
            <a:r>
              <a:rPr lang="en-US" altLang="ko-KR" sz="1200"/>
              <a:t>(application </a:t>
            </a:r>
            <a:r>
              <a:rPr lang="ko-KR" altLang="en-US" sz="1200"/>
              <a:t>프로젝트 셋팅 명령어로 인해 </a:t>
            </a:r>
            <a:r>
              <a:rPr lang="en-US" altLang="ko-KR" sz="1200"/>
              <a:t>Project URL</a:t>
            </a:r>
            <a:br>
              <a:rPr lang="en-US" altLang="ko-KR" sz="1200"/>
            </a:br>
            <a:r>
              <a:rPr lang="en-US" altLang="ko-KR" sz="1200"/>
              <a:t>     </a:t>
            </a:r>
            <a:r>
              <a:rPr lang="ko-KR" altLang="en-US" sz="1200"/>
              <a:t>과 </a:t>
            </a:r>
            <a:r>
              <a:rPr lang="en-US" altLang="ko-KR" sz="1200"/>
              <a:t>Publishable key </a:t>
            </a:r>
            <a:r>
              <a:rPr lang="ko-KR" altLang="en-US" sz="1200"/>
              <a:t>가 업데이트 된다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A071A0-4B8F-A013-D288-2A1C3765F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132" y="2607792"/>
            <a:ext cx="5351312" cy="421022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668338D-73A8-2C0B-71E7-BA004BA6B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29" y="5048746"/>
            <a:ext cx="4929496" cy="11922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093775-2261-7350-F357-AD56063C218B}"/>
              </a:ext>
            </a:extLst>
          </p:cNvPr>
          <p:cNvSpPr/>
          <p:nvPr/>
        </p:nvSpPr>
        <p:spPr>
          <a:xfrm>
            <a:off x="5535105" y="5214596"/>
            <a:ext cx="1742388" cy="215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38B8F3-7AB5-37E3-4FB4-8D69EB740422}"/>
              </a:ext>
            </a:extLst>
          </p:cNvPr>
          <p:cNvSpPr/>
          <p:nvPr/>
        </p:nvSpPr>
        <p:spPr>
          <a:xfrm>
            <a:off x="5520354" y="6025752"/>
            <a:ext cx="2011662" cy="215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AF30012-653E-E5C6-C354-36BD978D51FF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4647414" y="6023728"/>
            <a:ext cx="872940" cy="1096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710AD32-4A25-DC01-13D3-9952DB515680}"/>
              </a:ext>
            </a:extLst>
          </p:cNvPr>
          <p:cNvCxnSpPr>
            <a:stCxn id="18" idx="1"/>
          </p:cNvCxnSpPr>
          <p:nvPr/>
        </p:nvCxnSpPr>
        <p:spPr>
          <a:xfrm flipH="1">
            <a:off x="3205113" y="5322218"/>
            <a:ext cx="2329992" cy="5129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BCCB449B-DC49-0F52-D968-5D6DA1021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029" y="4149204"/>
            <a:ext cx="3930080" cy="122026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5C69CF-93FB-B570-F855-4FC46465B907}"/>
              </a:ext>
            </a:extLst>
          </p:cNvPr>
          <p:cNvSpPr/>
          <p:nvPr/>
        </p:nvSpPr>
        <p:spPr>
          <a:xfrm>
            <a:off x="3707997" y="4177215"/>
            <a:ext cx="320512" cy="320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0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ED170-AC4C-98EB-9796-7E74A4D2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프로젝트 셋팅 알기</a:t>
            </a:r>
            <a:r>
              <a:rPr lang="en-US" altLang="ko-KR"/>
              <a:t>-6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E8F0D9-C82B-D050-D8AF-E1E37579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90" y="1975377"/>
            <a:ext cx="5986317" cy="466580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DB7F8A8-25A4-E333-23B7-A2A8A943B664}"/>
              </a:ext>
            </a:extLst>
          </p:cNvPr>
          <p:cNvSpPr/>
          <p:nvPr/>
        </p:nvSpPr>
        <p:spPr>
          <a:xfrm>
            <a:off x="452190" y="3817856"/>
            <a:ext cx="1367183" cy="3393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E277C6-3194-5037-7679-935830784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738" y="1975377"/>
            <a:ext cx="2057687" cy="13622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B0B56D-F553-C609-2E7B-7D92541BC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738" y="3428999"/>
            <a:ext cx="5468068" cy="32121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CB93A5-4BC8-B6AA-83F9-684EB5D0665B}"/>
              </a:ext>
            </a:extLst>
          </p:cNvPr>
          <p:cNvSpPr txBox="1"/>
          <p:nvPr/>
        </p:nvSpPr>
        <p:spPr>
          <a:xfrm>
            <a:off x="8748074" y="1847654"/>
            <a:ext cx="3257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빨간 박스 경로에 파일 생성 및 코드 복사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9949AE-35A7-DFE0-8D89-FDF0534A70B0}"/>
              </a:ext>
            </a:extLst>
          </p:cNvPr>
          <p:cNvSpPr/>
          <p:nvPr/>
        </p:nvSpPr>
        <p:spPr>
          <a:xfrm>
            <a:off x="5935744" y="2102413"/>
            <a:ext cx="320512" cy="320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29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DC6D1-611F-4A16-CFE5-0290F55B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로그인 인증 기능 확인하기</a:t>
            </a:r>
            <a:r>
              <a:rPr lang="en-US" altLang="ko-KR"/>
              <a:t>-1</a:t>
            </a:r>
            <a:r>
              <a:rPr lang="ko-KR" altLang="en-US"/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B3DB00-0AF6-4DF8-65AD-9E093AB82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5" y="1978443"/>
            <a:ext cx="5300251" cy="47765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F6F3630-EDB7-562C-6A8C-016FF6044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202" y="1978442"/>
            <a:ext cx="5425943" cy="47765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AF9C03-CF20-E9A1-56C1-1D84B89B3BEB}"/>
              </a:ext>
            </a:extLst>
          </p:cNvPr>
          <p:cNvSpPr/>
          <p:nvPr/>
        </p:nvSpPr>
        <p:spPr>
          <a:xfrm>
            <a:off x="3299381" y="1978442"/>
            <a:ext cx="1404594" cy="208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3AB8C16-D20B-6A32-1074-DBA1F7D7D341}"/>
              </a:ext>
            </a:extLst>
          </p:cNvPr>
          <p:cNvCxnSpPr>
            <a:stCxn id="6" idx="3"/>
          </p:cNvCxnSpPr>
          <p:nvPr/>
        </p:nvCxnSpPr>
        <p:spPr>
          <a:xfrm flipV="1">
            <a:off x="4703975" y="2073897"/>
            <a:ext cx="5571241" cy="8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5F7888-591C-BF00-74FC-8B851647CEE6}"/>
              </a:ext>
            </a:extLst>
          </p:cNvPr>
          <p:cNvSpPr/>
          <p:nvPr/>
        </p:nvSpPr>
        <p:spPr>
          <a:xfrm>
            <a:off x="10275216" y="2056616"/>
            <a:ext cx="810706" cy="20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F5493A-C7A9-EFA8-D48F-A1616F998CFF}"/>
              </a:ext>
            </a:extLst>
          </p:cNvPr>
          <p:cNvSpPr txBox="1"/>
          <p:nvPr/>
        </p:nvSpPr>
        <p:spPr>
          <a:xfrm>
            <a:off x="5524106" y="2235915"/>
            <a:ext cx="101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해당 문구가</a:t>
            </a:r>
            <a:br>
              <a:rPr lang="en-US" altLang="ko-KR" sz="1200"/>
            </a:br>
            <a:r>
              <a:rPr lang="ko-KR" altLang="en-US" sz="1200"/>
              <a:t>사라졌다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/>
              <a:t>가입진행</a:t>
            </a:r>
          </a:p>
        </p:txBody>
      </p:sp>
    </p:spTree>
    <p:extLst>
      <p:ext uri="{BB962C8B-B14F-4D97-AF65-F5344CB8AC3E}">
        <p14:creationId xmlns:p14="http://schemas.microsoft.com/office/powerpoint/2010/main" val="78989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BCCA9-B880-3149-1633-DD622748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 가입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7E09FA-F50C-53E5-7047-A47698AF1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7" y="1866507"/>
            <a:ext cx="3806024" cy="44164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140225B-D847-0811-25F2-DAF6A6A82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897" y="1866507"/>
            <a:ext cx="7030127" cy="36019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ED5F79B-32A4-86BF-9A78-3D03C265B099}"/>
              </a:ext>
            </a:extLst>
          </p:cNvPr>
          <p:cNvSpPr/>
          <p:nvPr/>
        </p:nvSpPr>
        <p:spPr>
          <a:xfrm>
            <a:off x="4930219" y="4440025"/>
            <a:ext cx="1084082" cy="254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915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66CA3-5D3C-478A-2549-937C5E42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28A4AA-4D5E-A2B8-D1C7-F544441D6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2914"/>
            <a:ext cx="4272948" cy="4026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23DED0-4832-60C0-D219-864FCE4A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827" y="1822201"/>
            <a:ext cx="6262632" cy="464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041A6-E940-FF54-B1C4-407F38E5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instruments </a:t>
            </a:r>
            <a:r>
              <a:rPr lang="ko-KR" altLang="en-US"/>
              <a:t>주소 접근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FC8B76-50BF-8694-518B-FB31001E1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52247"/>
            <a:ext cx="3419952" cy="11812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05319C-281C-DC81-FA8E-F562FE7A50A8}"/>
              </a:ext>
            </a:extLst>
          </p:cNvPr>
          <p:cNvSpPr txBox="1"/>
          <p:nvPr/>
        </p:nvSpPr>
        <p:spPr>
          <a:xfrm>
            <a:off x="1097280" y="3299381"/>
            <a:ext cx="1033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instrument</a:t>
            </a:r>
            <a:r>
              <a:rPr lang="ko-KR" altLang="en-US"/>
              <a:t> </a:t>
            </a:r>
            <a:r>
              <a:rPr lang="en-US" altLang="ko-KR"/>
              <a:t>DB</a:t>
            </a:r>
            <a:r>
              <a:rPr lang="ko-KR" altLang="en-US"/>
              <a:t>를 설정했는데 왜 데이터가 안나오지</a:t>
            </a:r>
            <a:r>
              <a:rPr lang="en-US" altLang="ko-KR"/>
              <a:t>? </a:t>
            </a:r>
            <a:r>
              <a:rPr lang="en-US" altLang="ko-KR">
                <a:sym typeface="Wingdings" panose="05000000000000000000" pitchFamily="2" charset="2"/>
              </a:rPr>
              <a:t> RLS </a:t>
            </a:r>
            <a:r>
              <a:rPr lang="ko-KR" altLang="en-US">
                <a:sym typeface="Wingdings" panose="05000000000000000000" pitchFamily="2" charset="2"/>
              </a:rPr>
              <a:t>정책 이슈</a:t>
            </a:r>
            <a:r>
              <a:rPr lang="en-US" altLang="ko-KR">
                <a:sym typeface="Wingdings" panose="05000000000000000000" pitchFamily="2" charset="2"/>
              </a:rPr>
              <a:t>!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22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1E718-757C-9D7D-3194-D3CD6141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ym typeface="Wingdings" panose="05000000000000000000" pitchFamily="2" charset="2"/>
              </a:rPr>
              <a:t>RLS </a:t>
            </a:r>
            <a:r>
              <a:rPr lang="ko-KR" altLang="en-US">
                <a:sym typeface="Wingdings" panose="05000000000000000000" pitchFamily="2" charset="2"/>
              </a:rPr>
              <a:t>이슈 해결하기</a:t>
            </a:r>
            <a:r>
              <a:rPr lang="en-US" altLang="ko-KR">
                <a:sym typeface="Wingdings" panose="05000000000000000000" pitchFamily="2" charset="2"/>
              </a:rPr>
              <a:t>-1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82E442-66F7-FCAE-510D-06CEA78C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239" y="1882194"/>
            <a:ext cx="5487607" cy="10118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000FA2-BD16-2FD2-625B-AB9D24FDF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39" y="3038863"/>
            <a:ext cx="7296346" cy="15631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98D7E0D-A06D-4D46-EFB2-5AEA0D0A9C73}"/>
              </a:ext>
            </a:extLst>
          </p:cNvPr>
          <p:cNvSpPr/>
          <p:nvPr/>
        </p:nvSpPr>
        <p:spPr>
          <a:xfrm>
            <a:off x="2498103" y="2460396"/>
            <a:ext cx="367645" cy="197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6FEF37-A703-6FBE-B870-D7DD9BDE53A4}"/>
              </a:ext>
            </a:extLst>
          </p:cNvPr>
          <p:cNvSpPr/>
          <p:nvPr/>
        </p:nvSpPr>
        <p:spPr>
          <a:xfrm>
            <a:off x="5610520" y="4319047"/>
            <a:ext cx="367645" cy="197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687E6C0-9302-575F-6AD9-1E874DB62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424" y="1882194"/>
            <a:ext cx="5170271" cy="407554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02FDF6-B0BA-FA5B-4D86-316F22FC796B}"/>
              </a:ext>
            </a:extLst>
          </p:cNvPr>
          <p:cNvSpPr/>
          <p:nvPr/>
        </p:nvSpPr>
        <p:spPr>
          <a:xfrm>
            <a:off x="7987645" y="5480115"/>
            <a:ext cx="1410879" cy="278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D2850F-9E81-D39F-8FE3-6EB43BFC137C}"/>
              </a:ext>
            </a:extLst>
          </p:cNvPr>
          <p:cNvSpPr txBox="1"/>
          <p:nvPr/>
        </p:nvSpPr>
        <p:spPr>
          <a:xfrm>
            <a:off x="1211239" y="4732256"/>
            <a:ext cx="5487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instruments</a:t>
            </a:r>
            <a:r>
              <a:rPr lang="ko-KR" altLang="en-US" sz="1200"/>
              <a:t> 정책을 보면 </a:t>
            </a:r>
            <a:r>
              <a:rPr lang="en-US" altLang="ko-KR" sz="1200"/>
              <a:t>anonymous</a:t>
            </a:r>
            <a:r>
              <a:rPr lang="ko-KR" altLang="en-US" sz="1200"/>
              <a:t>로 되어있으나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우리의 </a:t>
            </a:r>
            <a:r>
              <a:rPr lang="en-US" altLang="ko-KR" sz="1200"/>
              <a:t>Role</a:t>
            </a:r>
            <a:r>
              <a:rPr lang="ko-KR" altLang="en-US" sz="1200"/>
              <a:t>은 </a:t>
            </a:r>
            <a:r>
              <a:rPr lang="en-US" altLang="ko-KR" sz="1200"/>
              <a:t>authenticate</a:t>
            </a:r>
            <a:r>
              <a:rPr lang="ko-KR" altLang="en-US" sz="1200"/>
              <a:t>로 되어있다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(anonymous</a:t>
            </a:r>
            <a:r>
              <a:rPr lang="ko-KR" altLang="en-US" sz="1200"/>
              <a:t>면 모두 허용되어야하는데</a:t>
            </a:r>
            <a:r>
              <a:rPr lang="en-US" altLang="ko-KR" sz="1200"/>
              <a:t>...</a:t>
            </a:r>
            <a:br>
              <a:rPr lang="en-US" altLang="ko-KR" sz="1200"/>
            </a:br>
            <a:r>
              <a:rPr lang="en-US" altLang="ko-KR" sz="1200"/>
              <a:t>  supabase</a:t>
            </a:r>
            <a:r>
              <a:rPr lang="ko-KR" altLang="en-US" sz="1200"/>
              <a:t>는 해당하는 권한만 동등비교해서 기능을 부여하나 보다</a:t>
            </a:r>
            <a:r>
              <a:rPr lang="en-US" altLang="ko-KR" sz="1200"/>
              <a:t>...)</a:t>
            </a:r>
            <a:br>
              <a:rPr lang="en-US" altLang="ko-KR" sz="1200"/>
            </a:br>
            <a:br>
              <a:rPr lang="en-US" altLang="ko-KR" sz="1200"/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73991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5016E-3267-484C-105E-6DFD64DA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ym typeface="Wingdings" panose="05000000000000000000" pitchFamily="2" charset="2"/>
              </a:rPr>
              <a:t>RLS </a:t>
            </a:r>
            <a:r>
              <a:rPr lang="ko-KR" altLang="en-US">
                <a:sym typeface="Wingdings" panose="05000000000000000000" pitchFamily="2" charset="2"/>
              </a:rPr>
              <a:t>이슈 해결하기</a:t>
            </a:r>
            <a:r>
              <a:rPr lang="en-US" altLang="ko-KR">
                <a:sym typeface="Wingdings" panose="05000000000000000000" pitchFamily="2" charset="2"/>
              </a:rPr>
              <a:t>-2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71F9B49-B066-1F5C-D0FB-B6CEB0CBCD6C}"/>
              </a:ext>
            </a:extLst>
          </p:cNvPr>
          <p:cNvGrpSpPr/>
          <p:nvPr/>
        </p:nvGrpSpPr>
        <p:grpSpPr>
          <a:xfrm>
            <a:off x="348792" y="1908493"/>
            <a:ext cx="4157915" cy="1890510"/>
            <a:chOff x="348792" y="1908493"/>
            <a:chExt cx="4157915" cy="18905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9FD77B1-6D33-9E5E-BBEE-4997A9B5F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665"/>
            <a:stretch>
              <a:fillRect/>
            </a:stretch>
          </p:blipFill>
          <p:spPr>
            <a:xfrm>
              <a:off x="348792" y="1908493"/>
              <a:ext cx="4157915" cy="189051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96CCDF7-3897-6C0D-C137-D6F2BEE5A19A}"/>
                </a:ext>
              </a:extLst>
            </p:cNvPr>
            <p:cNvSpPr/>
            <p:nvPr/>
          </p:nvSpPr>
          <p:spPr>
            <a:xfrm>
              <a:off x="2969443" y="2818614"/>
              <a:ext cx="820132" cy="2922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8F9B44B-3C34-F3EA-9490-25658E98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040" y="1908493"/>
            <a:ext cx="3409427" cy="429106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E3EF0DD-7833-86D3-444D-3A7100D6DA7A}"/>
              </a:ext>
            </a:extLst>
          </p:cNvPr>
          <p:cNvSpPr/>
          <p:nvPr/>
        </p:nvSpPr>
        <p:spPr>
          <a:xfrm>
            <a:off x="4752680" y="4479302"/>
            <a:ext cx="820132" cy="292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E73316-CE3E-FFF0-35E7-35C69262C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103" y="2824078"/>
            <a:ext cx="2457793" cy="12098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CABAA9-2FF8-F29F-F693-11F2AE750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237" y="1901001"/>
            <a:ext cx="2457793" cy="120984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0E5884-1CFD-7EA8-A8A3-661DB6610C66}"/>
              </a:ext>
            </a:extLst>
          </p:cNvPr>
          <p:cNvSpPr/>
          <p:nvPr/>
        </p:nvSpPr>
        <p:spPr>
          <a:xfrm>
            <a:off x="9954705" y="2707632"/>
            <a:ext cx="851554" cy="318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837535-BEEC-6871-0580-64ED5208E9E8}"/>
              </a:ext>
            </a:extLst>
          </p:cNvPr>
          <p:cNvCxnSpPr>
            <a:stCxn id="5" idx="3"/>
          </p:cNvCxnSpPr>
          <p:nvPr/>
        </p:nvCxnSpPr>
        <p:spPr>
          <a:xfrm>
            <a:off x="3789575" y="2964730"/>
            <a:ext cx="963105" cy="17203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0A667C5-8687-5389-44D3-65FE4FFFAA56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5572812" y="2866818"/>
            <a:ext cx="4381893" cy="175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341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2A148-0968-547E-62E3-36D9E4F3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ym typeface="Wingdings" panose="05000000000000000000" pitchFamily="2" charset="2"/>
              </a:rPr>
              <a:t>RLS </a:t>
            </a:r>
            <a:r>
              <a:rPr lang="ko-KR" altLang="en-US">
                <a:sym typeface="Wingdings" panose="05000000000000000000" pitchFamily="2" charset="2"/>
              </a:rPr>
              <a:t>이슈 해결하기</a:t>
            </a:r>
            <a:r>
              <a:rPr lang="en-US" altLang="ko-KR">
                <a:sym typeface="Wingdings" panose="05000000000000000000" pitchFamily="2" charset="2"/>
              </a:rPr>
              <a:t>-3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699FE5-0587-3B50-6CFD-D07A2F96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1413"/>
            <a:ext cx="3278343" cy="4253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7B908C-1E2B-2408-B84C-2C78E177F22B}"/>
              </a:ext>
            </a:extLst>
          </p:cNvPr>
          <p:cNvSpPr txBox="1"/>
          <p:nvPr/>
        </p:nvSpPr>
        <p:spPr>
          <a:xfrm>
            <a:off x="4506012" y="1941922"/>
            <a:ext cx="64667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instruments </a:t>
            </a:r>
            <a:r>
              <a:rPr lang="ko-KR" altLang="en-US" sz="1400"/>
              <a:t>테이블 확인 </a:t>
            </a:r>
            <a:r>
              <a:rPr lang="en-US" altLang="ko-KR" sz="1400"/>
              <a:t>(</a:t>
            </a:r>
            <a:r>
              <a:rPr lang="ko-KR" altLang="en-US" sz="1400"/>
              <a:t>프로젝트 인증 및 셋팅 완료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br>
              <a:rPr lang="en-US" altLang="ko-KR" sz="1400"/>
            </a:br>
            <a:r>
              <a:rPr lang="ko-KR" altLang="en-US" sz="1400" b="1"/>
              <a:t>다음 수업 미리 준비하기</a:t>
            </a:r>
            <a:br>
              <a:rPr lang="en-US" altLang="ko-KR" sz="1400"/>
            </a:br>
            <a:r>
              <a:rPr lang="en-US" altLang="ko-KR" sz="1400"/>
              <a:t>※ </a:t>
            </a:r>
            <a:r>
              <a:rPr lang="en-US" altLang="ko-KR" sz="1400">
                <a:sym typeface="Wingdings" panose="05000000000000000000" pitchFamily="2" charset="2"/>
              </a:rPr>
              <a:t>supabase </a:t>
            </a:r>
            <a:r>
              <a:rPr lang="ko-KR" altLang="en-US" sz="1400">
                <a:sym typeface="Wingdings" panose="05000000000000000000" pitchFamily="2" charset="2"/>
              </a:rPr>
              <a:t>프로젝트는 이후 강의에서 코드를 제공할 예정임으로 다음 파일들을 삭제한다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0AC724-7F25-B320-060C-2DB03BFF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804" y="3355244"/>
            <a:ext cx="1448002" cy="9526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52FA49-A175-7A9A-43AA-263A5447CDE2}"/>
              </a:ext>
            </a:extLst>
          </p:cNvPr>
          <p:cNvSpPr txBox="1"/>
          <p:nvPr/>
        </p:nvSpPr>
        <p:spPr>
          <a:xfrm>
            <a:off x="6096000" y="3355244"/>
            <a:ext cx="581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instruments</a:t>
            </a:r>
            <a:r>
              <a:rPr lang="ko-KR" altLang="en-US"/>
              <a:t> 폴더 및 파일 삭제</a:t>
            </a:r>
            <a:r>
              <a:rPr lang="en-US" altLang="ko-KR"/>
              <a:t>. (</a:t>
            </a:r>
            <a:r>
              <a:rPr lang="ko-KR" altLang="en-US"/>
              <a:t>프로젝트 폴더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r>
              <a:rPr lang="en-US" altLang="ko-KR"/>
              <a:t>instruments DB</a:t>
            </a:r>
            <a:r>
              <a:rPr lang="ko-KR" altLang="en-US"/>
              <a:t>는 샘플 테이블임으로 삭제</a:t>
            </a:r>
            <a:r>
              <a:rPr lang="en-US" altLang="ko-KR"/>
              <a:t>(</a:t>
            </a:r>
            <a:r>
              <a:rPr lang="ko-KR" altLang="en-US"/>
              <a:t>사이트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35FF2EC-30FA-D1D2-655E-B39CF7A44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931" y="4524707"/>
            <a:ext cx="7158474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6459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</TotalTime>
  <Words>521</Words>
  <Application>Microsoft Office PowerPoint</Application>
  <PresentationFormat>와이드스크린</PresentationFormat>
  <Paragraphs>78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Calibri</vt:lpstr>
      <vt:lpstr>Calibri Light</vt:lpstr>
      <vt:lpstr>Consolas</vt:lpstr>
      <vt:lpstr>Source Code Pro</vt:lpstr>
      <vt:lpstr>Wingdings</vt:lpstr>
      <vt:lpstr>추억</vt:lpstr>
      <vt:lpstr>Supabase </vt:lpstr>
      <vt:lpstr>Supabase 기능들</vt:lpstr>
      <vt:lpstr>Supabase 프로젝트 셋팅 알기-1</vt:lpstr>
      <vt:lpstr>Supabase 프로젝트 셋팅 알기-2</vt:lpstr>
      <vt:lpstr>Supabase 프로젝트 셋팅 알기-3</vt:lpstr>
      <vt:lpstr>Supabase Instrument 예제 실행 </vt:lpstr>
      <vt:lpstr>Supabase 프로젝트 셋팅 알기-4</vt:lpstr>
      <vt:lpstr>Supabase 프로젝트 서버 실행</vt:lpstr>
      <vt:lpstr>Supabase 프로젝트 셋팅 알기-5</vt:lpstr>
      <vt:lpstr>Supabase 프로젝트 셋팅 알기-6</vt:lpstr>
      <vt:lpstr>로그인 인증 기능 확인하기-1 </vt:lpstr>
      <vt:lpstr>회원 가입</vt:lpstr>
      <vt:lpstr>로그인</vt:lpstr>
      <vt:lpstr>instruments 주소 접근</vt:lpstr>
      <vt:lpstr>RLS 이슈 해결하기-1</vt:lpstr>
      <vt:lpstr>RLS 이슈 해결하기-2</vt:lpstr>
      <vt:lpstr>RLS 이슈 해결하기-3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41</cp:revision>
  <dcterms:created xsi:type="dcterms:W3CDTF">2026-07-04T14:40:08Z</dcterms:created>
  <dcterms:modified xsi:type="dcterms:W3CDTF">2026-07-04T15:59:38Z</dcterms:modified>
</cp:coreProperties>
</file>