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80916CA-D7B9-49DF-9A97-BF1159F4FFD3}">
          <p14:sldIdLst>
            <p14:sldId id="258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laude 스킬 유용하게 사용하는 방법" id="{84DA934F-271A-4B5C-9B12-0DBE4D3B8183}">
          <p14:sldIdLst>
            <p14:sldId id="270"/>
            <p14:sldId id="271"/>
          </p14:sldIdLst>
        </p14:section>
        <p14:section name="터미널 환경 스킬 추가하기" id="{D74A0BAF-C417-4E35-9423-277EB1119C8E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38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0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71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68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7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88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40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22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01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3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70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76B8F7F-A78D-41DD-9F6C-994F9B1AA61C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8E1D5D-0625-42B0-BA96-91FF455A051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731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941E6B-A254-352E-734D-4367C95A0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Claude Agent Skill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4F3576-24B1-FE6F-1515-918649331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2A003-7586-2269-AE95-468FBC2F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Agent Skill </a:t>
            </a:r>
            <a:r>
              <a:rPr lang="ko-KR" altLang="en-US"/>
              <a:t>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DD66C-0C20-7860-1F28-E4BB15521F91}"/>
              </a:ext>
            </a:extLst>
          </p:cNvPr>
          <p:cNvSpPr txBox="1"/>
          <p:nvPr/>
        </p:nvSpPr>
        <p:spPr>
          <a:xfrm>
            <a:off x="1121790" y="1847654"/>
            <a:ext cx="100206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/>
              <a:t>Claude Desktop </a:t>
            </a:r>
          </a:p>
          <a:p>
            <a:pPr marL="285750" indent="-285750">
              <a:buFontTx/>
              <a:buChar char="-"/>
            </a:pPr>
            <a:r>
              <a:rPr lang="en-US" altLang="ko-KR" sz="1400"/>
              <a:t>Claude Code (CLI)</a:t>
            </a:r>
          </a:p>
          <a:p>
            <a:pPr marL="285750" indent="-285750">
              <a:buFontTx/>
              <a:buChar char="-"/>
            </a:pPr>
            <a:r>
              <a:rPr lang="en-US" altLang="ko-KR" sz="1400"/>
              <a:t>Claude API</a:t>
            </a:r>
            <a:br>
              <a:rPr lang="en-US" altLang="ko-KR" sz="1400"/>
            </a:br>
            <a:endParaRPr lang="en-US" altLang="ko-KR" sz="1400"/>
          </a:p>
          <a:p>
            <a:r>
              <a:rPr lang="ko-KR" altLang="en-US" sz="1400"/>
              <a:t>한 번 만들어두면 모든 범위에서 사용가능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ko-KR" altLang="en-US" sz="1400"/>
              <a:t>기본적으로 제공하는 기술 </a:t>
            </a:r>
            <a:r>
              <a:rPr lang="en-US" altLang="ko-KR" sz="1400"/>
              <a:t>(</a:t>
            </a:r>
            <a:r>
              <a:rPr lang="ko-KR" altLang="en-US" sz="1400"/>
              <a:t>하기 사진 참조</a:t>
            </a:r>
            <a:r>
              <a:rPr lang="en-US" altLang="ko-KR" sz="1400"/>
              <a:t>)</a:t>
            </a:r>
            <a:br>
              <a:rPr lang="en-US" altLang="ko-KR" sz="1400"/>
            </a:b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FF16455-D4C2-65AF-FC46-6C3308328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96" t="23780" r="24923" b="32508"/>
          <a:stretch>
            <a:fillRect/>
          </a:stretch>
        </p:blipFill>
        <p:spPr>
          <a:xfrm>
            <a:off x="1121790" y="3232649"/>
            <a:ext cx="6325387" cy="2997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202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61EF9-5293-0AB7-D560-E76C2B8B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내장 스킬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ECEC08-BABE-350D-90CF-EACFBF329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85" t="28178" r="23221"/>
          <a:stretch>
            <a:fillRect/>
          </a:stretch>
        </p:blipFill>
        <p:spPr>
          <a:xfrm>
            <a:off x="248869" y="1920604"/>
            <a:ext cx="3729244" cy="3009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122857-8730-C598-E995-C78F8E500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17" t="11684" r="22062"/>
          <a:stretch>
            <a:fillRect/>
          </a:stretch>
        </p:blipFill>
        <p:spPr>
          <a:xfrm>
            <a:off x="4310286" y="1920604"/>
            <a:ext cx="3424171" cy="3009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851654-E2EE-ABC7-2847-5E4BF7F910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99" t="4179"/>
          <a:stretch>
            <a:fillRect/>
          </a:stretch>
        </p:blipFill>
        <p:spPr>
          <a:xfrm>
            <a:off x="7925228" y="1920604"/>
            <a:ext cx="4125370" cy="45193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191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5D997-47C5-8896-509C-5C213DF6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Code Desktop Agent Skill </a:t>
            </a:r>
            <a:r>
              <a:rPr lang="ko-KR" altLang="en-US"/>
              <a:t>활성화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5C89548-A04D-F3A6-5DE2-225252695DC2}"/>
              </a:ext>
            </a:extLst>
          </p:cNvPr>
          <p:cNvGrpSpPr/>
          <p:nvPr/>
        </p:nvGrpSpPr>
        <p:grpSpPr>
          <a:xfrm>
            <a:off x="1212975" y="1848124"/>
            <a:ext cx="6337896" cy="4723273"/>
            <a:chOff x="1212975" y="1848124"/>
            <a:chExt cx="6337896" cy="472327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6B7F3B8-CFD8-2122-B3CF-43F00A0FF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975" y="1848124"/>
              <a:ext cx="6337896" cy="47232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2A32F1F-85BA-2C93-E05B-343FB9206EB5}"/>
                </a:ext>
              </a:extLst>
            </p:cNvPr>
            <p:cNvSpPr/>
            <p:nvPr/>
          </p:nvSpPr>
          <p:spPr>
            <a:xfrm>
              <a:off x="6096000" y="5194169"/>
              <a:ext cx="314227" cy="3299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707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88016-214A-E65F-61DC-756EE7BC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스킬 다운로드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4CC3423-23F7-37C9-6290-9A8B9CD88AF6}"/>
              </a:ext>
            </a:extLst>
          </p:cNvPr>
          <p:cNvGrpSpPr/>
          <p:nvPr/>
        </p:nvGrpSpPr>
        <p:grpSpPr>
          <a:xfrm>
            <a:off x="395926" y="1873804"/>
            <a:ext cx="6042582" cy="4321123"/>
            <a:chOff x="395925" y="1873804"/>
            <a:chExt cx="6372521" cy="47865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343E72B-0244-D72F-24BA-220996261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69"/>
            <a:stretch>
              <a:fillRect/>
            </a:stretch>
          </p:blipFill>
          <p:spPr>
            <a:xfrm>
              <a:off x="395925" y="1873804"/>
              <a:ext cx="6372521" cy="478651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9542A8-FEA2-9CCA-1F06-1405B8901F40}"/>
                </a:ext>
              </a:extLst>
            </p:cNvPr>
            <p:cNvSpPr/>
            <p:nvPr/>
          </p:nvSpPr>
          <p:spPr>
            <a:xfrm>
              <a:off x="395925" y="5778631"/>
              <a:ext cx="970962" cy="2733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18DCFEAE-ECCF-54DC-F6DC-2877FFD1CA14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1366887" y="2224727"/>
              <a:ext cx="4243632" cy="36905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FE989CD-98A5-07CF-E72B-A9A794871C01}"/>
                </a:ext>
              </a:extLst>
            </p:cNvPr>
            <p:cNvSpPr/>
            <p:nvPr/>
          </p:nvSpPr>
          <p:spPr>
            <a:xfrm>
              <a:off x="5125038" y="1912577"/>
              <a:ext cx="970962" cy="2733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587A354C-08D2-469B-9D22-50D1EDE2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915" y="1873804"/>
            <a:ext cx="4946160" cy="43211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46360E-4054-E95A-04BE-8D27E8010916}"/>
              </a:ext>
            </a:extLst>
          </p:cNvPr>
          <p:cNvSpPr txBox="1"/>
          <p:nvPr/>
        </p:nvSpPr>
        <p:spPr>
          <a:xfrm>
            <a:off x="2884601" y="4269338"/>
            <a:ext cx="5458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활용 가능한 스킬</a:t>
            </a:r>
            <a:r>
              <a:rPr lang="en-US" altLang="ko-KR" sz="1200"/>
              <a:t>(</a:t>
            </a:r>
            <a:r>
              <a:rPr lang="ko-KR" altLang="en-US" sz="1200"/>
              <a:t>예시</a:t>
            </a:r>
            <a:r>
              <a:rPr lang="en-US" altLang="ko-KR" sz="1200"/>
              <a:t>)</a:t>
            </a:r>
            <a:br>
              <a:rPr lang="en-US" altLang="ko-KR" sz="1200"/>
            </a:br>
            <a:r>
              <a:rPr lang="en-US" altLang="ko-KR" sz="1200"/>
              <a:t>/algorithmic-art : </a:t>
            </a:r>
            <a:r>
              <a:rPr lang="ko-KR" altLang="en-US" sz="1200"/>
              <a:t>코드로 예술작품을 만드는 알고리즘 아트 스킬</a:t>
            </a:r>
            <a:br>
              <a:rPr lang="en-US" altLang="ko-KR" sz="1200"/>
            </a:br>
            <a:r>
              <a:rPr lang="en-US" altLang="ko-KR" sz="1200"/>
              <a:t>/canvus-design : </a:t>
            </a:r>
            <a:r>
              <a:rPr lang="ko-KR" altLang="en-US" sz="1200"/>
              <a:t>포스터나 디자인 작품을  </a:t>
            </a:r>
            <a:r>
              <a:rPr lang="en-US" altLang="ko-KR" sz="1200"/>
              <a:t>PNG</a:t>
            </a:r>
            <a:r>
              <a:rPr lang="ko-KR" altLang="en-US" sz="1200"/>
              <a:t>나 </a:t>
            </a:r>
            <a:r>
              <a:rPr lang="en-US" altLang="ko-KR" sz="1200"/>
              <a:t>PDF </a:t>
            </a:r>
            <a:r>
              <a:rPr lang="ko-KR" altLang="en-US" sz="1200"/>
              <a:t>형태로 만들어주는 스킬</a:t>
            </a:r>
            <a:br>
              <a:rPr lang="en-US" altLang="ko-KR" sz="1200"/>
            </a:br>
            <a:r>
              <a:rPr lang="en-US" altLang="ko-KR" sz="1200"/>
              <a:t>/mcp-builder : mcp </a:t>
            </a:r>
            <a:r>
              <a:rPr lang="ko-KR" altLang="en-US" sz="1200"/>
              <a:t>서버를 만들어주는 스킬</a:t>
            </a:r>
            <a:br>
              <a:rPr lang="en-US" altLang="ko-KR" sz="1200"/>
            </a:br>
            <a:r>
              <a:rPr lang="en-US" altLang="ko-KR" sz="1200"/>
              <a:t>/skill-creator : </a:t>
            </a:r>
            <a:r>
              <a:rPr lang="ko-KR" altLang="en-US" sz="1200"/>
              <a:t>새로운 스킬을 만들거나 기존 스킬을 업데이트 할 때 사용하는 </a:t>
            </a:r>
            <a:br>
              <a:rPr lang="en-US" altLang="ko-KR" sz="1200"/>
            </a:br>
            <a:r>
              <a:rPr lang="en-US" altLang="ko-KR" sz="1200"/>
              <a:t>                          </a:t>
            </a:r>
            <a:r>
              <a:rPr lang="ko-KR" altLang="en-US" sz="1200"/>
              <a:t>스킬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998881B-3C26-6261-7E8B-489DB28C9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379" y="5469667"/>
            <a:ext cx="5859617" cy="14178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244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01EA0-B2F8-DD04-7E2F-77FC4CC6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만들기 </a:t>
            </a:r>
            <a:r>
              <a:rPr lang="en-US" altLang="ko-KR"/>
              <a:t>-1</a:t>
            </a:r>
            <a:r>
              <a:rPr lang="ko-KR" altLang="en-US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E0A7F0-0DEF-45C4-C3AC-CC0DC688E4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60" t="28866" r="23531"/>
          <a:stretch>
            <a:fillRect/>
          </a:stretch>
        </p:blipFill>
        <p:spPr>
          <a:xfrm>
            <a:off x="122549" y="1885360"/>
            <a:ext cx="5412080" cy="4100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B9CFC0-E741-E2AF-8ED2-681D522D8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91" t="11272" r="26392"/>
          <a:stretch>
            <a:fillRect/>
          </a:stretch>
        </p:blipFill>
        <p:spPr>
          <a:xfrm>
            <a:off x="5693790" y="1885360"/>
            <a:ext cx="3670979" cy="35633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4930BB-09B0-A6E4-4B45-4AFC1DFBAB41}"/>
              </a:ext>
            </a:extLst>
          </p:cNvPr>
          <p:cNvSpPr txBox="1"/>
          <p:nvPr/>
        </p:nvSpPr>
        <p:spPr>
          <a:xfrm>
            <a:off x="5693790" y="5533534"/>
            <a:ext cx="6375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skill-creator</a:t>
            </a:r>
            <a:r>
              <a:rPr lang="ko-KR" altLang="en-US" sz="1400"/>
              <a:t>가 </a:t>
            </a:r>
            <a:r>
              <a:rPr lang="en-US" altLang="ko-KR" sz="1400"/>
              <a:t>PPT </a:t>
            </a:r>
            <a:r>
              <a:rPr lang="ko-KR" altLang="en-US" sz="1400"/>
              <a:t>가이드 구조에 따라 </a:t>
            </a:r>
            <a:br>
              <a:rPr lang="en-US" altLang="ko-KR" sz="1400"/>
            </a:br>
            <a:r>
              <a:rPr lang="ko-KR" altLang="en-US" sz="1400"/>
              <a:t>전용 스킬을 만들수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50433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30F70-831B-A494-6F43-5CC5BC0A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만들기 </a:t>
            </a:r>
            <a:r>
              <a:rPr lang="en-US" altLang="ko-KR"/>
              <a:t>-2.1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3A8301A-1EAF-C97B-4CE9-ED0E4C97FBE6}"/>
              </a:ext>
            </a:extLst>
          </p:cNvPr>
          <p:cNvGrpSpPr/>
          <p:nvPr/>
        </p:nvGrpSpPr>
        <p:grpSpPr>
          <a:xfrm>
            <a:off x="234008" y="1942981"/>
            <a:ext cx="5861992" cy="4391861"/>
            <a:chOff x="234008" y="1942981"/>
            <a:chExt cx="5861992" cy="439186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3186B0C-CF82-493A-AAAD-BEB1A73C8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008" y="1942981"/>
              <a:ext cx="5861992" cy="43918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04F512C-98E6-DC42-9CEA-CDA3CA2AE481}"/>
                </a:ext>
              </a:extLst>
            </p:cNvPr>
            <p:cNvSpPr/>
            <p:nvPr/>
          </p:nvSpPr>
          <p:spPr>
            <a:xfrm>
              <a:off x="4524866" y="2592371"/>
              <a:ext cx="1140643" cy="3016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E3B3FB-B396-76F5-4A93-B8F322AF5FC8}"/>
              </a:ext>
            </a:extLst>
          </p:cNvPr>
          <p:cNvSpPr txBox="1"/>
          <p:nvPr/>
        </p:nvSpPr>
        <p:spPr>
          <a:xfrm>
            <a:off x="6259398" y="1942981"/>
            <a:ext cx="5090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스킬의 구조를 파악해서 만든 스킬을 </a:t>
            </a:r>
            <a:br>
              <a:rPr lang="en-US" altLang="ko-KR" sz="1200"/>
            </a:br>
            <a:r>
              <a:rPr lang="ko-KR" altLang="en-US" sz="1200"/>
              <a:t>스킬 업로드로 올릴수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0BEF35-B358-D9C3-9BB9-058B117C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13" t="23917" r="41315" b="35063"/>
          <a:stretch>
            <a:fillRect/>
          </a:stretch>
        </p:blipFill>
        <p:spPr>
          <a:xfrm>
            <a:off x="6297105" y="2553707"/>
            <a:ext cx="1451728" cy="15527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A16598-7BEF-DFFC-88FA-D998806698D8}"/>
              </a:ext>
            </a:extLst>
          </p:cNvPr>
          <p:cNvSpPr txBox="1"/>
          <p:nvPr/>
        </p:nvSpPr>
        <p:spPr>
          <a:xfrm>
            <a:off x="6297105" y="4106453"/>
            <a:ext cx="4355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Agent Skill</a:t>
            </a:r>
            <a:r>
              <a:rPr lang="ko-KR" altLang="en-US" sz="1400"/>
              <a:t>의 구조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FDEAA1-FA0E-7618-2A00-6E9BCF8E40D3}"/>
              </a:ext>
            </a:extLst>
          </p:cNvPr>
          <p:cNvSpPr txBox="1"/>
          <p:nvPr/>
        </p:nvSpPr>
        <p:spPr>
          <a:xfrm>
            <a:off x="6381946" y="4590854"/>
            <a:ext cx="557604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지침서 </a:t>
            </a:r>
            <a:r>
              <a:rPr lang="en-US" altLang="ko-KR" sz="1100"/>
              <a:t>: </a:t>
            </a:r>
            <a:r>
              <a:rPr lang="ko-KR" altLang="en-US" sz="1100"/>
              <a:t>클로드가 읽고 따라야 할 매뉴얼이 작성되어 있는 문서</a:t>
            </a:r>
            <a:endParaRPr lang="en-US" altLang="ko-KR" sz="1100"/>
          </a:p>
          <a:p>
            <a:r>
              <a:rPr lang="ko-KR" altLang="en-US" sz="1100"/>
              <a:t>참고자료</a:t>
            </a:r>
            <a:r>
              <a:rPr lang="en-US" altLang="ko-KR" sz="1100"/>
              <a:t>: </a:t>
            </a:r>
            <a:r>
              <a:rPr lang="ko-KR" altLang="en-US" sz="1100"/>
              <a:t>추가로 필요한 문서나 정보를 가지고 있는 자료</a:t>
            </a:r>
            <a:endParaRPr lang="en-US" altLang="ko-KR" sz="1100"/>
          </a:p>
          <a:p>
            <a:r>
              <a:rPr lang="ko-KR" altLang="en-US" sz="1100"/>
              <a:t>스크립트</a:t>
            </a:r>
            <a:r>
              <a:rPr lang="en-US" altLang="ko-KR" sz="1100"/>
              <a:t>: </a:t>
            </a:r>
            <a:r>
              <a:rPr lang="ko-KR" altLang="en-US" sz="1100"/>
              <a:t>실제로 실행되는 코드 파일</a:t>
            </a:r>
            <a:r>
              <a:rPr lang="en-US" altLang="ko-KR" sz="1100"/>
              <a:t> 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※ </a:t>
            </a:r>
            <a:r>
              <a:rPr lang="ko-KR" altLang="en-US" sz="1100"/>
              <a:t>지침서 파일 명은 무조건 </a:t>
            </a:r>
            <a:r>
              <a:rPr lang="en-US" altLang="ko-KR" sz="1100"/>
              <a:t>: SKILL.md </a:t>
            </a:r>
            <a:r>
              <a:rPr lang="ko-KR" altLang="en-US" sz="1100"/>
              <a:t>여야한다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</a:t>
            </a:r>
            <a:r>
              <a:rPr lang="ko-KR" altLang="en-US" sz="1100"/>
              <a:t>참고자료 명은 마음대로 작성해도 상관없음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</a:t>
            </a:r>
            <a:r>
              <a:rPr lang="ko-KR" altLang="en-US" sz="1100"/>
              <a:t>스크립트는 복잡한 작업을 자동화 하는 실행 코드</a:t>
            </a:r>
            <a:br>
              <a:rPr lang="en-US" altLang="ko-KR" sz="1100"/>
            </a:br>
            <a:r>
              <a:rPr lang="en-US" altLang="ko-KR" sz="1100"/>
              <a:t>    (</a:t>
            </a:r>
            <a:r>
              <a:rPr lang="en-US" altLang="ko-KR" sz="1100">
                <a:sym typeface="Wingdings" panose="05000000000000000000" pitchFamily="2" charset="2"/>
              </a:rPr>
              <a:t> Claude</a:t>
            </a:r>
            <a:r>
              <a:rPr lang="ko-KR" altLang="en-US" sz="1100">
                <a:sym typeface="Wingdings" panose="05000000000000000000" pitchFamily="2" charset="2"/>
              </a:rPr>
              <a:t>가 매번 코드를 새로 작성하지 않음</a:t>
            </a:r>
            <a:r>
              <a:rPr lang="en-US" altLang="ko-KR" sz="1100">
                <a:sym typeface="Wingdings" panose="05000000000000000000" pitchFamily="2" charset="2"/>
              </a:rPr>
              <a:t>, </a:t>
            </a:r>
            <a:r>
              <a:rPr lang="ko-KR" altLang="en-US" sz="1100">
                <a:sym typeface="Wingdings" panose="05000000000000000000" pitchFamily="2" charset="2"/>
              </a:rPr>
              <a:t>미리 준비된 스크립트 실행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</a:t>
            </a:r>
            <a:r>
              <a:rPr lang="ko-KR" altLang="en-US" sz="1100">
                <a:sym typeface="Wingdings" panose="05000000000000000000" pitchFamily="2" charset="2"/>
              </a:rPr>
              <a:t>매번 동일한 결과 보장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endParaRPr lang="ko-KR" altLang="en-US" sz="11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CF5B0C0-1513-54F7-B87A-82AF9433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09" t="11684" r="4588" b="5980"/>
          <a:stretch>
            <a:fillRect/>
          </a:stretch>
        </p:blipFill>
        <p:spPr>
          <a:xfrm>
            <a:off x="8019035" y="2482574"/>
            <a:ext cx="3493635" cy="20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82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2D5E4-4F87-0F04-453C-55023FDD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구조</a:t>
            </a:r>
            <a:r>
              <a:rPr lang="en-US" altLang="ko-KR"/>
              <a:t>-1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743F8C-9452-62D4-0722-73D3D003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14" t="15395" r="27320" b="36495"/>
          <a:stretch>
            <a:fillRect/>
          </a:stretch>
        </p:blipFill>
        <p:spPr>
          <a:xfrm>
            <a:off x="138260" y="1913641"/>
            <a:ext cx="4136025" cy="22905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0E684D-0582-2CE2-8AB8-05BD3D900F78}"/>
              </a:ext>
            </a:extLst>
          </p:cNvPr>
          <p:cNvSpPr txBox="1"/>
          <p:nvPr/>
        </p:nvSpPr>
        <p:spPr>
          <a:xfrm>
            <a:off x="4911365" y="1913641"/>
            <a:ext cx="684386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SKILL.md</a:t>
            </a:r>
            <a:br>
              <a:rPr lang="en-US" altLang="ko-KR"/>
            </a:br>
            <a:r>
              <a:rPr lang="ko-KR" altLang="en-US" sz="1100" b="1">
                <a:solidFill>
                  <a:srgbClr val="FF0000"/>
                </a:solidFill>
              </a:rPr>
              <a:t>프론트 메타</a:t>
            </a:r>
            <a:r>
              <a:rPr lang="en-US" altLang="ko-KR" sz="1100" b="1">
                <a:solidFill>
                  <a:srgbClr val="FF0000"/>
                </a:solidFill>
              </a:rPr>
              <a:t>:</a:t>
            </a:r>
            <a:r>
              <a:rPr lang="en-US" altLang="ko-KR" sz="1100"/>
              <a:t> </a:t>
            </a:r>
            <a:r>
              <a:rPr lang="ko-KR" altLang="en-US" sz="1100"/>
              <a:t>클로드가 수많은 스킬 중 어떤 스킬을 선택해서 사용할지</a:t>
            </a:r>
            <a:br>
              <a:rPr lang="en-US" altLang="ko-KR" sz="1100"/>
            </a:br>
            <a:r>
              <a:rPr lang="en-US" altLang="ko-KR" sz="1100" b="1">
                <a:solidFill>
                  <a:srgbClr val="FF0000"/>
                </a:solidFill>
              </a:rPr>
              <a:t>#Instructions / # Example : </a:t>
            </a:r>
            <a:r>
              <a:rPr lang="ko-KR" altLang="en-US" sz="1100"/>
              <a:t>클로드가 스킬을 사용할 때 구체적으로 어떡게 작업해야 하는지</a:t>
            </a:r>
            <a:br>
              <a:rPr lang="en-US" altLang="ko-KR" sz="1100"/>
            </a:br>
            <a:r>
              <a:rPr lang="en-US" altLang="ko-KR" sz="1100"/>
              <a:t>※ SKILL.md </a:t>
            </a:r>
            <a:r>
              <a:rPr lang="ko-KR" altLang="en-US" sz="1100"/>
              <a:t>도 마찬가지로 본문이 길어지면 성능이 저하될 수 있음으로 </a:t>
            </a:r>
            <a:r>
              <a:rPr lang="en-US" altLang="ko-KR" sz="1100"/>
              <a:t>500</a:t>
            </a:r>
            <a:r>
              <a:rPr lang="ko-KR" altLang="en-US" sz="1100"/>
              <a:t>줄 이하로 유지하는걸 권장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9F2FAF-A1A1-AA30-BBC4-E4F15C978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9" y="4280876"/>
            <a:ext cx="5222757" cy="24687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78895C3-B90F-698E-4AA5-A0545B043A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444" t="31478" r="29175" b="23849"/>
          <a:stretch>
            <a:fillRect/>
          </a:stretch>
        </p:blipFill>
        <p:spPr>
          <a:xfrm>
            <a:off x="5521168" y="3050836"/>
            <a:ext cx="6532572" cy="369875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8F79047-1613-50CD-4DFC-3B5D61B2A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554" y="108408"/>
            <a:ext cx="4645982" cy="145075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DF7D395-290E-4A02-0AFD-A4BA8BBC2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" y="108408"/>
            <a:ext cx="5630061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0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4EE4B-9079-FDB9-57DB-6B4A267D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 구조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CBC9B4-7A7B-FBDA-C46D-CAFE09758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97" t="25333" r="27938" b="22200"/>
          <a:stretch>
            <a:fillRect/>
          </a:stretch>
        </p:blipFill>
        <p:spPr>
          <a:xfrm>
            <a:off x="273377" y="1907043"/>
            <a:ext cx="4392891" cy="27487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044822-6AE9-BEF8-892E-1C59822C9FBB}"/>
              </a:ext>
            </a:extLst>
          </p:cNvPr>
          <p:cNvSpPr txBox="1"/>
          <p:nvPr/>
        </p:nvSpPr>
        <p:spPr>
          <a:xfrm>
            <a:off x="273377" y="4674290"/>
            <a:ext cx="7173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※ </a:t>
            </a:r>
            <a:r>
              <a:rPr lang="ko-KR" altLang="en-US" sz="1400"/>
              <a:t>참고 </a:t>
            </a:r>
            <a:r>
              <a:rPr lang="en-US" altLang="ko-KR" sz="1400"/>
              <a:t>md </a:t>
            </a:r>
            <a:r>
              <a:rPr lang="ko-KR" altLang="en-US" sz="1400"/>
              <a:t>파일 분리를 명시할 때의 예시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A5D5F9-73DD-75E8-053E-8CF81272C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4" t="15945" r="33196"/>
          <a:stretch>
            <a:fillRect/>
          </a:stretch>
        </p:blipFill>
        <p:spPr>
          <a:xfrm>
            <a:off x="4798244" y="1907043"/>
            <a:ext cx="3875590" cy="4380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A61DFC-4F29-8D13-5B9B-38C33894B2BF}"/>
              </a:ext>
            </a:extLst>
          </p:cNvPr>
          <p:cNvSpPr txBox="1"/>
          <p:nvPr/>
        </p:nvSpPr>
        <p:spPr>
          <a:xfrm>
            <a:off x="8795208" y="1907043"/>
            <a:ext cx="31234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스크립트에 실행 파일 경로를 작성해두면</a:t>
            </a:r>
            <a:br>
              <a:rPr lang="en-US" altLang="ko-KR" sz="1000"/>
            </a:br>
            <a:r>
              <a:rPr lang="ko-KR" altLang="en-US" sz="1000"/>
              <a:t>실행파일을 읽고 분석하는것이 아닌 바로 실행시켜버림</a:t>
            </a:r>
            <a:r>
              <a:rPr lang="en-US" altLang="ko-KR" sz="1000"/>
              <a:t>. </a:t>
            </a:r>
            <a:r>
              <a:rPr lang="en-US" altLang="ko-KR" sz="1000">
                <a:sym typeface="Wingdings" panose="05000000000000000000" pitchFamily="2" charset="2"/>
              </a:rPr>
              <a:t> </a:t>
            </a:r>
            <a:r>
              <a:rPr lang="ko-KR" altLang="en-US" sz="1000">
                <a:sym typeface="Wingdings" panose="05000000000000000000" pitchFamily="2" charset="2"/>
              </a:rPr>
              <a:t>토큰 절약 및 일관된 결과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80138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C86C9-89BE-205F-8380-30835598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커스텀커맨드</a:t>
            </a:r>
            <a:r>
              <a:rPr lang="en-US" altLang="ko-KR" sz="3600"/>
              <a:t>/</a:t>
            </a:r>
            <a:r>
              <a:rPr lang="ko-KR" altLang="en-US" sz="3600"/>
              <a:t>서브에이전트 </a:t>
            </a:r>
            <a:r>
              <a:rPr lang="en-US" altLang="ko-KR" sz="3600"/>
              <a:t>vs </a:t>
            </a:r>
            <a:r>
              <a:rPr lang="ko-KR" altLang="en-US" sz="3600"/>
              <a:t>클로드 스킬</a:t>
            </a:r>
            <a:r>
              <a:rPr lang="en-US" altLang="ko-KR" sz="3600"/>
              <a:t>-1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82E46C-3C8E-20DF-4A49-E7A6B502D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214" y="1837049"/>
            <a:ext cx="8590961" cy="483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9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C59DE-B841-D46F-AE2C-4FF38C786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커스텀커맨드</a:t>
            </a:r>
            <a:r>
              <a:rPr lang="en-US" altLang="ko-KR" sz="3600"/>
              <a:t>/</a:t>
            </a:r>
            <a:r>
              <a:rPr lang="ko-KR" altLang="en-US" sz="3600"/>
              <a:t>서브에이전트 </a:t>
            </a:r>
            <a:r>
              <a:rPr lang="en-US" altLang="ko-KR" sz="3600"/>
              <a:t>vs </a:t>
            </a:r>
            <a:r>
              <a:rPr lang="ko-KR" altLang="en-US" sz="3600"/>
              <a:t>클로드 스킬</a:t>
            </a:r>
            <a:r>
              <a:rPr lang="en-US" altLang="ko-KR" sz="3600"/>
              <a:t>-2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0ED72B-CAF0-93FA-8CDE-34C1A9F1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00" y="1845033"/>
            <a:ext cx="8402425" cy="47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7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C6AAC-CEC7-8C93-F046-D970AB12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 Skiil </a:t>
            </a:r>
            <a:r>
              <a:rPr lang="ko-KR" altLang="en-US"/>
              <a:t>용도 정리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BCA65A-522E-B0A5-91B4-F022D515E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77" y="1835279"/>
            <a:ext cx="8543827" cy="48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94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CA386-A2CB-050D-EA63-CD5AC2BA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스킬의 유효성 체감하기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2290BD-E786-0480-E90D-0553CD58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92" t="44399" r="16263"/>
          <a:stretch>
            <a:fillRect/>
          </a:stretch>
        </p:blipFill>
        <p:spPr>
          <a:xfrm>
            <a:off x="141401" y="1819373"/>
            <a:ext cx="6942091" cy="32239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620D91-BDA3-F7D8-1D10-481056362788}"/>
              </a:ext>
            </a:extLst>
          </p:cNvPr>
          <p:cNvSpPr txBox="1"/>
          <p:nvPr/>
        </p:nvSpPr>
        <p:spPr>
          <a:xfrm>
            <a:off x="7164371" y="1809946"/>
            <a:ext cx="4826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web-artifacts-builder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React | tailwind CSS | shadcn/ui </a:t>
            </a:r>
            <a:r>
              <a:rPr lang="ko-KR" altLang="en-US" sz="1400">
                <a:sym typeface="Wingdings" panose="05000000000000000000" pitchFamily="2" charset="2"/>
              </a:rPr>
              <a:t>기반의 웹 개발 셋팅을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ko-KR" altLang="en-US" sz="1400">
                <a:sym typeface="Wingdings" panose="05000000000000000000" pitchFamily="2" charset="2"/>
              </a:rPr>
              <a:t>도와주는 </a:t>
            </a:r>
            <a:r>
              <a:rPr lang="en-US" altLang="ko-KR" sz="1400">
                <a:sym typeface="Wingdings" panose="05000000000000000000" pitchFamily="2" charset="2"/>
              </a:rPr>
              <a:t>SKILL </a:t>
            </a:r>
            <a:r>
              <a:rPr lang="ko-KR" altLang="en-US" sz="1400">
                <a:sym typeface="Wingdings" panose="05000000000000000000" pitchFamily="2" charset="2"/>
              </a:rPr>
              <a:t>로 일관된 셋팅을 보장한다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</a:t>
            </a:r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664898E-A089-FA57-6507-0CB2901FA0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23" t="11547" r="23531" b="6530"/>
          <a:stretch>
            <a:fillRect/>
          </a:stretch>
        </p:blipFill>
        <p:spPr>
          <a:xfrm>
            <a:off x="7296346" y="2639504"/>
            <a:ext cx="4389206" cy="37424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51F3A46-2564-89F9-7F79-D39C26EF0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66" y="3576293"/>
            <a:ext cx="5216165" cy="29340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A77C9E-6D9D-81B1-E82C-2A941B9813F4}"/>
              </a:ext>
            </a:extLst>
          </p:cNvPr>
          <p:cNvSpPr txBox="1"/>
          <p:nvPr/>
        </p:nvSpPr>
        <p:spPr>
          <a:xfrm>
            <a:off x="5241303" y="4006392"/>
            <a:ext cx="1517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>
                <a:solidFill>
                  <a:srgbClr val="FF0000"/>
                </a:solidFill>
              </a:rPr>
              <a:t>랜딩 페이지 요청 결과</a:t>
            </a:r>
          </a:p>
        </p:txBody>
      </p:sp>
    </p:spTree>
    <p:extLst>
      <p:ext uri="{BB962C8B-B14F-4D97-AF65-F5344CB8AC3E}">
        <p14:creationId xmlns:p14="http://schemas.microsoft.com/office/powerpoint/2010/main" val="2203164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DA6E4-333B-ECD4-2BF0-CF9BE051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공식문서를 기억시키기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7B66A-3DDB-2A17-9755-44625CB096C0}"/>
              </a:ext>
            </a:extLst>
          </p:cNvPr>
          <p:cNvSpPr txBox="1"/>
          <p:nvPr/>
        </p:nvSpPr>
        <p:spPr>
          <a:xfrm>
            <a:off x="1097280" y="1923068"/>
            <a:ext cx="3059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예시 </a:t>
            </a:r>
            <a:r>
              <a:rPr lang="en-US" altLang="ko-KR" sz="1400"/>
              <a:t>: NextJS </a:t>
            </a:r>
            <a:endParaRPr lang="ko-KR" altLang="en-US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8F3E6D-6D89-B222-A909-BC91B784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629"/>
          <a:stretch>
            <a:fillRect/>
          </a:stretch>
        </p:blipFill>
        <p:spPr>
          <a:xfrm>
            <a:off x="1097280" y="2367748"/>
            <a:ext cx="3059941" cy="44195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C6D8A1C-979F-585D-F594-F9CFFA9918D8}"/>
              </a:ext>
            </a:extLst>
          </p:cNvPr>
          <p:cNvSpPr/>
          <p:nvPr/>
        </p:nvSpPr>
        <p:spPr>
          <a:xfrm>
            <a:off x="1187776" y="3535052"/>
            <a:ext cx="1300899" cy="3233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A1C5DC0-98E4-9F16-8814-22A42FAEE365}"/>
              </a:ext>
            </a:extLst>
          </p:cNvPr>
          <p:cNvGrpSpPr/>
          <p:nvPr/>
        </p:nvGrpSpPr>
        <p:grpSpPr>
          <a:xfrm>
            <a:off x="4209331" y="2367748"/>
            <a:ext cx="7982669" cy="4490251"/>
            <a:chOff x="4209331" y="2367748"/>
            <a:chExt cx="7982669" cy="449025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F97CFC5-808B-DCAB-285C-B620598AD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9331" y="2367748"/>
              <a:ext cx="7982669" cy="4490251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F5A7E23-5FCB-ABE1-685C-DF7673C60FFB}"/>
                </a:ext>
              </a:extLst>
            </p:cNvPr>
            <p:cNvSpPr/>
            <p:nvPr/>
          </p:nvSpPr>
          <p:spPr>
            <a:xfrm>
              <a:off x="7051249" y="4986779"/>
              <a:ext cx="4798244" cy="509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5DD2CD7-5C02-9FB2-BA38-0256BD19F238}"/>
                </a:ext>
              </a:extLst>
            </p:cNvPr>
            <p:cNvSpPr/>
            <p:nvPr/>
          </p:nvSpPr>
          <p:spPr>
            <a:xfrm>
              <a:off x="7051249" y="6062349"/>
              <a:ext cx="4798244" cy="509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9FF90A7-7B11-5439-55A8-84B8B64B379C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488675" y="5151749"/>
            <a:ext cx="4562574" cy="895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761B475-B216-3FD2-F59A-9B0B5C68F3A9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488675" y="5151749"/>
            <a:ext cx="4562574" cy="11651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871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3F40E-07E0-BA38-76CE-CE719A1F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MCP</a:t>
            </a:r>
            <a:r>
              <a:rPr lang="ko-KR" altLang="en-US"/>
              <a:t>의 용량이 과다한 경우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CEFA8EA-315A-990D-E2B1-0D8B1C904CD7}"/>
              </a:ext>
            </a:extLst>
          </p:cNvPr>
          <p:cNvGrpSpPr/>
          <p:nvPr/>
        </p:nvGrpSpPr>
        <p:grpSpPr>
          <a:xfrm>
            <a:off x="150829" y="1881562"/>
            <a:ext cx="5778631" cy="4689835"/>
            <a:chOff x="150829" y="1881562"/>
            <a:chExt cx="5778631" cy="468983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274BC65-5885-FA38-A203-27DCD8CAD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0691"/>
            <a:stretch>
              <a:fillRect/>
            </a:stretch>
          </p:blipFill>
          <p:spPr>
            <a:xfrm>
              <a:off x="150829" y="1881562"/>
              <a:ext cx="5778631" cy="468983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C8429B2-9695-C833-2F8A-97AECB0146E6}"/>
                </a:ext>
              </a:extLst>
            </p:cNvPr>
            <p:cNvSpPr/>
            <p:nvPr/>
          </p:nvSpPr>
          <p:spPr>
            <a:xfrm>
              <a:off x="2017336" y="4345757"/>
              <a:ext cx="3167406" cy="202676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077A26C-E9FB-E5A8-E09D-9F728561D554}"/>
              </a:ext>
            </a:extLst>
          </p:cNvPr>
          <p:cNvSpPr txBox="1"/>
          <p:nvPr/>
        </p:nvSpPr>
        <p:spPr>
          <a:xfrm>
            <a:off x="6096000" y="1857080"/>
            <a:ext cx="5923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playwright</a:t>
            </a:r>
            <a:r>
              <a:rPr lang="ko-KR" altLang="en-US" sz="1200"/>
              <a:t> 만 하더라도 여러 도구를 지니고 있고 이를  전부 </a:t>
            </a:r>
            <a:r>
              <a:rPr lang="en-US" altLang="ko-KR" sz="1200"/>
              <a:t>load </a:t>
            </a:r>
            <a:r>
              <a:rPr lang="ko-KR" altLang="en-US" sz="1200"/>
              <a:t>하고 있다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200"/>
              <a:t>이는 </a:t>
            </a:r>
            <a:r>
              <a:rPr lang="en-US" altLang="ko-KR" sz="1200"/>
              <a:t>Context </a:t>
            </a:r>
            <a:r>
              <a:rPr lang="ko-KR" altLang="en-US" sz="1200"/>
              <a:t>측면에서 매우 낭비이며</a:t>
            </a:r>
            <a:r>
              <a:rPr lang="en-US" altLang="ko-KR" sz="1200"/>
              <a:t>, Skill</a:t>
            </a:r>
            <a:r>
              <a:rPr lang="ko-KR" altLang="en-US" sz="1200"/>
              <a:t>은 점진적으로 필요할 경우에 필요한 기능만 </a:t>
            </a:r>
            <a:br>
              <a:rPr lang="en-US" altLang="ko-KR" sz="1200"/>
            </a:br>
            <a:r>
              <a:rPr lang="ko-KR" altLang="en-US" sz="1200"/>
              <a:t>로드함으로 </a:t>
            </a:r>
            <a:r>
              <a:rPr lang="en-US" altLang="ko-KR" sz="1200"/>
              <a:t>Agent Skill</a:t>
            </a:r>
            <a:r>
              <a:rPr lang="ko-KR" altLang="en-US" sz="1200"/>
              <a:t>을 사용하면 토큰을 절약할 수 있다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playwright </a:t>
            </a:r>
            <a:r>
              <a:rPr lang="ko-KR" altLang="en-US" sz="1200"/>
              <a:t>스킬이라는 기술이 있다 해당 기능을 </a:t>
            </a:r>
            <a:r>
              <a:rPr lang="en-US" altLang="ko-KR" sz="1200"/>
              <a:t>plugin</a:t>
            </a:r>
            <a:r>
              <a:rPr lang="ko-KR" altLang="en-US" sz="1200"/>
              <a:t>하면 필요할 때</a:t>
            </a:r>
            <a:r>
              <a:rPr lang="en-US" altLang="ko-KR" sz="1200"/>
              <a:t>, Playwright</a:t>
            </a:r>
            <a:r>
              <a:rPr lang="ko-KR" altLang="en-US" sz="1200"/>
              <a:t>의 부분적인 기능들만 </a:t>
            </a:r>
            <a:r>
              <a:rPr lang="en-US" altLang="ko-KR" sz="1200"/>
              <a:t>Context</a:t>
            </a:r>
            <a:r>
              <a:rPr lang="ko-KR" altLang="en-US" sz="1200"/>
              <a:t>에 올릴수 있다</a:t>
            </a:r>
            <a:r>
              <a:rPr lang="en-US" altLang="ko-KR" sz="1200"/>
              <a:t>. </a:t>
            </a:r>
            <a:r>
              <a:rPr lang="en-US" altLang="ko-KR" sz="1200" b="1">
                <a:solidFill>
                  <a:srgbClr val="FF0000"/>
                </a:solidFill>
              </a:rPr>
              <a:t>https://github.com/lackeyjb/playwright-skill</a:t>
            </a:r>
            <a:br>
              <a:rPr lang="en-US" altLang="ko-KR" sz="1200"/>
            </a:b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B688A9-C25E-02B6-F709-2884FDE4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1" y="2895359"/>
            <a:ext cx="3300324" cy="38116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904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2C8BB-D021-D178-A517-3A823053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터미널 환경 스킬 만들기 </a:t>
            </a:r>
            <a:r>
              <a:rPr lang="en-US" altLang="ko-KR"/>
              <a:t>- </a:t>
            </a:r>
            <a:r>
              <a:rPr lang="ko-KR" altLang="en-US"/>
              <a:t>직접작성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0CFDA-ED0A-EEA2-8B49-C6B94D04B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11" y="1809947"/>
            <a:ext cx="8021564" cy="4512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8368B8-2A0B-CE11-97FB-456203C0D678}"/>
              </a:ext>
            </a:extLst>
          </p:cNvPr>
          <p:cNvSpPr txBox="1"/>
          <p:nvPr/>
        </p:nvSpPr>
        <p:spPr>
          <a:xfrm>
            <a:off x="2738488" y="3461205"/>
            <a:ext cx="7418895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>
                <a:solidFill>
                  <a:srgbClr val="FFFF00"/>
                </a:solidFill>
              </a:rPr>
              <a:t>skills </a:t>
            </a:r>
            <a:r>
              <a:rPr lang="ko-KR" altLang="en-US" sz="1400">
                <a:solidFill>
                  <a:srgbClr val="FFFF00"/>
                </a:solidFill>
              </a:rPr>
              <a:t>디렉토리 하위에 스킬명을 정의하는 폴더 생성</a:t>
            </a:r>
            <a:endParaRPr lang="en-US" altLang="ko-KR" sz="140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400">
                <a:solidFill>
                  <a:srgbClr val="FFFF00"/>
                </a:solidFill>
              </a:rPr>
              <a:t>SKILL.md </a:t>
            </a:r>
            <a:r>
              <a:rPr lang="ko-KR" altLang="en-US" sz="1400">
                <a:solidFill>
                  <a:srgbClr val="FFFF00"/>
                </a:solidFill>
              </a:rPr>
              <a:t>작성</a:t>
            </a:r>
            <a:endParaRPr lang="en-US" altLang="ko-KR" sz="140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>
                <a:solidFill>
                  <a:srgbClr val="FFFF00"/>
                </a:solidFill>
              </a:rPr>
              <a:t>메타프론트 작성 </a:t>
            </a:r>
            <a:r>
              <a:rPr lang="en-US" altLang="ko-KR" sz="1400">
                <a:solidFill>
                  <a:srgbClr val="FFFF00"/>
                </a:solidFill>
              </a:rPr>
              <a:t>(name / description)</a:t>
            </a:r>
            <a:br>
              <a:rPr lang="en-US" altLang="ko-KR" sz="1400">
                <a:solidFill>
                  <a:srgbClr val="FFFF00"/>
                </a:solidFill>
              </a:rPr>
            </a:br>
            <a:r>
              <a:rPr lang="en-US" altLang="ko-KR" sz="1100">
                <a:solidFill>
                  <a:srgbClr val="FFFF00"/>
                </a:solidFill>
              </a:rPr>
              <a:t>- Skill </a:t>
            </a:r>
            <a:r>
              <a:rPr lang="ko-KR" altLang="en-US" sz="1100">
                <a:solidFill>
                  <a:srgbClr val="FFFF00"/>
                </a:solidFill>
              </a:rPr>
              <a:t>명</a:t>
            </a:r>
            <a:br>
              <a:rPr lang="en-US" altLang="ko-KR" sz="1100">
                <a:solidFill>
                  <a:srgbClr val="FFFF00"/>
                </a:solidFill>
              </a:rPr>
            </a:br>
            <a:r>
              <a:rPr lang="en-US" altLang="ko-KR" sz="1100">
                <a:solidFill>
                  <a:srgbClr val="FFFF00"/>
                </a:solidFill>
              </a:rPr>
              <a:t>- Skill</a:t>
            </a:r>
            <a:r>
              <a:rPr lang="ko-KR" altLang="en-US" sz="1100">
                <a:solidFill>
                  <a:srgbClr val="FFFF00"/>
                </a:solidFill>
              </a:rPr>
              <a:t>에 대한 간략한 설명</a:t>
            </a:r>
            <a:endParaRPr lang="en-US" altLang="ko-KR" sz="110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>
                <a:solidFill>
                  <a:srgbClr val="FFFF00"/>
                </a:solidFill>
              </a:rPr>
              <a:t>본문 작성</a:t>
            </a:r>
            <a:br>
              <a:rPr lang="en-US" altLang="ko-KR" sz="1400">
                <a:solidFill>
                  <a:srgbClr val="FFFF00"/>
                </a:solidFill>
              </a:rPr>
            </a:br>
            <a:r>
              <a:rPr lang="en-US" altLang="ko-KR" sz="1100">
                <a:solidFill>
                  <a:srgbClr val="FFFF00"/>
                </a:solidFill>
              </a:rPr>
              <a:t>- Skill</a:t>
            </a:r>
            <a:r>
              <a:rPr lang="ko-KR" altLang="en-US" sz="1100">
                <a:solidFill>
                  <a:srgbClr val="FFFF00"/>
                </a:solidFill>
              </a:rPr>
              <a:t>의 동작 지침</a:t>
            </a:r>
            <a:endParaRPr lang="en-US" altLang="ko-KR" sz="1100">
              <a:solidFill>
                <a:srgbClr val="FFFF00"/>
              </a:solidFill>
            </a:endParaRPr>
          </a:p>
          <a:p>
            <a:r>
              <a:rPr lang="en-US" altLang="ko-KR" sz="1100">
                <a:solidFill>
                  <a:srgbClr val="FFFF00"/>
                </a:solidFill>
              </a:rPr>
              <a:t>(※ nextjs-16 </a:t>
            </a:r>
            <a:r>
              <a:rPr lang="ko-KR" altLang="en-US" sz="1100">
                <a:solidFill>
                  <a:srgbClr val="FFFF00"/>
                </a:solidFill>
              </a:rPr>
              <a:t>내 폴더 또는 파일은 참고 자료로써 동작한다</a:t>
            </a:r>
            <a:r>
              <a:rPr lang="en-US" altLang="ko-KR" sz="1100">
                <a:solidFill>
                  <a:srgbClr val="FFFF00"/>
                </a:solidFill>
              </a:rPr>
              <a:t>.</a:t>
            </a:r>
            <a:br>
              <a:rPr lang="en-US" altLang="ko-KR" sz="1100">
                <a:solidFill>
                  <a:srgbClr val="FFFF00"/>
                </a:solidFill>
              </a:rPr>
            </a:br>
            <a:r>
              <a:rPr lang="en-US" altLang="ko-KR" sz="1100">
                <a:solidFill>
                  <a:srgbClr val="FFFF00"/>
                </a:solidFill>
              </a:rPr>
              <a:t>      SKILL.md </a:t>
            </a:r>
            <a:r>
              <a:rPr lang="ko-KR" altLang="en-US" sz="1100">
                <a:solidFill>
                  <a:srgbClr val="FFFF00"/>
                </a:solidFill>
              </a:rPr>
              <a:t>내 </a:t>
            </a:r>
            <a:r>
              <a:rPr lang="en-US" altLang="ko-KR" sz="1100">
                <a:solidFill>
                  <a:srgbClr val="FFFF00"/>
                </a:solidFill>
              </a:rPr>
              <a:t>reference/REFERENCE.md)</a:t>
            </a:r>
            <a:br>
              <a:rPr lang="en-US" altLang="ko-KR" sz="1100">
                <a:solidFill>
                  <a:srgbClr val="FFFF00"/>
                </a:solidFill>
              </a:rPr>
            </a:br>
            <a:endParaRPr lang="en-US" altLang="ko-KR" sz="140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endParaRPr lang="ko-KR" altLang="en-US" sz="1400">
              <a:solidFill>
                <a:srgbClr val="FFFF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E1F5C7-AA36-BF5C-1E28-1F7D1A65B7B7}"/>
              </a:ext>
            </a:extLst>
          </p:cNvPr>
          <p:cNvSpPr/>
          <p:nvPr/>
        </p:nvSpPr>
        <p:spPr>
          <a:xfrm>
            <a:off x="461911" y="3497344"/>
            <a:ext cx="746287" cy="17911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F80A2B-56A4-3BC1-7D32-A0D24AAB8B3F}"/>
              </a:ext>
            </a:extLst>
          </p:cNvPr>
          <p:cNvSpPr/>
          <p:nvPr/>
        </p:nvSpPr>
        <p:spPr>
          <a:xfrm>
            <a:off x="472907" y="3866558"/>
            <a:ext cx="735292" cy="17911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3B7F6AE-776B-B323-6497-6C353FCDC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33" t="21718" b="55739"/>
          <a:stretch>
            <a:fillRect/>
          </a:stretch>
        </p:blipFill>
        <p:spPr>
          <a:xfrm>
            <a:off x="5655140" y="1999539"/>
            <a:ext cx="6264113" cy="116696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7A5B902-71C0-9DD9-C9FE-D8CCEE291E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742" t="9897" r="36443" b="19725"/>
          <a:stretch>
            <a:fillRect/>
          </a:stretch>
        </p:blipFill>
        <p:spPr>
          <a:xfrm>
            <a:off x="7636887" y="3254634"/>
            <a:ext cx="2520496" cy="304073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727362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F9CB6-7677-D744-1059-A3A45B0E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터미널 환경 스킬 만들기 </a:t>
            </a:r>
            <a:r>
              <a:rPr lang="en-US" altLang="ko-KR" sz="4000"/>
              <a:t>– creator skills</a:t>
            </a:r>
            <a:endParaRPr lang="ko-KR" altLang="en-US" sz="400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947E57C-E378-3A7E-2118-5CB374AD1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95" y="1785173"/>
            <a:ext cx="5174191" cy="351105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92FCFF2-DA2E-19BA-96B8-BA7AEFF3A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95" y="5359121"/>
            <a:ext cx="4496427" cy="68589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4D69B33-B670-75F5-5E1E-D16FDF898C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974" t="11854" r="8500" b="17526"/>
          <a:stretch>
            <a:fillRect/>
          </a:stretch>
        </p:blipFill>
        <p:spPr>
          <a:xfrm>
            <a:off x="5446940" y="1785173"/>
            <a:ext cx="6508265" cy="38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3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4450D-D7DE-A420-7917-DCB3BD7A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터미널 환경 스킬 만들기 </a:t>
            </a:r>
            <a:r>
              <a:rPr lang="en-US" altLang="ko-KR" sz="4400"/>
              <a:t>– creator skills</a:t>
            </a:r>
            <a:endParaRPr lang="ko-KR" altLang="en-US" sz="44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FDEC1AF-2975-C0FB-D100-9A28A90ADD0A}"/>
              </a:ext>
            </a:extLst>
          </p:cNvPr>
          <p:cNvGrpSpPr/>
          <p:nvPr/>
        </p:nvGrpSpPr>
        <p:grpSpPr>
          <a:xfrm>
            <a:off x="113122" y="1981986"/>
            <a:ext cx="8333295" cy="4687478"/>
            <a:chOff x="113122" y="1981986"/>
            <a:chExt cx="8333295" cy="468747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51320EA-6395-BA6B-B6D9-BE679052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22" y="1981986"/>
              <a:ext cx="8333295" cy="468747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EF24958-866E-959E-65D4-73D426114C77}"/>
                </a:ext>
              </a:extLst>
            </p:cNvPr>
            <p:cNvSpPr/>
            <p:nvPr/>
          </p:nvSpPr>
          <p:spPr>
            <a:xfrm>
              <a:off x="2309567" y="4468305"/>
              <a:ext cx="3459637" cy="2356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22ECE3F-1858-1D9C-9A08-E1DE2DFFB5B8}"/>
              </a:ext>
            </a:extLst>
          </p:cNvPr>
          <p:cNvSpPr txBox="1"/>
          <p:nvPr/>
        </p:nvSpPr>
        <p:spPr>
          <a:xfrm>
            <a:off x="8578392" y="1998482"/>
            <a:ext cx="3431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사용자 경로에 파일 생성</a:t>
            </a:r>
          </a:p>
        </p:txBody>
      </p:sp>
    </p:spTree>
    <p:extLst>
      <p:ext uri="{BB962C8B-B14F-4D97-AF65-F5344CB8AC3E}">
        <p14:creationId xmlns:p14="http://schemas.microsoft.com/office/powerpoint/2010/main" val="1679692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BCB93-4D74-C524-EF0E-9519EA9E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스킬 특성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4FAAB-88D1-9E3B-B220-424477C045B2}"/>
              </a:ext>
            </a:extLst>
          </p:cNvPr>
          <p:cNvSpPr txBox="1"/>
          <p:nvPr/>
        </p:nvSpPr>
        <p:spPr>
          <a:xfrm>
            <a:off x="1178351" y="1857080"/>
            <a:ext cx="102657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/>
              <a:t>스킬 등록시 커맨드로 자동 등록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ko-KR" altLang="en-US" sz="1200"/>
              <a:t>프론트매터에 다음 사진과 같은 필드를 지정할 수 있음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200"/>
              <a:t>예시 </a:t>
            </a:r>
            <a:r>
              <a:rPr lang="en-US" altLang="ko-KR" sz="1200"/>
              <a:t>)context : fork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설정시 서브에이전트가 </a:t>
            </a:r>
            <a:r>
              <a:rPr lang="en-US" altLang="ko-KR" sz="1200">
                <a:sym typeface="Wingdings" panose="05000000000000000000" pitchFamily="2" charset="2"/>
              </a:rPr>
              <a:t>Skill</a:t>
            </a:r>
            <a:r>
              <a:rPr lang="ko-KR" altLang="en-US" sz="1200">
                <a:sym typeface="Wingdings" panose="05000000000000000000" pitchFamily="2" charset="2"/>
              </a:rPr>
              <a:t>을 사용하여 반환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                              </a:t>
            </a:r>
            <a:r>
              <a:rPr lang="ko-KR" altLang="en-US" sz="1200">
                <a:sym typeface="Wingdings" panose="05000000000000000000" pitchFamily="2" charset="2"/>
              </a:rPr>
              <a:t>독립된 </a:t>
            </a:r>
            <a:r>
              <a:rPr lang="en-US" altLang="ko-KR" sz="1200">
                <a:sym typeface="Wingdings" panose="05000000000000000000" pitchFamily="2" charset="2"/>
              </a:rPr>
              <a:t>Context</a:t>
            </a:r>
            <a:r>
              <a:rPr lang="ko-KR" altLang="en-US" sz="1200">
                <a:sym typeface="Wingdings" panose="05000000000000000000" pitchFamily="2" charset="2"/>
              </a:rPr>
              <a:t>를 가짐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      agent / hooks</a:t>
            </a:r>
            <a:r>
              <a:rPr lang="ko-KR" altLang="en-US" sz="1200">
                <a:sym typeface="Wingdings" panose="05000000000000000000" pitchFamily="2" charset="2"/>
              </a:rPr>
              <a:t>도 살펴보도록한다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200"/>
          </a:p>
          <a:p>
            <a:pPr marL="342900" indent="-342900">
              <a:buAutoNum type="arabicPeriod"/>
            </a:pPr>
            <a:endParaRPr lang="en-US" altLang="ko-KR" sz="1200"/>
          </a:p>
          <a:p>
            <a:pPr marL="342900" indent="-342900">
              <a:buAutoNum type="arabicPeriod"/>
            </a:pP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3C8258-3525-7673-A1DA-41096211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79" r="26779"/>
          <a:stretch>
            <a:fillRect/>
          </a:stretch>
        </p:blipFill>
        <p:spPr>
          <a:xfrm>
            <a:off x="6096000" y="286603"/>
            <a:ext cx="5759778" cy="596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6570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</TotalTime>
  <Words>551</Words>
  <Application>Microsoft Office PowerPoint</Application>
  <PresentationFormat>와이드스크린</PresentationFormat>
  <Paragraphs>47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Calibri</vt:lpstr>
      <vt:lpstr>Calibri Light</vt:lpstr>
      <vt:lpstr>Wingdings</vt:lpstr>
      <vt:lpstr>추억</vt:lpstr>
      <vt:lpstr>Claude Agent Skill</vt:lpstr>
      <vt:lpstr>Agent Skill 범위</vt:lpstr>
      <vt:lpstr>내장 스킬 확인</vt:lpstr>
      <vt:lpstr>Claude Code Desktop Agent Skill 활성화</vt:lpstr>
      <vt:lpstr>사용자 스킬 다운로드</vt:lpstr>
      <vt:lpstr>스킬 만들기 -1 </vt:lpstr>
      <vt:lpstr>스킬 만들기 -2.1</vt:lpstr>
      <vt:lpstr>스킬 구조-1</vt:lpstr>
      <vt:lpstr>스킬 구조-2</vt:lpstr>
      <vt:lpstr>커스텀커맨드/서브에이전트 vs 클로드 스킬-1</vt:lpstr>
      <vt:lpstr>커스텀커맨드/서브에이전트 vs 클로드 스킬-2</vt:lpstr>
      <vt:lpstr>Claude Skiil 용도 정리</vt:lpstr>
      <vt:lpstr>스킬의 유효성 체감하기</vt:lpstr>
      <vt:lpstr>공식문서를 기억시키기</vt:lpstr>
      <vt:lpstr>MCP의 용량이 과다한 경우</vt:lpstr>
      <vt:lpstr>터미널 환경 스킬 만들기 - 직접작성</vt:lpstr>
      <vt:lpstr>터미널 환경 스킬 만들기 – creator skills</vt:lpstr>
      <vt:lpstr>터미널 환경 스킬 만들기 – creator skills</vt:lpstr>
      <vt:lpstr>스킬 특성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47</cp:revision>
  <dcterms:created xsi:type="dcterms:W3CDTF">2026-07-07T08:49:28Z</dcterms:created>
  <dcterms:modified xsi:type="dcterms:W3CDTF">2026-07-07T13:28:00Z</dcterms:modified>
</cp:coreProperties>
</file>