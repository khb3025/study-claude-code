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8" r:id="rId2"/>
    <p:sldId id="260" r:id="rId3"/>
    <p:sldId id="261" r:id="rId4"/>
    <p:sldId id="263" r:id="rId5"/>
    <p:sldId id="262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06698FF-1383-49D8-B102-0CF992A5CD1B}">
          <p14:sldIdLst>
            <p14:sldId id="258"/>
          </p14:sldIdLst>
        </p14:section>
        <p14:section name="SubAgent와 Agnet Team" id="{B230AF38-30D6-4637-985B-BB3CFFC36BF7}">
          <p14:sldIdLst>
            <p14:sldId id="260"/>
            <p14:sldId id="261"/>
          </p14:sldIdLst>
        </p14:section>
        <p14:section name="Agent Team기술이 등장하게된 배경" id="{CD31CE86-15FC-4DD9-9A65-E88BE6F3DCFD}">
          <p14:sldIdLst>
            <p14:sldId id="263"/>
          </p14:sldIdLst>
        </p14:section>
        <p14:section name="SubAgent와 Agent Team 구조적 차이점" id="{E235B889-469D-48CC-B13E-1AFDE24AADB3}">
          <p14:sldIdLst>
            <p14:sldId id="262"/>
            <p14:sldId id="265"/>
            <p14:sldId id="264"/>
          </p14:sldIdLst>
        </p14:section>
        <p14:section name="Team Agent 사용해보기" id="{8C6FA71E-39C4-4AC6-B936-0F665425C8A6}">
          <p14:sldIdLst>
            <p14:sldId id="266"/>
            <p14:sldId id="267"/>
            <p14:sldId id="268"/>
            <p14:sldId id="269"/>
            <p14:sldId id="270"/>
          </p14:sldIdLst>
        </p14:section>
        <p14:section name="비용절약 방법1" id="{63D76955-DE35-482A-AAFE-CCA822BA5F60}">
          <p14:sldIdLst>
            <p14:sldId id="271"/>
          </p14:sldIdLst>
        </p14:section>
        <p14:section name="비용절약 방법2" id="{9DC53F83-7B3A-4786-A38B-8FAD390C6181}">
          <p14:sldIdLst>
            <p14:sldId id="272"/>
            <p14:sldId id="273"/>
          </p14:sldIdLst>
        </p14:section>
        <p14:section name="비용절약 방법3" id="{7122B10C-D144-43F2-A4E4-2002D4EEF55F}">
          <p14:sldIdLst>
            <p14:sldId id="274"/>
          </p14:sldIdLst>
        </p14:section>
        <p14:section name="비용절약 방법4" id="{A22113A4-FA07-4E9E-8D26-6480792AA2A0}">
          <p14:sldIdLst>
            <p14:sldId id="275"/>
          </p14:sldIdLst>
        </p14:section>
        <p14:section name="Agent Hook 2가지" id="{5BBBB417-E7A0-4C10-864E-BB71CD61E605}">
          <p14:sldIdLst>
            <p14:sldId id="276"/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377" autoAdjust="0"/>
  </p:normalViewPr>
  <p:slideViewPr>
    <p:cSldViewPr snapToGrid="0">
      <p:cViewPr varScale="1">
        <p:scale>
          <a:sx n="102" d="100"/>
          <a:sy n="102" d="100"/>
        </p:scale>
        <p:origin x="120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5BBAD9-1F97-4D34-9F23-8AFBC7D98DC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386FA-7C72-4A72-9A35-44E354BB8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93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386FA-7C72-4A72-9A35-44E354BB838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190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386FA-7C72-4A72-9A35-44E354BB838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637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495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164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39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524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303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73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08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6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25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84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054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F9BC8E-B99E-44ED-AD5C-AF5E094D744E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C5CE48-68CF-4805-B6D5-15DA12C5560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19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97FE73-DABE-608D-AD97-55790B0675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Agent Team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B27761-5304-CC7C-CDBD-AE6003AD69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7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103A2A-468B-2BAF-8BE8-F9259301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SubAgent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0A4EB4-EE39-9142-0B6D-341AF4E24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91" y="1895709"/>
            <a:ext cx="6663037" cy="3269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FAB2DB-9A24-03DC-1BDE-777F1E5443F8}"/>
              </a:ext>
            </a:extLst>
          </p:cNvPr>
          <p:cNvSpPr txBox="1"/>
          <p:nvPr/>
        </p:nvSpPr>
        <p:spPr>
          <a:xfrm>
            <a:off x="6994689" y="1895709"/>
            <a:ext cx="46945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지역만 다를뿐 하는 일은 동일한 경우</a:t>
            </a:r>
            <a:br>
              <a:rPr lang="en-US" altLang="ko-KR" sz="1200"/>
            </a:br>
            <a:r>
              <a:rPr lang="ko-KR" altLang="en-US" sz="1200"/>
              <a:t>각 지역에 맞는 서브 에이전트들만 생성하여 동작시키면 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- </a:t>
            </a:r>
            <a:r>
              <a:rPr lang="ko-KR" altLang="en-US" sz="1200"/>
              <a:t>서브 에이전트 간의 대화의 필요가 없고 </a:t>
            </a:r>
            <a:br>
              <a:rPr lang="en-US" altLang="ko-KR" sz="1200"/>
            </a:br>
            <a:r>
              <a:rPr lang="en-US" altLang="ko-KR" sz="1200"/>
              <a:t>- </a:t>
            </a:r>
            <a:r>
              <a:rPr lang="ko-KR" altLang="en-US" sz="1200"/>
              <a:t>각 서브에이전트가 독립적으로 일을 수행한다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61455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923B9-4F68-C8FE-1E4C-5D741DBC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Agent Team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850907-3E95-FFD2-0F48-D3DE4A5DE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01" y="1916778"/>
            <a:ext cx="6386080" cy="36261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4C5856-832D-E081-7B6E-531960AB9DE7}"/>
              </a:ext>
            </a:extLst>
          </p:cNvPr>
          <p:cNvSpPr txBox="1"/>
          <p:nvPr/>
        </p:nvSpPr>
        <p:spPr>
          <a:xfrm>
            <a:off x="6674177" y="1916778"/>
            <a:ext cx="477939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>
                <a:solidFill>
                  <a:srgbClr val="FF0000"/>
                </a:solidFill>
              </a:rPr>
              <a:t>예산안을 맡은 팀</a:t>
            </a:r>
            <a:r>
              <a:rPr lang="ko-KR" altLang="en-US" sz="1100"/>
              <a:t>은 시장이 얼마나 큰 지</a:t>
            </a:r>
            <a:r>
              <a:rPr lang="en-US" altLang="ko-KR" sz="1100"/>
              <a:t>, </a:t>
            </a:r>
            <a:r>
              <a:rPr lang="ko-KR" altLang="en-US" sz="1100"/>
              <a:t>경쟁사를 견재하기 위해 얼마를 더 투입해야할 지 등</a:t>
            </a:r>
            <a:r>
              <a:rPr lang="en-US" altLang="ko-KR" sz="1100"/>
              <a:t>. </a:t>
            </a:r>
            <a:r>
              <a:rPr lang="ko-KR" altLang="en-US" sz="1100"/>
              <a:t>시장 조사 팀과 경쟁사 분석 팀에 대한 소통이 필요할 것이다</a:t>
            </a:r>
            <a:r>
              <a:rPr lang="en-US" altLang="ko-KR" sz="1100"/>
              <a:t>.</a:t>
            </a:r>
            <a:br>
              <a:rPr lang="en-US" altLang="ko-KR" sz="1100"/>
            </a:br>
            <a:endParaRPr lang="en-US" altLang="ko-KR" sz="1100"/>
          </a:p>
          <a:p>
            <a:r>
              <a:rPr lang="ko-KR" altLang="en-US" sz="1100" b="1">
                <a:solidFill>
                  <a:srgbClr val="00B050"/>
                </a:solidFill>
              </a:rPr>
              <a:t>일정표를 맡은 팀</a:t>
            </a:r>
            <a:r>
              <a:rPr lang="ko-KR" altLang="en-US" sz="1100"/>
              <a:t>은 경쟁사의 이벤트</a:t>
            </a:r>
            <a:r>
              <a:rPr lang="en-US" altLang="ko-KR" sz="1100"/>
              <a:t>, </a:t>
            </a:r>
            <a:r>
              <a:rPr lang="ko-KR" altLang="en-US" sz="1100"/>
              <a:t>예산이 마련되는 시점 등 일정을 짜기 위해 필요한 정보를 각 팀과 소통을 통해 결정할 수 있을것이다</a:t>
            </a:r>
            <a:r>
              <a:rPr lang="en-US" altLang="ko-KR" sz="1100"/>
              <a:t>.</a:t>
            </a:r>
            <a:br>
              <a:rPr lang="en-US" altLang="ko-KR" sz="1100"/>
            </a:br>
            <a:br>
              <a:rPr lang="en-US" altLang="ko-KR" sz="1100"/>
            </a:br>
            <a:r>
              <a:rPr lang="ko-KR" altLang="en-US" sz="1100"/>
              <a:t>이처럼 각 팀들이 자기 일만 독립적으로 끝낼수 있는것이 아닌 상호 소통에 의해 진행되어야 할 작업이라면 </a:t>
            </a:r>
            <a:r>
              <a:rPr lang="en-US" altLang="ko-KR" sz="1100"/>
              <a:t>Agent Team</a:t>
            </a:r>
            <a:r>
              <a:rPr lang="ko-KR" altLang="en-US" sz="1100"/>
              <a:t>을 도입해야한다</a:t>
            </a:r>
            <a:r>
              <a:rPr lang="en-US" altLang="ko-KR" sz="1100"/>
              <a:t>.</a:t>
            </a:r>
            <a:br>
              <a:rPr lang="en-US" altLang="ko-KR" sz="1100"/>
            </a:b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68608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76615-BB79-F7D3-A9A1-9F240F3C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Agent Team</a:t>
            </a:r>
            <a:r>
              <a:rPr lang="ko-KR" altLang="en-US"/>
              <a:t>이 나온 배경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01902E-8AA0-7AA9-47BC-03D41A050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86" y="1819012"/>
            <a:ext cx="6069030" cy="27906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45091E-62B3-3F77-8089-0798C9143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369" y="1819012"/>
            <a:ext cx="4087186" cy="385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54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790F2-DD47-5E75-CD80-DECFE24F4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Subagent</a:t>
            </a:r>
            <a:r>
              <a:rPr lang="ko-KR" altLang="en-US"/>
              <a:t>와 </a:t>
            </a:r>
            <a:r>
              <a:rPr lang="en-US" altLang="ko-KR"/>
              <a:t>Agent</a:t>
            </a:r>
            <a:r>
              <a:rPr lang="ko-KR" altLang="en-US"/>
              <a:t>팀의 동작 구조 비교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7C226E8-7718-FEFA-06DE-3E45C193F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15" y="1943646"/>
            <a:ext cx="6901662" cy="44288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8CD16F-84BF-9E49-D9E2-C15362B56708}"/>
              </a:ext>
            </a:extLst>
          </p:cNvPr>
          <p:cNvSpPr txBox="1"/>
          <p:nvPr/>
        </p:nvSpPr>
        <p:spPr>
          <a:xfrm>
            <a:off x="7343480" y="1943646"/>
            <a:ext cx="451640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SubAgent </a:t>
            </a:r>
            <a:r>
              <a:rPr lang="ko-KR" altLang="en-US" sz="1200"/>
              <a:t>가 각각의 독립된 컨텍스트로 동작하나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SubAgent</a:t>
            </a:r>
            <a:r>
              <a:rPr lang="ko-KR" altLang="en-US" sz="1200"/>
              <a:t>의 </a:t>
            </a:r>
            <a:r>
              <a:rPr lang="ko-KR" altLang="en-US" sz="1200" b="1">
                <a:solidFill>
                  <a:srgbClr val="FF0000"/>
                </a:solidFill>
              </a:rPr>
              <a:t>자체 판단으로 미루어둔 내용</a:t>
            </a:r>
            <a:r>
              <a:rPr lang="ko-KR" altLang="en-US" sz="1200"/>
              <a:t>은 </a:t>
            </a:r>
            <a:r>
              <a:rPr lang="ko-KR" altLang="en-US" sz="1200" b="1">
                <a:solidFill>
                  <a:srgbClr val="FF0000"/>
                </a:solidFill>
              </a:rPr>
              <a:t>메인 컨텍스트에 공유되지 않고 결과만 반환</a:t>
            </a:r>
            <a:r>
              <a:rPr lang="ko-KR" altLang="en-US" sz="1200"/>
              <a:t>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AgentTeam</a:t>
            </a:r>
            <a:r>
              <a:rPr lang="ko-KR" altLang="en-US" sz="1200"/>
              <a:t>은 각 팀원이 독립된 세션</a:t>
            </a:r>
            <a:r>
              <a:rPr lang="en-US" altLang="ko-KR" sz="1200"/>
              <a:t>(</a:t>
            </a:r>
            <a:r>
              <a:rPr lang="ko-KR" altLang="en-US" sz="1200"/>
              <a:t>독립된 컨텍스트</a:t>
            </a:r>
            <a:r>
              <a:rPr lang="en-US" altLang="ko-KR" sz="1200"/>
              <a:t>)</a:t>
            </a:r>
            <a:r>
              <a:rPr lang="ko-KR" altLang="en-US" sz="1200"/>
              <a:t>을 가진다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Main Context</a:t>
            </a:r>
            <a:r>
              <a:rPr lang="ko-KR" altLang="en-US" sz="1200"/>
              <a:t>는 리더</a:t>
            </a:r>
            <a:r>
              <a:rPr lang="en-US" altLang="ko-KR" sz="1200"/>
              <a:t>(Leader)</a:t>
            </a:r>
            <a:r>
              <a:rPr lang="ko-KR" altLang="en-US" sz="1200"/>
              <a:t>가 되며</a:t>
            </a:r>
            <a:r>
              <a:rPr lang="en-US" altLang="ko-KR" sz="1200"/>
              <a:t>, </a:t>
            </a:r>
            <a:r>
              <a:rPr lang="ko-KR" altLang="en-US" sz="1200"/>
              <a:t>각각의 </a:t>
            </a:r>
            <a:r>
              <a:rPr lang="ko-KR" altLang="en-US" sz="1200" b="1">
                <a:solidFill>
                  <a:srgbClr val="00B050"/>
                </a:solidFill>
              </a:rPr>
              <a:t>팀원에게 작업 진행도를 </a:t>
            </a:r>
            <a:r>
              <a:rPr lang="ko-KR" altLang="en-US" sz="1200"/>
              <a:t>물어보거나</a:t>
            </a:r>
            <a:r>
              <a:rPr lang="en-US" altLang="ko-KR" sz="1200"/>
              <a:t>, </a:t>
            </a:r>
            <a:r>
              <a:rPr lang="ko-KR" altLang="en-US" sz="1200"/>
              <a:t>작업중 어떠한 사안에 대해 </a:t>
            </a:r>
            <a:r>
              <a:rPr lang="ko-KR" altLang="en-US" sz="1200" b="1">
                <a:solidFill>
                  <a:srgbClr val="00B050"/>
                </a:solidFill>
              </a:rPr>
              <a:t>다른 팀원과 정보를 공유하라는 등의 지시</a:t>
            </a:r>
            <a:r>
              <a:rPr lang="ko-KR" altLang="en-US" sz="1200"/>
              <a:t>를 줄 수 있다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(※ </a:t>
            </a:r>
            <a:r>
              <a:rPr lang="ko-KR" altLang="en-US" sz="1200"/>
              <a:t>말그대로 팀원간의 소통을 구현해 놓은 기술</a:t>
            </a:r>
            <a:r>
              <a:rPr lang="en-US" altLang="ko-KR" sz="1200"/>
              <a:t>)</a:t>
            </a:r>
            <a:br>
              <a:rPr lang="en-US" altLang="ko-KR" sz="1200"/>
            </a:br>
            <a:br>
              <a:rPr lang="en-US" altLang="ko-KR" sz="1200"/>
            </a:br>
            <a:r>
              <a:rPr lang="en-US" altLang="ko-KR" sz="1200"/>
              <a:t>Agent</a:t>
            </a:r>
            <a:r>
              <a:rPr lang="ko-KR" altLang="en-US" sz="1200"/>
              <a:t>팀은 각 팀원이 세션을 가지는것임으로 </a:t>
            </a:r>
            <a:r>
              <a:rPr lang="en-US" altLang="ko-KR" sz="1200"/>
              <a:t>Subagent </a:t>
            </a:r>
            <a:r>
              <a:rPr lang="ko-KR" altLang="en-US" sz="1200"/>
              <a:t>보다 토큰 비용이 더 많이 든다</a:t>
            </a:r>
            <a:r>
              <a:rPr lang="en-US" altLang="ko-KR" sz="1200"/>
              <a:t>.</a:t>
            </a:r>
            <a:br>
              <a:rPr lang="en-US" altLang="ko-KR" sz="1200"/>
            </a:b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698410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8600D-81B0-D550-A0DE-2EC1F724F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SubAgent</a:t>
            </a:r>
            <a:r>
              <a:rPr lang="ko-KR" altLang="en-US" sz="3600"/>
              <a:t>와 </a:t>
            </a:r>
            <a:r>
              <a:rPr lang="en-US" altLang="ko-KR" sz="3600"/>
              <a:t>Team Agent</a:t>
            </a:r>
            <a:r>
              <a:rPr lang="ko-KR" altLang="en-US" sz="3600"/>
              <a:t>의 메인 컨텍스트 승계 차이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0B9263-6FD2-B303-C15A-9DD98393D7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56" t="15670" r="24536" b="14776"/>
          <a:stretch>
            <a:fillRect/>
          </a:stretch>
        </p:blipFill>
        <p:spPr>
          <a:xfrm>
            <a:off x="6381948" y="2177593"/>
            <a:ext cx="4655919" cy="35641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C437E1E-0B79-E172-6B6B-C1622FC196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20" t="13883" r="24613" b="13127"/>
          <a:stretch>
            <a:fillRect/>
          </a:stretch>
        </p:blipFill>
        <p:spPr>
          <a:xfrm>
            <a:off x="1097280" y="2177592"/>
            <a:ext cx="4242062" cy="35641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9D964F-8CDC-AB39-C903-646ABFF441ED}"/>
              </a:ext>
            </a:extLst>
          </p:cNvPr>
          <p:cNvSpPr txBox="1"/>
          <p:nvPr/>
        </p:nvSpPr>
        <p:spPr>
          <a:xfrm>
            <a:off x="1097280" y="5854045"/>
            <a:ext cx="994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서브에이전트는 메인컨텍스트가 설정되는 스킬정보에 대해 명시하지 않으면 승계가 되지 않는다</a:t>
            </a:r>
          </a:p>
        </p:txBody>
      </p:sp>
    </p:spTree>
    <p:extLst>
      <p:ext uri="{BB962C8B-B14F-4D97-AF65-F5344CB8AC3E}">
        <p14:creationId xmlns:p14="http://schemas.microsoft.com/office/powerpoint/2010/main" val="102989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2A05A-8D27-F3D5-02DC-2ADFC1F8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SubAgent</a:t>
            </a:r>
            <a:r>
              <a:rPr lang="ko-KR" altLang="en-US"/>
              <a:t>에서 스킬 승계 방법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6A7BE1-6930-BC33-73A8-AA95BCD65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87" y="1898019"/>
            <a:ext cx="5172797" cy="43440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E6C730-4633-F6E1-53FC-3B3CA5A16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36" y="1898019"/>
            <a:ext cx="5249008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2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6CFD7-DD3D-C6D0-549E-CA13AAE1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Agent Team </a:t>
            </a:r>
            <a:r>
              <a:rPr lang="ko-KR" altLang="en-US"/>
              <a:t>기능 활성화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DA9DBD-67DA-41CA-24E8-443D6156CA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97" t="26942" r="25696" b="33609"/>
          <a:stretch>
            <a:fillRect/>
          </a:stretch>
        </p:blipFill>
        <p:spPr>
          <a:xfrm>
            <a:off x="541099" y="2036190"/>
            <a:ext cx="5331105" cy="23944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D418C72-9B17-4FA0-3181-C5B0D5D522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618" t="2199" r="15490" b="65774"/>
          <a:stretch>
            <a:fillRect/>
          </a:stretch>
        </p:blipFill>
        <p:spPr>
          <a:xfrm>
            <a:off x="6096000" y="1996126"/>
            <a:ext cx="5498901" cy="183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75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A7E38-9807-7D5F-FE05-8D1FC4119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Agent Team </a:t>
            </a:r>
            <a:r>
              <a:rPr lang="ko-KR" altLang="en-US"/>
              <a:t>실습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12D1E7-E794-3E6B-B7AE-8876185E62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01" t="4180" r="29330" b="16839"/>
          <a:stretch>
            <a:fillRect/>
          </a:stretch>
        </p:blipFill>
        <p:spPr>
          <a:xfrm>
            <a:off x="1097279" y="1932494"/>
            <a:ext cx="4539949" cy="434050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F036920-ABDF-E09E-8183-291A925FA947}"/>
              </a:ext>
            </a:extLst>
          </p:cNvPr>
          <p:cNvSpPr/>
          <p:nvPr/>
        </p:nvSpPr>
        <p:spPr>
          <a:xfrm>
            <a:off x="1319753" y="4760536"/>
            <a:ext cx="3252247" cy="782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BC26B2-AC81-72FB-68CB-AC4F55D88C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88" t="40550" r="48889" b="4179"/>
          <a:stretch>
            <a:fillRect/>
          </a:stretch>
        </p:blipFill>
        <p:spPr>
          <a:xfrm>
            <a:off x="6096000" y="1924953"/>
            <a:ext cx="4864232" cy="319568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B29016-B791-24E5-E434-A6DADEB84AEA}"/>
              </a:ext>
            </a:extLst>
          </p:cNvPr>
          <p:cNvSpPr/>
          <p:nvPr/>
        </p:nvSpPr>
        <p:spPr>
          <a:xfrm>
            <a:off x="6213835" y="3711531"/>
            <a:ext cx="2854751" cy="6719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C563420-F294-F2FC-1500-BCEED9C0E35C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572000" y="4047498"/>
            <a:ext cx="1641835" cy="11042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C7193F-6623-4EF0-B8CE-5A51E7E00475}"/>
              </a:ext>
            </a:extLst>
          </p:cNvPr>
          <p:cNvSpPr txBox="1"/>
          <p:nvPr/>
        </p:nvSpPr>
        <p:spPr>
          <a:xfrm>
            <a:off x="5816338" y="5250730"/>
            <a:ext cx="599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Shift</a:t>
            </a:r>
            <a:r>
              <a:rPr lang="ko-KR" altLang="en-US" sz="1400"/>
              <a:t>를 누르고 방향키를 조작</a:t>
            </a:r>
            <a:r>
              <a:rPr lang="en-US" altLang="ko-KR" sz="1400"/>
              <a:t>(</a:t>
            </a:r>
            <a:r>
              <a:rPr lang="ko-KR" altLang="en-US" sz="1400"/>
              <a:t>선택</a:t>
            </a:r>
            <a:r>
              <a:rPr lang="en-US" altLang="ko-KR" sz="1400"/>
              <a:t>)</a:t>
            </a:r>
            <a:r>
              <a:rPr lang="en-US" altLang="ko-KR" sz="1400">
                <a:sym typeface="Wingdings" panose="05000000000000000000" pitchFamily="2" charset="2"/>
              </a:rPr>
              <a:t> Enter</a:t>
            </a:r>
            <a:r>
              <a:rPr lang="ko-KR" altLang="en-US" sz="1400">
                <a:sym typeface="Wingdings" panose="05000000000000000000" pitchFamily="2" charset="2"/>
              </a:rPr>
              <a:t>를 누르</a:t>
            </a:r>
            <a:r>
              <a:rPr lang="ko-KR" altLang="en-US" sz="1400"/>
              <a:t>면 각 팀원</a:t>
            </a:r>
            <a:r>
              <a:rPr lang="en-US" altLang="ko-KR" sz="1400"/>
              <a:t>(SubAgent)</a:t>
            </a:r>
            <a:r>
              <a:rPr lang="ko-KR" altLang="en-US" sz="1400"/>
              <a:t>의 세션을 살펴볼수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893115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2044C-055F-B921-2164-3666B9EF0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특정 팀원</a:t>
            </a:r>
            <a:r>
              <a:rPr lang="en-US" altLang="ko-KR"/>
              <a:t>(SubAgent) </a:t>
            </a:r>
            <a:r>
              <a:rPr lang="ko-KR" altLang="en-US"/>
              <a:t>작업 확인</a:t>
            </a:r>
            <a:r>
              <a:rPr lang="en-US" altLang="ko-KR"/>
              <a:t>.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A1D3727-5D78-A818-221A-6F581CED3AAC}"/>
              </a:ext>
            </a:extLst>
          </p:cNvPr>
          <p:cNvGrpSpPr/>
          <p:nvPr/>
        </p:nvGrpSpPr>
        <p:grpSpPr>
          <a:xfrm>
            <a:off x="179109" y="1915998"/>
            <a:ext cx="6928701" cy="3758938"/>
            <a:chOff x="2894029" y="2097464"/>
            <a:chExt cx="9297970" cy="476053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FD20203-2C2C-2B6B-0B6D-C1914E052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70" t="12865"/>
            <a:stretch>
              <a:fillRect/>
            </a:stretch>
          </p:blipFill>
          <p:spPr>
            <a:xfrm>
              <a:off x="2894029" y="2097464"/>
              <a:ext cx="9297970" cy="4760536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D01BFD1-D51D-7CDF-2E63-F74AAAD41302}"/>
                </a:ext>
              </a:extLst>
            </p:cNvPr>
            <p:cNvSpPr/>
            <p:nvPr/>
          </p:nvSpPr>
          <p:spPr>
            <a:xfrm>
              <a:off x="2988297" y="4477732"/>
              <a:ext cx="8898903" cy="6033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42AC5F8-9584-B0BC-C6A4-9F93644ABBD2}"/>
              </a:ext>
            </a:extLst>
          </p:cNvPr>
          <p:cNvSpPr txBox="1"/>
          <p:nvPr/>
        </p:nvSpPr>
        <p:spPr>
          <a:xfrm>
            <a:off x="7220932" y="1915998"/>
            <a:ext cx="4791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선택한 팀원의 세션을 확인하여 </a:t>
            </a:r>
            <a:br>
              <a:rPr lang="en-US" altLang="ko-KR" sz="1200"/>
            </a:br>
            <a:r>
              <a:rPr lang="ko-KR" altLang="en-US" sz="1200"/>
              <a:t>해당 팀원이 어디까지 작업을 완료하였는지 확인할 수 있다</a:t>
            </a:r>
            <a:r>
              <a:rPr lang="en-US" altLang="ko-KR" sz="1200"/>
              <a:t>.</a:t>
            </a:r>
            <a:br>
              <a:rPr lang="en-US" altLang="ko-KR" sz="1200"/>
            </a:br>
            <a:br>
              <a:rPr lang="en-US" altLang="ko-KR" sz="1200"/>
            </a:br>
            <a:r>
              <a:rPr lang="ko-KR" altLang="en-US" sz="1200"/>
              <a:t>사진 예시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이미 작업을 완료했고</a:t>
            </a:r>
            <a:r>
              <a:rPr lang="en-US" altLang="ko-KR" sz="1200">
                <a:sym typeface="Wingdings" panose="05000000000000000000" pitchFamily="2" charset="2"/>
              </a:rPr>
              <a:t>, </a:t>
            </a:r>
            <a:r>
              <a:rPr lang="ko-KR" altLang="en-US" sz="1200">
                <a:sym typeface="Wingdings" panose="05000000000000000000" pitchFamily="2" charset="2"/>
              </a:rPr>
              <a:t>팀 리드</a:t>
            </a:r>
            <a:r>
              <a:rPr lang="en-US" altLang="ko-KR" sz="1200">
                <a:sym typeface="Wingdings" panose="05000000000000000000" pitchFamily="2" charset="2"/>
              </a:rPr>
              <a:t>(Main Context) </a:t>
            </a:r>
            <a:r>
              <a:rPr lang="ko-KR" altLang="en-US" sz="1200">
                <a:sym typeface="Wingdings" panose="05000000000000000000" pitchFamily="2" charset="2"/>
              </a:rPr>
              <a:t>에 결과를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                  </a:t>
            </a:r>
            <a:r>
              <a:rPr lang="ko-KR" altLang="en-US" sz="1200">
                <a:sym typeface="Wingdings" panose="05000000000000000000" pitchFamily="2" charset="2"/>
              </a:rPr>
              <a:t>보고했다고 알림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552742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9513B-E40D-2BFB-DC19-1118994E9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팀장에게 보고 지시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C8DF5-61D0-A1DA-DD70-F82CEAA81B31}"/>
              </a:ext>
            </a:extLst>
          </p:cNvPr>
          <p:cNvSpPr txBox="1"/>
          <p:nvPr/>
        </p:nvSpPr>
        <p:spPr>
          <a:xfrm>
            <a:off x="6523348" y="1885359"/>
            <a:ext cx="5480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Style-reviewer </a:t>
            </a:r>
            <a:r>
              <a:rPr lang="ko-KR" altLang="en-US" sz="1400"/>
              <a:t>팀원이 결과보고를 완료했고</a:t>
            </a:r>
            <a:r>
              <a:rPr lang="en-US" altLang="ko-KR" sz="1400"/>
              <a:t>, </a:t>
            </a:r>
            <a:r>
              <a:rPr lang="ko-KR" altLang="en-US" sz="1400"/>
              <a:t>이를 팀장으로 부터</a:t>
            </a:r>
            <a:br>
              <a:rPr lang="en-US" altLang="ko-KR" sz="1400"/>
            </a:br>
            <a:r>
              <a:rPr lang="ko-KR" altLang="en-US" sz="1400"/>
              <a:t>보고받고자 명령을 줄 수 있다</a:t>
            </a:r>
            <a:r>
              <a:rPr lang="en-US" altLang="ko-KR" sz="1400"/>
              <a:t>.</a:t>
            </a:r>
            <a:br>
              <a:rPr lang="en-US" altLang="ko-KR" sz="1400"/>
            </a:br>
            <a:br>
              <a:rPr lang="en-US" altLang="ko-KR" sz="1400"/>
            </a:br>
            <a:r>
              <a:rPr lang="ko-KR" altLang="en-US" sz="1400"/>
              <a:t>팀 리더에게 보고를 요청하여 각 팀원에게 맡겨둔 작업들을 종합하여 확인이 가능하다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1FF35A7-085E-08CB-39CE-D83750243941}"/>
              </a:ext>
            </a:extLst>
          </p:cNvPr>
          <p:cNvGrpSpPr/>
          <p:nvPr/>
        </p:nvGrpSpPr>
        <p:grpSpPr>
          <a:xfrm>
            <a:off x="188536" y="1885359"/>
            <a:ext cx="6183983" cy="4595567"/>
            <a:chOff x="188536" y="1885359"/>
            <a:chExt cx="6183983" cy="459556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F01F78F-4E6C-27BD-E99F-4F9CF830C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4308"/>
            <a:stretch>
              <a:fillRect/>
            </a:stretch>
          </p:blipFill>
          <p:spPr>
            <a:xfrm>
              <a:off x="188536" y="1885359"/>
              <a:ext cx="6183983" cy="4595567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C2F3975-ED29-6EF8-403F-BF2B52F0F691}"/>
                </a:ext>
              </a:extLst>
            </p:cNvPr>
            <p:cNvSpPr/>
            <p:nvPr/>
          </p:nvSpPr>
          <p:spPr>
            <a:xfrm>
              <a:off x="612742" y="2780907"/>
              <a:ext cx="1244338" cy="27400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730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52C326-B9AA-DF22-8EF6-A1D6545A5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Agent Team</a:t>
            </a:r>
            <a:r>
              <a:rPr lang="ko-KR" altLang="en-US"/>
              <a:t> 의 표시 모드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3EEF1F-B8DB-9046-B4B5-41A141B18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69" t="18419" r="25000" b="12165"/>
          <a:stretch>
            <a:fillRect/>
          </a:stretch>
        </p:blipFill>
        <p:spPr>
          <a:xfrm>
            <a:off x="471340" y="2007909"/>
            <a:ext cx="5420879" cy="41477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A03462E-8814-9F19-A6DC-7FAC132E38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37" t="43162" r="33737" b="45704"/>
          <a:stretch>
            <a:fillRect/>
          </a:stretch>
        </p:blipFill>
        <p:spPr>
          <a:xfrm>
            <a:off x="4977351" y="2007909"/>
            <a:ext cx="6344241" cy="93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93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52B00-3371-74ED-AF9F-7510F071F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팀원에게 사용할 스킬사용을 명시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A6002D-5DBE-6CFD-93BF-600BD4676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02" t="15945" r="25851" b="16014"/>
          <a:stretch>
            <a:fillRect/>
          </a:stretch>
        </p:blipFill>
        <p:spPr>
          <a:xfrm>
            <a:off x="367645" y="1916469"/>
            <a:ext cx="5094452" cy="404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61F4C4-422B-2424-B55C-3098A64E8B27}"/>
              </a:ext>
            </a:extLst>
          </p:cNvPr>
          <p:cNvSpPr txBox="1"/>
          <p:nvPr/>
        </p:nvSpPr>
        <p:spPr>
          <a:xfrm>
            <a:off x="5637229" y="1916469"/>
            <a:ext cx="60237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Agent Team </a:t>
            </a:r>
            <a:r>
              <a:rPr lang="ko-KR" altLang="en-US" sz="1400"/>
              <a:t>의 팀원은 메인컨텍스트의 스킬을 모두 승계 받는다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ko-KR" altLang="en-US" sz="1400"/>
              <a:t>작업간 사용해야할 스킬이 명확하다면 이를 명시해주는게 토큰 사용을 줄일 수 있다</a:t>
            </a:r>
            <a:r>
              <a:rPr lang="en-US" altLang="ko-KR" sz="1400"/>
              <a:t>.</a:t>
            </a:r>
            <a:br>
              <a:rPr lang="en-US" altLang="ko-KR" sz="1400"/>
            </a:br>
            <a:br>
              <a:rPr lang="en-US" altLang="ko-KR" sz="1400"/>
            </a:br>
            <a:r>
              <a:rPr lang="en-US" altLang="ko-KR" sz="1400"/>
              <a:t>EX1) </a:t>
            </a:r>
            <a:r>
              <a:rPr lang="ko-KR" altLang="en-US" sz="1400"/>
              <a:t>이 업무는 이러한 스킬로 구현하는게 좋으니 이 기능의 담당</a:t>
            </a:r>
            <a:r>
              <a:rPr lang="ko-KR" altLang="en-US" sz="1400">
                <a:sym typeface="Wingdings" panose="05000000000000000000" pitchFamily="2" charset="2"/>
              </a:rPr>
              <a:t>자는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</a:t>
            </a:r>
            <a:r>
              <a:rPr lang="ko-KR" altLang="en-US" sz="1400">
                <a:sym typeface="Wingdings" panose="05000000000000000000" pitchFamily="2" charset="2"/>
              </a:rPr>
              <a:t>이러한 스킬을 사용하도록 배정해줘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EX2) (</a:t>
            </a:r>
            <a:r>
              <a:rPr lang="ko-KR" altLang="en-US" sz="1400">
                <a:sym typeface="Wingdings" panose="05000000000000000000" pitchFamily="2" charset="2"/>
              </a:rPr>
              <a:t>팀원 세션 직접 요청</a:t>
            </a:r>
            <a:r>
              <a:rPr lang="en-US" altLang="ko-KR" sz="1400">
                <a:sym typeface="Wingdings" panose="05000000000000000000" pitchFamily="2" charset="2"/>
              </a:rPr>
              <a:t>) </a:t>
            </a:r>
            <a:r>
              <a:rPr lang="ko-KR" altLang="en-US" sz="1400">
                <a:sym typeface="Wingdings" panose="05000000000000000000" pitchFamily="2" charset="2"/>
              </a:rPr>
              <a:t>지금하고 있는 작업 해당 스킬이 메인인 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  </a:t>
            </a:r>
            <a:r>
              <a:rPr lang="ko-KR" altLang="en-US" sz="1400">
                <a:sym typeface="Wingdings" panose="05000000000000000000" pitchFamily="2" charset="2"/>
              </a:rPr>
              <a:t>작업이야</a:t>
            </a:r>
            <a:r>
              <a:rPr lang="en-US" altLang="ko-KR" sz="1400">
                <a:sym typeface="Wingdings" panose="05000000000000000000" pitchFamily="2" charset="2"/>
              </a:rPr>
              <a:t>. </a:t>
            </a:r>
            <a:r>
              <a:rPr lang="ko-KR" altLang="en-US" sz="1400">
                <a:sym typeface="Wingdings" panose="05000000000000000000" pitchFamily="2" charset="2"/>
              </a:rPr>
              <a:t>해당 스킬을 기반으로 작업해 줘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944142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ECBD8-BB91-80B3-C79E-22B39344A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잘못된 작업으로 인한 재작업 토큰 낭비 방지</a:t>
            </a:r>
            <a:r>
              <a:rPr lang="en-US" altLang="ko-KR" sz="3200"/>
              <a:t>-(</a:t>
            </a:r>
            <a:r>
              <a:rPr lang="ko-KR" altLang="en-US" sz="3200"/>
              <a:t>계획</a:t>
            </a:r>
            <a:r>
              <a:rPr lang="en-US" altLang="ko-KR" sz="3200"/>
              <a:t>&gt;</a:t>
            </a:r>
            <a:r>
              <a:rPr lang="ko-KR" altLang="en-US" sz="3200"/>
              <a:t>구현</a:t>
            </a:r>
            <a:r>
              <a:rPr lang="en-US" altLang="ko-KR" sz="3200"/>
              <a:t>)</a:t>
            </a:r>
            <a:endParaRPr lang="ko-KR" altLang="en-US" sz="3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A98EF1-D267-F6EB-BA5F-DDDA898EC4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27" t="22680" r="20747" b="22337"/>
          <a:stretch>
            <a:fillRect/>
          </a:stretch>
        </p:blipFill>
        <p:spPr>
          <a:xfrm>
            <a:off x="216816" y="1847654"/>
            <a:ext cx="5523167" cy="29694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72092C-4C4D-8F97-CC32-9DEF72FA6C42}"/>
              </a:ext>
            </a:extLst>
          </p:cNvPr>
          <p:cNvSpPr txBox="1"/>
          <p:nvPr/>
        </p:nvSpPr>
        <p:spPr>
          <a:xfrm>
            <a:off x="5901179" y="1847654"/>
            <a:ext cx="60740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-</a:t>
            </a:r>
            <a:r>
              <a:rPr lang="ko-KR" altLang="en-US" sz="1400" b="1"/>
              <a:t>팀 에이전트의 업무 성격</a:t>
            </a:r>
            <a:r>
              <a:rPr lang="ko-KR" altLang="en-US" sz="1400"/>
              <a:t>이 </a:t>
            </a:r>
            <a:r>
              <a:rPr lang="ko-KR" altLang="en-US" sz="1400" b="1"/>
              <a:t>각 팀원들의 상호작용에 의해 결과</a:t>
            </a:r>
            <a:r>
              <a:rPr lang="ko-KR" altLang="en-US" sz="1400"/>
              <a:t>가    나오는만큼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- </a:t>
            </a:r>
            <a:r>
              <a:rPr lang="ko-KR" altLang="en-US" sz="1400" b="1"/>
              <a:t>하나의 팀원이라도 방향을 잘못 잡고 구현</a:t>
            </a:r>
            <a:r>
              <a:rPr lang="ko-KR" altLang="en-US" sz="1400"/>
              <a:t>을 진행하면 </a:t>
            </a:r>
            <a:br>
              <a:rPr lang="en-US" altLang="ko-KR" sz="1400"/>
            </a:br>
            <a:r>
              <a:rPr lang="en-US" altLang="ko-KR" sz="1400"/>
              <a:t>- </a:t>
            </a:r>
            <a:r>
              <a:rPr lang="ko-KR" altLang="en-US" sz="1400"/>
              <a:t>다른 사람의 </a:t>
            </a:r>
            <a:r>
              <a:rPr lang="ko-KR" altLang="en-US" sz="1400" b="1"/>
              <a:t>결과 또한 전부 무의미한 결과</a:t>
            </a:r>
            <a:r>
              <a:rPr lang="ko-KR" altLang="en-US" sz="1400"/>
              <a:t>를 낳을수 있다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결국 모든 팀원이 </a:t>
            </a:r>
            <a:r>
              <a:rPr lang="ko-KR" altLang="en-US" sz="1400" b="1">
                <a:sym typeface="Wingdings" panose="05000000000000000000" pitchFamily="2" charset="2"/>
              </a:rPr>
              <a:t>탐색</a:t>
            </a:r>
            <a:r>
              <a:rPr lang="en-US" altLang="ko-KR" sz="1400" b="1">
                <a:sym typeface="Wingdings" panose="05000000000000000000" pitchFamily="2" charset="2"/>
              </a:rPr>
              <a:t>, </a:t>
            </a:r>
            <a:r>
              <a:rPr lang="ko-KR" altLang="en-US" sz="1400" b="1">
                <a:sym typeface="Wingdings" panose="05000000000000000000" pitchFamily="2" charset="2"/>
              </a:rPr>
              <a:t>계획</a:t>
            </a:r>
            <a:r>
              <a:rPr lang="en-US" altLang="ko-KR" sz="1400" b="1">
                <a:sym typeface="Wingdings" panose="05000000000000000000" pitchFamily="2" charset="2"/>
              </a:rPr>
              <a:t>, </a:t>
            </a:r>
            <a:r>
              <a:rPr lang="ko-KR" altLang="en-US" sz="1400" b="1">
                <a:sym typeface="Wingdings" panose="05000000000000000000" pitchFamily="2" charset="2"/>
              </a:rPr>
              <a:t>구현 검증</a:t>
            </a:r>
            <a:r>
              <a:rPr lang="ko-KR" altLang="en-US" sz="1400">
                <a:sym typeface="Wingdings" panose="05000000000000000000" pitchFamily="2" charset="2"/>
              </a:rPr>
              <a:t>의 절차를 수행해야한다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endParaRPr lang="ko-KR" altLang="en-US" sz="14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5612609-1D98-C42E-ADF4-A2A2818EDA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71" t="18419" r="15876" b="20000"/>
          <a:stretch>
            <a:fillRect/>
          </a:stretch>
        </p:blipFill>
        <p:spPr>
          <a:xfrm>
            <a:off x="5901179" y="3429000"/>
            <a:ext cx="5931475" cy="25924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46F89A-6B28-0962-1F09-702096FB9FF1}"/>
              </a:ext>
            </a:extLst>
          </p:cNvPr>
          <p:cNvSpPr txBox="1"/>
          <p:nvPr/>
        </p:nvSpPr>
        <p:spPr>
          <a:xfrm>
            <a:off x="216816" y="4930219"/>
            <a:ext cx="55231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TeamCreate </a:t>
            </a:r>
            <a:r>
              <a:rPr lang="en-US" altLang="ko-KR" sz="1100">
                <a:sym typeface="Wingdings" panose="05000000000000000000" pitchFamily="2" charset="2"/>
              </a:rPr>
              <a:t> Claude Code</a:t>
            </a:r>
            <a:r>
              <a:rPr lang="ko-KR" altLang="en-US" sz="1100">
                <a:sym typeface="Wingdings" panose="05000000000000000000" pitchFamily="2" charset="2"/>
              </a:rPr>
              <a:t>가 확실하게 </a:t>
            </a:r>
            <a:r>
              <a:rPr lang="en-US" altLang="ko-KR" sz="1100">
                <a:sym typeface="Wingdings" panose="05000000000000000000" pitchFamily="2" charset="2"/>
              </a:rPr>
              <a:t>Agent Team</a:t>
            </a:r>
            <a:r>
              <a:rPr lang="ko-KR" altLang="en-US" sz="1100">
                <a:sym typeface="Wingdings" panose="05000000000000000000" pitchFamily="2" charset="2"/>
              </a:rPr>
              <a:t>기능을 인지하도록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</a:t>
            </a:r>
            <a:r>
              <a:rPr lang="ko-KR" altLang="en-US" sz="1100">
                <a:sym typeface="Wingdings" panose="05000000000000000000" pitchFamily="2" charset="2"/>
              </a:rPr>
              <a:t>하는 키워드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(</a:t>
            </a:r>
            <a:r>
              <a:rPr lang="ko-KR" altLang="en-US" sz="1100">
                <a:sym typeface="Wingdings" panose="05000000000000000000" pitchFamily="2" charset="2"/>
              </a:rPr>
              <a:t>간혹 자연어로 요청했을때 못알아먹는 경우 방지 </a:t>
            </a:r>
            <a:r>
              <a:rPr lang="en-US" altLang="ko-KR" sz="1100">
                <a:sym typeface="Wingdings" panose="05000000000000000000" pitchFamily="2" charset="2"/>
              </a:rPr>
              <a:t>– </a:t>
            </a:r>
            <a:r>
              <a:rPr lang="ko-KR" altLang="en-US" sz="1100">
                <a:sym typeface="Wingdings" panose="05000000000000000000" pitchFamily="2" charset="2"/>
              </a:rPr>
              <a:t>거의 없어도 알아들음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plan approval  </a:t>
            </a:r>
            <a:r>
              <a:rPr lang="ko-KR" altLang="en-US" sz="1100">
                <a:sym typeface="Wingdings" panose="05000000000000000000" pitchFamily="2" charset="2"/>
              </a:rPr>
              <a:t>팀원이 기능 구현 전 </a:t>
            </a:r>
            <a:r>
              <a:rPr lang="en-US" altLang="ko-KR" sz="1100">
                <a:sym typeface="Wingdings" panose="05000000000000000000" pitchFamily="2" charset="2"/>
              </a:rPr>
              <a:t>Plan</a:t>
            </a:r>
            <a:r>
              <a:rPr lang="ko-KR" altLang="en-US" sz="1100">
                <a:sym typeface="Wingdings" panose="05000000000000000000" pitchFamily="2" charset="2"/>
              </a:rPr>
              <a:t>모드를 통해 계획을 세우게 만듬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249259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52119-FD3D-2D43-050D-591E30F54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리드에게 자동 판단 기준을 설정하는 방법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BB6DAD-3272-73A0-8AED-E55C6670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62" t="9896" r="25928" b="10103"/>
          <a:stretch>
            <a:fillRect/>
          </a:stretch>
        </p:blipFill>
        <p:spPr>
          <a:xfrm>
            <a:off x="452777" y="1904214"/>
            <a:ext cx="4402027" cy="42137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816635-BD18-B44E-68DB-6F7AD78AC668}"/>
              </a:ext>
            </a:extLst>
          </p:cNvPr>
          <p:cNvSpPr txBox="1"/>
          <p:nvPr/>
        </p:nvSpPr>
        <p:spPr>
          <a:xfrm>
            <a:off x="4854804" y="1904214"/>
            <a:ext cx="7016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팀원의 계획을 리드가 자동으로 판단할 수 있도록 판단 방법을 프롬프트로 제시할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631666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025E1-E5F5-465B-C436-AFEF5CF5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각 팀원들의 모델 지정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842F08-2BB9-B8E8-576E-72B0F203E4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42" t="20480" r="23299" b="20276"/>
          <a:stretch>
            <a:fillRect/>
          </a:stretch>
        </p:blipFill>
        <p:spPr>
          <a:xfrm>
            <a:off x="1008667" y="1932495"/>
            <a:ext cx="6334814" cy="406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07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6832A-30FD-EC84-42D6-DD532F382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BroadCast </a:t>
            </a:r>
            <a:r>
              <a:rPr lang="ko-KR" altLang="en-US"/>
              <a:t>및 완료 후 즉시 종료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6C3E38-F610-FC43-1683-ACDF9A639D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60206" r="24923" b="22199"/>
          <a:stretch>
            <a:fillRect/>
          </a:stretch>
        </p:blipFill>
        <p:spPr>
          <a:xfrm>
            <a:off x="251382" y="1828800"/>
            <a:ext cx="3057427" cy="1206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F8163B-706A-F138-0120-26067183E1E2}"/>
              </a:ext>
            </a:extLst>
          </p:cNvPr>
          <p:cNvSpPr txBox="1"/>
          <p:nvPr/>
        </p:nvSpPr>
        <p:spPr>
          <a:xfrm>
            <a:off x="3384223" y="1828800"/>
            <a:ext cx="7771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broadcast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모든 팀원에게 보내는 전체 공지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                        (</a:t>
            </a:r>
            <a:r>
              <a:rPr lang="ko-KR" altLang="en-US">
                <a:sym typeface="Wingdings" panose="05000000000000000000" pitchFamily="2" charset="2"/>
              </a:rPr>
              <a:t>팀원 수만큼 비용 발생</a:t>
            </a:r>
            <a:r>
              <a:rPr lang="en-US" altLang="ko-KR">
                <a:sym typeface="Wingdings" panose="05000000000000000000" pitchFamily="2" charset="2"/>
              </a:rPr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50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470D07-C959-7E82-0526-9B0A32508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Team Agent Hook 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F91A42F-39F2-E31E-03AE-03ECD23847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56" t="16770" r="23763" b="16839"/>
          <a:stretch>
            <a:fillRect/>
          </a:stretch>
        </p:blipFill>
        <p:spPr>
          <a:xfrm>
            <a:off x="320511" y="1857080"/>
            <a:ext cx="5238415" cy="37707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384DE32-6614-E756-E453-ED69DC3F34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76" t="21856" r="20284" b="20413"/>
          <a:stretch>
            <a:fillRect/>
          </a:stretch>
        </p:blipFill>
        <p:spPr>
          <a:xfrm>
            <a:off x="5692687" y="1878290"/>
            <a:ext cx="5619478" cy="31014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74393C-5D1A-85BC-A6A9-F2215ECC643E}"/>
              </a:ext>
            </a:extLst>
          </p:cNvPr>
          <p:cNvSpPr txBox="1"/>
          <p:nvPr/>
        </p:nvSpPr>
        <p:spPr>
          <a:xfrm>
            <a:off x="5692687" y="5062194"/>
            <a:ext cx="56194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예시 </a:t>
            </a:r>
            <a:r>
              <a:rPr lang="en-US" altLang="ko-KR" sz="1100"/>
              <a:t>)</a:t>
            </a:r>
            <a:br>
              <a:rPr lang="en-US" altLang="ko-KR" sz="1100"/>
            </a:br>
            <a:r>
              <a:rPr lang="ko-KR" altLang="en-US" sz="1100"/>
              <a:t>팀원 </a:t>
            </a:r>
            <a:r>
              <a:rPr lang="en-US" altLang="ko-KR" sz="1100"/>
              <a:t>1 – task001, 002, 003 </a:t>
            </a:r>
            <a:r>
              <a:rPr lang="ko-KR" altLang="en-US" sz="1100"/>
              <a:t>진행해 줘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※ </a:t>
            </a:r>
            <a:r>
              <a:rPr lang="ko-KR" altLang="en-US" sz="1100"/>
              <a:t>시점</a:t>
            </a:r>
            <a:br>
              <a:rPr lang="en-US" altLang="ko-KR" sz="1100"/>
            </a:br>
            <a:r>
              <a:rPr lang="en-US" altLang="ko-KR" sz="1100"/>
              <a:t>task001 </a:t>
            </a:r>
            <a:r>
              <a:rPr lang="ko-KR" altLang="en-US" sz="1100"/>
              <a:t>완료 시 </a:t>
            </a:r>
            <a:r>
              <a:rPr lang="en-US" altLang="ko-KR" sz="1100">
                <a:sym typeface="Wingdings" panose="05000000000000000000" pitchFamily="2" charset="2"/>
              </a:rPr>
              <a:t> TaskCompleted Hook </a:t>
            </a:r>
            <a:r>
              <a:rPr lang="ko-KR" altLang="en-US" sz="1100">
                <a:sym typeface="Wingdings" panose="05000000000000000000" pitchFamily="2" charset="2"/>
              </a:rPr>
              <a:t>발생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task002 </a:t>
            </a:r>
            <a:r>
              <a:rPr lang="ko-KR" altLang="en-US" sz="1100">
                <a:sym typeface="Wingdings" panose="05000000000000000000" pitchFamily="2" charset="2"/>
              </a:rPr>
              <a:t>완료 시 </a:t>
            </a:r>
            <a:r>
              <a:rPr lang="en-US" altLang="ko-KR" sz="1100">
                <a:sym typeface="Wingdings" panose="05000000000000000000" pitchFamily="2" charset="2"/>
              </a:rPr>
              <a:t> TaskCompleted Hook </a:t>
            </a:r>
            <a:r>
              <a:rPr lang="ko-KR" altLang="en-US" sz="1100">
                <a:sym typeface="Wingdings" panose="05000000000000000000" pitchFamily="2" charset="2"/>
              </a:rPr>
              <a:t>발생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task003 </a:t>
            </a:r>
            <a:r>
              <a:rPr lang="ko-KR" altLang="en-US" sz="1100">
                <a:sym typeface="Wingdings" panose="05000000000000000000" pitchFamily="2" charset="2"/>
              </a:rPr>
              <a:t>완료 시 </a:t>
            </a:r>
            <a:r>
              <a:rPr lang="en-US" altLang="ko-KR" sz="1100">
                <a:sym typeface="Wingdings" panose="05000000000000000000" pitchFamily="2" charset="2"/>
              </a:rPr>
              <a:t> TaskCompleted Hook </a:t>
            </a:r>
            <a:r>
              <a:rPr lang="ko-KR" altLang="en-US" sz="1100">
                <a:sym typeface="Wingdings" panose="05000000000000000000" pitchFamily="2" charset="2"/>
              </a:rPr>
              <a:t>발생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task</a:t>
            </a:r>
            <a:r>
              <a:rPr lang="ko-KR" altLang="en-US" sz="1100">
                <a:sym typeface="Wingdings" panose="05000000000000000000" pitchFamily="2" charset="2"/>
              </a:rPr>
              <a:t> 전부완료 </a:t>
            </a:r>
            <a:r>
              <a:rPr lang="en-US" altLang="ko-KR" sz="1100">
                <a:sym typeface="Wingdings" panose="05000000000000000000" pitchFamily="2" charset="2"/>
              </a:rPr>
              <a:t>Idle </a:t>
            </a:r>
            <a:r>
              <a:rPr lang="ko-KR" altLang="en-US" sz="1100">
                <a:sym typeface="Wingdings" panose="05000000000000000000" pitchFamily="2" charset="2"/>
              </a:rPr>
              <a:t>상태 돌입 </a:t>
            </a:r>
            <a:r>
              <a:rPr lang="en-US" altLang="ko-KR" sz="1100">
                <a:sym typeface="Wingdings" panose="05000000000000000000" pitchFamily="2" charset="2"/>
              </a:rPr>
              <a:t> TeamateIdle Hook </a:t>
            </a:r>
            <a:r>
              <a:rPr lang="ko-KR" altLang="en-US" sz="1100">
                <a:sym typeface="Wingdings" panose="05000000000000000000" pitchFamily="2" charset="2"/>
              </a:rPr>
              <a:t>발생</a:t>
            </a:r>
            <a:br>
              <a:rPr lang="en-US" altLang="ko-KR" sz="1100"/>
            </a:b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404084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59311-0215-0EEE-8B82-3F28D28EA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Team Agent Hook </a:t>
            </a:r>
            <a:r>
              <a:rPr lang="ko-KR" altLang="en-US"/>
              <a:t>등록 예시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D282F-BA45-2537-6E3F-DAF6A1F35587}"/>
              </a:ext>
            </a:extLst>
          </p:cNvPr>
          <p:cNvSpPr txBox="1"/>
          <p:nvPr/>
        </p:nvSpPr>
        <p:spPr>
          <a:xfrm>
            <a:off x="982745" y="2090841"/>
            <a:ext cx="60944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1400" b="0" i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"hooks": {</a:t>
            </a:r>
          </a:p>
          <a:p>
            <a:pPr algn="l">
              <a:buNone/>
            </a:pPr>
            <a:r>
              <a:rPr lang="en-US" altLang="ko-KR" sz="1400" b="0" i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"TeammateIdle": [</a:t>
            </a:r>
          </a:p>
          <a:p>
            <a:pPr algn="l">
              <a:buNone/>
            </a:pPr>
            <a:r>
              <a:rPr lang="en-US" altLang="ko-KR" sz="1400" b="0" i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{</a:t>
            </a:r>
          </a:p>
          <a:p>
            <a:pPr algn="l">
              <a:buNone/>
            </a:pPr>
            <a:r>
              <a:rPr lang="en-US" altLang="ko-KR" sz="1400" b="0" i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  "type": "command",</a:t>
            </a:r>
          </a:p>
          <a:p>
            <a:pPr algn="l">
              <a:buNone/>
            </a:pPr>
            <a:r>
              <a:rPr lang="en-US" altLang="ko-KR" sz="1400" b="0" i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  "command": "&amp; 'C:\\Users\\khb\\.claude\\hooks\\trigger-code-review.ps1'",</a:t>
            </a:r>
          </a:p>
          <a:p>
            <a:pPr algn="l">
              <a:buNone/>
            </a:pPr>
            <a:r>
              <a:rPr lang="en-US" altLang="ko-KR" sz="1400" b="0" i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  "shell": "powershell",</a:t>
            </a:r>
          </a:p>
          <a:p>
            <a:pPr algn="l">
              <a:buNone/>
            </a:pPr>
            <a:r>
              <a:rPr lang="en-US" altLang="ko-KR" sz="1400" b="0" i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  "timeout": 5</a:t>
            </a:r>
          </a:p>
          <a:p>
            <a:pPr algn="l">
              <a:buNone/>
            </a:pPr>
            <a:r>
              <a:rPr lang="en-US" altLang="ko-KR" sz="1400" b="0" i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r>
              <a:rPr lang="en-US" altLang="ko-KR" sz="1400" b="0" i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]</a:t>
            </a:r>
          </a:p>
          <a:p>
            <a:pPr algn="l">
              <a:buNone/>
            </a:pPr>
            <a:r>
              <a:rPr lang="en-US" altLang="ko-KR" sz="1400" b="0" i="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ko-KR" sz="1400" b="0" i="0">
              <a:solidFill>
                <a:srgbClr val="BFBFBF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760931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77</TotalTime>
  <Words>681</Words>
  <Application>Microsoft Office PowerPoint</Application>
  <PresentationFormat>와이드스크린</PresentationFormat>
  <Paragraphs>51</Paragraphs>
  <Slides>19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맑은 고딕</vt:lpstr>
      <vt:lpstr>Calibri</vt:lpstr>
      <vt:lpstr>Calibri Light</vt:lpstr>
      <vt:lpstr>Courier New</vt:lpstr>
      <vt:lpstr>Wingdings</vt:lpstr>
      <vt:lpstr>추억</vt:lpstr>
      <vt:lpstr>Agent Team</vt:lpstr>
      <vt:lpstr>SubAgent</vt:lpstr>
      <vt:lpstr>Agent Team</vt:lpstr>
      <vt:lpstr>Agent Team이 나온 배경</vt:lpstr>
      <vt:lpstr>Subagent와 Agent팀의 동작 구조 비교</vt:lpstr>
      <vt:lpstr>SubAgent와 Team Agent의 메인 컨텍스트 승계 차이</vt:lpstr>
      <vt:lpstr>SubAgent에서 스킬 승계 방법</vt:lpstr>
      <vt:lpstr>Agent Team 기능 활성화</vt:lpstr>
      <vt:lpstr>Agent Team 실습</vt:lpstr>
      <vt:lpstr>특정 팀원(SubAgent) 작업 확인.</vt:lpstr>
      <vt:lpstr>팀장에게 보고 지시</vt:lpstr>
      <vt:lpstr>Agent Team 의 표시 모드 설정</vt:lpstr>
      <vt:lpstr>팀원에게 사용할 스킬사용을 명시</vt:lpstr>
      <vt:lpstr>잘못된 작업으로 인한 재작업 토큰 낭비 방지-(계획&gt;구현)</vt:lpstr>
      <vt:lpstr>리드에게 자동 판단 기준을 설정하는 방법</vt:lpstr>
      <vt:lpstr>각 팀원들의 모델 지정</vt:lpstr>
      <vt:lpstr>BroadCast 및 완료 후 즉시 종료 </vt:lpstr>
      <vt:lpstr>Team Agent Hook </vt:lpstr>
      <vt:lpstr>Team Agent Hook 등록 예시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25</cp:revision>
  <dcterms:created xsi:type="dcterms:W3CDTF">2026-07-08T07:02:43Z</dcterms:created>
  <dcterms:modified xsi:type="dcterms:W3CDTF">2026-07-08T08:20:07Z</dcterms:modified>
</cp:coreProperties>
</file>