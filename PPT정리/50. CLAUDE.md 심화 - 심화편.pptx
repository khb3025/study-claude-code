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3F46C13-8057-4E95-87E7-39456C1AC010}">
          <p14:sldIdLst>
            <p14:sldId id="256"/>
            <p14:sldId id="257"/>
            <p14:sldId id="258"/>
          </p14:sldIdLst>
        </p14:section>
        <p14:section name="rules 모듈화" id="{92834C74-966C-4EB6-A98A-C0C1143B533F}">
          <p14:sldIdLst>
            <p14:sldId id="259"/>
            <p14:sldId id="260"/>
          </p14:sldIdLst>
        </p14:section>
        <p14:section name="디렉토리 모듈화 예시" id="{E048B734-18E2-452F-BAC7-55D124B26FBE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A0789-5BD2-43F2-A9F9-D9B6785EDCF8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9940D-B3F1-4CFC-ACAB-CB9BCCF63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4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9940D-B3F1-4CFC-ACAB-CB9BCCF6361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29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36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38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39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44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53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697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76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52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7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5B41ECE-35FD-46B2-A646-994DA5C1F8F3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76EC5D-E3CA-4CC7-A90C-3EBC2F72FC3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56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C807B-1BCC-36E9-BFF0-FD616108E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CLAUDE.md - </a:t>
            </a:r>
            <a:r>
              <a:rPr lang="ko-KR" altLang="en-US"/>
              <a:t>심화편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7F0CAE-CE03-9C55-2339-3BB1626D34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41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6501D-8F8F-28FE-6CBB-835D6BBB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/>
              <a:t>대규모 프로젝트에서 </a:t>
            </a:r>
            <a:r>
              <a:rPr lang="en-US" altLang="ko-KR" sz="2800"/>
              <a:t>CLAUDE.md</a:t>
            </a:r>
            <a:r>
              <a:rPr lang="ko-KR" altLang="en-US" sz="2800"/>
              <a:t> 를 모듈화해야하는 이유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A3956E-FC26-339E-EF02-ECB89154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84" t="27766" r="19201" b="27698"/>
          <a:stretch>
            <a:fillRect/>
          </a:stretch>
        </p:blipFill>
        <p:spPr>
          <a:xfrm>
            <a:off x="339365" y="1827829"/>
            <a:ext cx="6139635" cy="2508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E6D2C1-6C2C-A3C5-8611-E197CCB497E0}"/>
              </a:ext>
            </a:extLst>
          </p:cNvPr>
          <p:cNvSpPr txBox="1"/>
          <p:nvPr/>
        </p:nvSpPr>
        <p:spPr>
          <a:xfrm>
            <a:off x="339365" y="4430598"/>
            <a:ext cx="6139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프로젝트가 커지면 더 많은 규칙이 추가된다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F75EFBF-F750-9B04-511B-E424D1A4A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08" t="17456" r="36443" b="4180"/>
          <a:stretch>
            <a:fillRect/>
          </a:stretch>
        </p:blipFill>
        <p:spPr>
          <a:xfrm>
            <a:off x="6645898" y="1827829"/>
            <a:ext cx="3930754" cy="40818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5E796FB-0826-5B0D-A69C-E6B24A6739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90" t="27766" r="20361" b="27011"/>
          <a:stretch>
            <a:fillRect/>
          </a:stretch>
        </p:blipFill>
        <p:spPr>
          <a:xfrm>
            <a:off x="6763559" y="4553146"/>
            <a:ext cx="5359311" cy="23048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407D1F-2CE0-32F8-2DC5-B107AD94A192}"/>
              </a:ext>
            </a:extLst>
          </p:cNvPr>
          <p:cNvSpPr txBox="1"/>
          <p:nvPr/>
        </p:nvSpPr>
        <p:spPr>
          <a:xfrm>
            <a:off x="3723588" y="5373278"/>
            <a:ext cx="30399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어느 한 개발자의 사연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대규모 프로젝트에서 메모리에 </a:t>
            </a:r>
            <a:r>
              <a:rPr lang="en-US" altLang="ko-KR" sz="1200">
                <a:sym typeface="Wingdings" panose="05000000000000000000" pitchFamily="2" charset="2"/>
              </a:rPr>
              <a:t>CLAUDE.md</a:t>
            </a:r>
            <a:r>
              <a:rPr lang="ko-KR" altLang="en-US" sz="1200">
                <a:sym typeface="Wingdings" panose="05000000000000000000" pitchFamily="2" charset="2"/>
              </a:rPr>
              <a:t> 로드에 </a:t>
            </a:r>
            <a:r>
              <a:rPr lang="en-US" altLang="ko-KR" sz="1200">
                <a:sym typeface="Wingdings" panose="05000000000000000000" pitchFamily="2" charset="2"/>
              </a:rPr>
              <a:t>47000</a:t>
            </a:r>
            <a:r>
              <a:rPr lang="ko-KR" altLang="en-US" sz="1200">
                <a:sym typeface="Wingdings" panose="05000000000000000000" pitchFamily="2" charset="2"/>
              </a:rPr>
              <a:t>자를 사용해서 이를 해결하려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ko-KR" altLang="en-US" sz="1200">
                <a:sym typeface="Wingdings" panose="05000000000000000000" pitchFamily="2" charset="2"/>
              </a:rPr>
              <a:t>메모리 파일을 구조화 시키니 </a:t>
            </a:r>
            <a:r>
              <a:rPr lang="ko-KR" altLang="en-US" sz="1200" b="1">
                <a:solidFill>
                  <a:srgbClr val="FF0000"/>
                </a:solidFill>
                <a:sym typeface="Wingdings" panose="05000000000000000000" pitchFamily="2" charset="2"/>
              </a:rPr>
              <a:t>필요한 시점</a:t>
            </a:r>
            <a:r>
              <a:rPr lang="ko-KR" altLang="en-US" sz="1200">
                <a:sym typeface="Wingdings" panose="05000000000000000000" pitchFamily="2" charset="2"/>
              </a:rPr>
              <a:t>에만 규칙을 로드해와 루트의 규칙 로드에 오래걸리지 않고 규칙을 준수하지 않는 현상도 덜 발생하였다는 내용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29280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20ACD-C634-24DE-1325-0CAFC18B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파일 구조화 전략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A58EA9-D797-75A2-AE82-EFAB1DB39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07" t="29691" r="20438" b="29347"/>
          <a:stretch>
            <a:fillRect/>
          </a:stretch>
        </p:blipFill>
        <p:spPr>
          <a:xfrm>
            <a:off x="2294485" y="2024406"/>
            <a:ext cx="7334053" cy="28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7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E6E58-16E6-0ABB-6C5A-FB1EBB45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주제별로 파일 쪼개기 </a:t>
            </a:r>
            <a:r>
              <a:rPr lang="en-US" altLang="ko-KR"/>
              <a:t>– </a:t>
            </a:r>
            <a:r>
              <a:rPr lang="ko-KR" altLang="en-US"/>
              <a:t>조건부 규칙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7AFF67-785E-1419-AD80-86B91BC3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71" t="28317" r="28866" b="15876"/>
          <a:stretch>
            <a:fillRect/>
          </a:stretch>
        </p:blipFill>
        <p:spPr>
          <a:xfrm>
            <a:off x="1234911" y="1951348"/>
            <a:ext cx="4639057" cy="33276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4B9AD2E-1EDB-B1B9-6108-516A1B90D8C4}"/>
              </a:ext>
            </a:extLst>
          </p:cNvPr>
          <p:cNvSpPr/>
          <p:nvPr/>
        </p:nvSpPr>
        <p:spPr>
          <a:xfrm>
            <a:off x="1357460" y="2809188"/>
            <a:ext cx="1272618" cy="619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C3636D-6474-CA07-57E2-07C0FF2E7480}"/>
              </a:ext>
            </a:extLst>
          </p:cNvPr>
          <p:cNvSpPr/>
          <p:nvPr/>
        </p:nvSpPr>
        <p:spPr>
          <a:xfrm>
            <a:off x="1357460" y="3497344"/>
            <a:ext cx="2149311" cy="7894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8FA0C-10A8-74E3-762F-C2214CCAB324}"/>
              </a:ext>
            </a:extLst>
          </p:cNvPr>
          <p:cNvSpPr txBox="1"/>
          <p:nvPr/>
        </p:nvSpPr>
        <p:spPr>
          <a:xfrm>
            <a:off x="5967167" y="1951348"/>
            <a:ext cx="5542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조건 </a:t>
            </a:r>
            <a:r>
              <a:rPr lang="en-US" altLang="ko-KR" sz="1400"/>
              <a:t>: </a:t>
            </a:r>
            <a:r>
              <a:rPr lang="ko-KR" altLang="en-US" sz="1400">
                <a:solidFill>
                  <a:srgbClr val="FF0000"/>
                </a:solidFill>
              </a:rPr>
              <a:t>빨간 박스 내 경로에 있는 모든 </a:t>
            </a:r>
            <a:r>
              <a:rPr lang="en-US" altLang="ko-KR" sz="1400">
                <a:solidFill>
                  <a:srgbClr val="FF0000"/>
                </a:solidFill>
              </a:rPr>
              <a:t>ts</a:t>
            </a:r>
            <a:r>
              <a:rPr lang="ko-KR" altLang="en-US" sz="1400">
                <a:solidFill>
                  <a:srgbClr val="FF0000"/>
                </a:solidFill>
              </a:rPr>
              <a:t>파일들은</a:t>
            </a:r>
            <a:r>
              <a:rPr lang="ko-KR" altLang="en-US" sz="1400"/>
              <a:t> </a:t>
            </a:r>
            <a:br>
              <a:rPr lang="en-US" altLang="ko-KR" sz="1400"/>
            </a:br>
            <a:r>
              <a:rPr lang="ko-KR" altLang="en-US" sz="1400"/>
              <a:t>규칙 </a:t>
            </a:r>
            <a:r>
              <a:rPr lang="en-US" altLang="ko-KR" sz="1400"/>
              <a:t>: </a:t>
            </a:r>
            <a:r>
              <a:rPr lang="en-US" altLang="ko-KR" sz="1400">
                <a:solidFill>
                  <a:srgbClr val="00B050"/>
                </a:solidFill>
              </a:rPr>
              <a:t>API </a:t>
            </a:r>
            <a:r>
              <a:rPr lang="ko-KR" altLang="en-US" sz="1400">
                <a:solidFill>
                  <a:srgbClr val="00B050"/>
                </a:solidFill>
              </a:rPr>
              <a:t>개발 규칙을 따른다</a:t>
            </a:r>
            <a:r>
              <a:rPr lang="en-US" altLang="ko-KR" sz="1400">
                <a:solidFill>
                  <a:srgbClr val="00B050"/>
                </a:solidFill>
              </a:rPr>
              <a:t>.</a:t>
            </a:r>
            <a:endParaRPr lang="ko-KR" altLang="en-US" sz="1400">
              <a:solidFill>
                <a:srgbClr val="00B05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1A0D791-CEA2-BCB6-E2DE-B92F6432A8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361" t="21855" r="25387" b="20962"/>
          <a:stretch>
            <a:fillRect/>
          </a:stretch>
        </p:blipFill>
        <p:spPr>
          <a:xfrm>
            <a:off x="6096000" y="2474568"/>
            <a:ext cx="4639057" cy="302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2B92A-DFFB-43DE-860F-C9CA484D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Rules</a:t>
            </a:r>
            <a:r>
              <a:rPr lang="ko-KR" altLang="en-US"/>
              <a:t>모듈화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0A9015-98AF-5958-71BE-CCB80A49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56" t="25333" r="28711" b="22200"/>
          <a:stretch>
            <a:fillRect/>
          </a:stretch>
        </p:blipFill>
        <p:spPr>
          <a:xfrm>
            <a:off x="1097280" y="1916470"/>
            <a:ext cx="5514681" cy="35982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6CA10F8-D24C-7D6D-5003-C19CD2233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490" t="32715" r="20361" b="29760"/>
          <a:stretch>
            <a:fillRect/>
          </a:stretch>
        </p:blipFill>
        <p:spPr>
          <a:xfrm>
            <a:off x="6754874" y="2865748"/>
            <a:ext cx="5283155" cy="188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1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9864F-59B9-3CE8-ED50-5E1FAAC05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CLAUDE.md </a:t>
            </a:r>
            <a:r>
              <a:rPr lang="ko-KR" altLang="en-US"/>
              <a:t>폴더 모듈화 예시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C02FD7-7E2C-D5B0-4CA4-FBB80824D2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55" t="28179" r="22758" b="28660"/>
          <a:stretch>
            <a:fillRect/>
          </a:stretch>
        </p:blipFill>
        <p:spPr>
          <a:xfrm>
            <a:off x="1097280" y="1903244"/>
            <a:ext cx="5624031" cy="25013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28C8BB-92A5-84CB-D0F6-890491A1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70" t="14845" r="23763" b="13265"/>
          <a:stretch>
            <a:fillRect/>
          </a:stretch>
        </p:blipFill>
        <p:spPr>
          <a:xfrm>
            <a:off x="6862712" y="1903244"/>
            <a:ext cx="4835951" cy="386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2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024C9-CFE1-38C3-41C0-EA206C87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폴더 모듈화 적용방법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6F315-F8D9-6A21-59F1-A2EA11958873}"/>
              </a:ext>
            </a:extLst>
          </p:cNvPr>
          <p:cNvSpPr txBox="1"/>
          <p:nvPr/>
        </p:nvSpPr>
        <p:spPr>
          <a:xfrm>
            <a:off x="1093509" y="1819373"/>
            <a:ext cx="10048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기능별 폴더에 </a:t>
            </a:r>
            <a:r>
              <a:rPr lang="en-US" altLang="ko-KR" sz="1200"/>
              <a:t>CLAUDE.md</a:t>
            </a:r>
            <a:r>
              <a:rPr lang="ko-KR" altLang="en-US" sz="1200"/>
              <a:t>를 넣는다고 메인컨텍스트가 인식하는것은 아니다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path/to/Memory.md </a:t>
            </a:r>
            <a:r>
              <a:rPr lang="ko-KR" altLang="en-US" sz="1200"/>
              <a:t>언급 방식으로 메모리 경로를 메인 </a:t>
            </a:r>
            <a:r>
              <a:rPr lang="en-US" altLang="ko-KR" sz="1200"/>
              <a:t>CLAUDE.md </a:t>
            </a:r>
            <a:r>
              <a:rPr lang="ko-KR" altLang="en-US" sz="1200"/>
              <a:t>에다가 핵심기능들을 짧게 설명한다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C8D75F-C3F5-7ACA-E597-5E04E5A9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87" t="24330" r="19124" b="26873"/>
          <a:stretch>
            <a:fillRect/>
          </a:stretch>
        </p:blipFill>
        <p:spPr>
          <a:xfrm>
            <a:off x="1093509" y="2363051"/>
            <a:ext cx="8691513" cy="33465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D6F23-43D5-509C-3ED8-129083300980}"/>
              </a:ext>
            </a:extLst>
          </p:cNvPr>
          <p:cNvSpPr txBox="1"/>
          <p:nvPr/>
        </p:nvSpPr>
        <p:spPr>
          <a:xfrm>
            <a:off x="1093509" y="5778631"/>
            <a:ext cx="454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메인 </a:t>
            </a:r>
            <a:r>
              <a:rPr lang="en-US" altLang="ko-KR"/>
              <a:t>CLAUDE.md </a:t>
            </a:r>
            <a:r>
              <a:rPr lang="ko-KR" altLang="en-US"/>
              <a:t>파일 </a:t>
            </a:r>
            <a:r>
              <a:rPr lang="en-US" altLang="ko-KR"/>
              <a:t>(</a:t>
            </a:r>
            <a:r>
              <a:rPr lang="ko-KR" altLang="en-US"/>
              <a:t>마크다운 화면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F2BEA9-61A9-FE9C-B1C9-D49FC2DACE0D}"/>
              </a:ext>
            </a:extLst>
          </p:cNvPr>
          <p:cNvSpPr/>
          <p:nvPr/>
        </p:nvSpPr>
        <p:spPr>
          <a:xfrm>
            <a:off x="2865748" y="4835951"/>
            <a:ext cx="2281287" cy="320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CD5868-B089-70C5-5909-3954A25763EF}"/>
              </a:ext>
            </a:extLst>
          </p:cNvPr>
          <p:cNvSpPr/>
          <p:nvPr/>
        </p:nvSpPr>
        <p:spPr>
          <a:xfrm>
            <a:off x="2865748" y="5156462"/>
            <a:ext cx="2988297" cy="320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7D70168-AA55-4D96-75C7-B0508895906E}"/>
              </a:ext>
            </a:extLst>
          </p:cNvPr>
          <p:cNvSpPr/>
          <p:nvPr/>
        </p:nvSpPr>
        <p:spPr>
          <a:xfrm>
            <a:off x="3008721" y="5476973"/>
            <a:ext cx="2988297" cy="320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21ED28-B392-C027-9F0E-598DEC7659B5}"/>
              </a:ext>
            </a:extLst>
          </p:cNvPr>
          <p:cNvSpPr txBox="1"/>
          <p:nvPr/>
        </p:nvSpPr>
        <p:spPr>
          <a:xfrm>
            <a:off x="9869864" y="1913641"/>
            <a:ext cx="216816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각 기능별</a:t>
            </a:r>
            <a:r>
              <a:rPr lang="en-US" altLang="ko-KR" sz="1100"/>
              <a:t>, </a:t>
            </a:r>
            <a:r>
              <a:rPr lang="ko-KR" altLang="en-US" sz="1100"/>
              <a:t>구조별 </a:t>
            </a:r>
            <a:r>
              <a:rPr lang="en-US" altLang="ko-KR" sz="1100"/>
              <a:t>CLAUDE.md</a:t>
            </a:r>
            <a:r>
              <a:rPr lang="ko-KR" altLang="en-US" sz="1100"/>
              <a:t>  파일의 위치를</a:t>
            </a:r>
            <a:br>
              <a:rPr lang="en-US" altLang="ko-KR" sz="1100"/>
            </a:br>
            <a:br>
              <a:rPr lang="en-US" altLang="ko-KR" sz="1100"/>
            </a:br>
            <a:r>
              <a:rPr lang="ko-KR" altLang="en-US" sz="1100" b="1"/>
              <a:t>메인 </a:t>
            </a:r>
            <a:r>
              <a:rPr lang="en-US" altLang="ko-KR" sz="1100" b="1"/>
              <a:t>CLAUDE.md </a:t>
            </a:r>
            <a:r>
              <a:rPr lang="ko-KR" altLang="en-US" sz="1100"/>
              <a:t>에서 </a:t>
            </a:r>
            <a:r>
              <a:rPr lang="ko-KR" altLang="en-US" sz="1100" b="1">
                <a:solidFill>
                  <a:srgbClr val="00B050"/>
                </a:solidFill>
              </a:rPr>
              <a:t>인지하도록 경로를 </a:t>
            </a:r>
            <a:r>
              <a:rPr lang="ko-KR" altLang="en-US" sz="1100"/>
              <a:t>언급하였다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7210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CA0D2-E847-8580-7D1C-10643068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메인 </a:t>
            </a:r>
            <a:r>
              <a:rPr lang="en-US" altLang="ko-KR"/>
              <a:t>CLAUDE.md </a:t>
            </a:r>
            <a:r>
              <a:rPr lang="ko-KR" altLang="en-US"/>
              <a:t>경로 서술 차이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CD72B0-1FC3-65CB-340C-C0CA49C5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17" t="29691" r="21521" b="28385"/>
          <a:stretch>
            <a:fillRect/>
          </a:stretch>
        </p:blipFill>
        <p:spPr>
          <a:xfrm>
            <a:off x="273377" y="1904215"/>
            <a:ext cx="6127423" cy="2532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F9465-88E6-023D-F306-D51D3166FED7}"/>
              </a:ext>
            </a:extLst>
          </p:cNvPr>
          <p:cNvSpPr txBox="1"/>
          <p:nvPr/>
        </p:nvSpPr>
        <p:spPr>
          <a:xfrm>
            <a:off x="6485641" y="1904215"/>
            <a:ext cx="5533534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경로만 서술하는 경우 </a:t>
            </a:r>
            <a:r>
              <a:rPr lang="en-US" altLang="ko-KR" sz="1400"/>
              <a:t>: </a:t>
            </a:r>
            <a:r>
              <a:rPr lang="ko-KR" altLang="en-US" sz="1400"/>
              <a:t>파일이 해당 위치에 있다는 맥락만 제공</a:t>
            </a:r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@</a:t>
            </a:r>
            <a:r>
              <a:rPr lang="ko-KR" altLang="en-US" sz="1400"/>
              <a:t> </a:t>
            </a:r>
            <a:r>
              <a:rPr lang="en-US" altLang="ko-KR" sz="1400"/>
              <a:t>+</a:t>
            </a:r>
            <a:r>
              <a:rPr lang="ko-KR" altLang="en-US" sz="1400"/>
              <a:t> 경로로 서술하는 경우 </a:t>
            </a:r>
            <a:r>
              <a:rPr lang="en-US" altLang="ko-KR" sz="1400"/>
              <a:t>: </a:t>
            </a:r>
            <a:r>
              <a:rPr lang="ko-KR" altLang="en-US" sz="1400"/>
              <a:t>메모리로 해당 경로의 파일을 전부 로드</a:t>
            </a:r>
            <a:br>
              <a:rPr lang="en-US" altLang="ko-KR" sz="1400"/>
            </a:br>
            <a:endParaRPr lang="en-US" altLang="ko-KR" sz="1400"/>
          </a:p>
          <a:p>
            <a:endParaRPr lang="en-US" altLang="ko-KR" sz="1100"/>
          </a:p>
          <a:p>
            <a:r>
              <a:rPr lang="en-US" altLang="ko-KR" sz="1100">
                <a:sym typeface="Wingdings" panose="05000000000000000000" pitchFamily="2" charset="2"/>
              </a:rPr>
              <a:t> </a:t>
            </a:r>
            <a:r>
              <a:rPr lang="ko-KR" altLang="en-US" sz="1100">
                <a:sym typeface="Wingdings" panose="05000000000000000000" pitchFamily="2" charset="2"/>
              </a:rPr>
              <a:t>메인 컨텍스트에 서브에이전트 또는 </a:t>
            </a:r>
            <a:r>
              <a:rPr lang="en-US" altLang="ko-KR" sz="1100">
                <a:sym typeface="Wingdings" panose="05000000000000000000" pitchFamily="2" charset="2"/>
              </a:rPr>
              <a:t>MCP</a:t>
            </a:r>
            <a:r>
              <a:rPr lang="ko-KR" altLang="en-US" sz="1100">
                <a:sym typeface="Wingdings" panose="05000000000000000000" pitchFamily="2" charset="2"/>
              </a:rPr>
              <a:t> 언급시 서브에이전트가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</a:t>
            </a:r>
            <a:r>
              <a:rPr lang="ko-KR" altLang="en-US" sz="1100">
                <a:sym typeface="Wingdings" panose="05000000000000000000" pitchFamily="2" charset="2"/>
              </a:rPr>
              <a:t>메모리에 올려져 자체 컨텍스트로 작업을 수행함으로 </a:t>
            </a:r>
            <a:r>
              <a:rPr lang="en-US" altLang="ko-KR" sz="1100">
                <a:sym typeface="Wingdings" panose="05000000000000000000" pitchFamily="2" charset="2"/>
              </a:rPr>
              <a:t>@ </a:t>
            </a:r>
            <a:r>
              <a:rPr lang="ko-KR" altLang="en-US" sz="1100">
                <a:sym typeface="Wingdings" panose="05000000000000000000" pitchFamily="2" charset="2"/>
              </a:rPr>
              <a:t>로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</a:t>
            </a:r>
            <a:r>
              <a:rPr lang="ko-KR" altLang="en-US" sz="1100">
                <a:sym typeface="Wingdings" panose="05000000000000000000" pitchFamily="2" charset="2"/>
              </a:rPr>
              <a:t>언급하였다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</a:t>
            </a:r>
            <a:r>
              <a:rPr lang="ko-KR" altLang="en-US" sz="1100">
                <a:sym typeface="Wingdings" panose="05000000000000000000" pitchFamily="2" charset="2"/>
              </a:rPr>
              <a:t>프롬프트에 직접적으로 해당 기술을 사용해서 수행해줘해도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</a:t>
            </a:r>
            <a:r>
              <a:rPr lang="ko-KR" altLang="en-US" sz="1100">
                <a:sym typeface="Wingdings" panose="05000000000000000000" pitchFamily="2" charset="2"/>
              </a:rPr>
              <a:t>자연어로 명령을 이해하기에 수행은 해줌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</a:t>
            </a:r>
            <a:r>
              <a:rPr lang="ko-KR" altLang="en-US" sz="1100">
                <a:sym typeface="Wingdings" panose="05000000000000000000" pitchFamily="2" charset="2"/>
              </a:rPr>
              <a:t>그러나 짧게 어떤기술을 사용하는지 서술하기 편하다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748256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66E89-B06F-73E2-D3E0-6426282C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전략 </a:t>
            </a:r>
            <a:r>
              <a:rPr lang="en-US" altLang="ko-KR"/>
              <a:t>1 / </a:t>
            </a:r>
            <a:r>
              <a:rPr lang="ko-KR" altLang="en-US"/>
              <a:t>전략 </a:t>
            </a:r>
            <a:r>
              <a:rPr lang="en-US" altLang="ko-KR"/>
              <a:t>2 </a:t>
            </a:r>
            <a:r>
              <a:rPr lang="ko-KR" altLang="en-US"/>
              <a:t>비교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D38978-7729-6B1A-3CE9-7D38884E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53" t="23093" r="12706" b="22749"/>
          <a:stretch>
            <a:fillRect/>
          </a:stretch>
        </p:blipFill>
        <p:spPr>
          <a:xfrm>
            <a:off x="2115375" y="1901961"/>
            <a:ext cx="7801623" cy="3218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9D98C5-EE54-96C2-7D01-B6CE5ED17085}"/>
              </a:ext>
            </a:extLst>
          </p:cNvPr>
          <p:cNvSpPr txBox="1"/>
          <p:nvPr/>
        </p:nvSpPr>
        <p:spPr>
          <a:xfrm>
            <a:off x="1097280" y="5241303"/>
            <a:ext cx="1057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결론 </a:t>
            </a:r>
            <a:r>
              <a:rPr lang="en-US" altLang="ko-KR"/>
              <a:t>: </a:t>
            </a:r>
            <a:r>
              <a:rPr lang="ko-KR" altLang="en-US"/>
              <a:t>어느것이 더 좋다 할 수 없다</a:t>
            </a:r>
            <a:r>
              <a:rPr lang="en-US" altLang="ko-KR"/>
              <a:t>. </a:t>
            </a:r>
            <a:r>
              <a:rPr lang="ko-KR" altLang="en-US" b="1">
                <a:solidFill>
                  <a:srgbClr val="FF0000"/>
                </a:solidFill>
              </a:rPr>
              <a:t>둘 다 혼용해서 쓰는것</a:t>
            </a:r>
            <a:r>
              <a:rPr lang="ko-KR" altLang="en-US"/>
              <a:t>이 더 세부적으로 관리할 수 있어 좋다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86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EADF6-38C9-0168-F615-E9ABA6CE1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C20505A-A620-95B6-57B3-012D9312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5189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</TotalTime>
  <Words>268</Words>
  <Application>Microsoft Office PowerPoint</Application>
  <PresentationFormat>와이드스크린</PresentationFormat>
  <Paragraphs>22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Calibri</vt:lpstr>
      <vt:lpstr>Calibri Light</vt:lpstr>
      <vt:lpstr>Wingdings</vt:lpstr>
      <vt:lpstr>추억</vt:lpstr>
      <vt:lpstr>CLAUDE.md - 심화편</vt:lpstr>
      <vt:lpstr>대규모 프로젝트에서 CLAUDE.md 를 모듈화해야하는 이유</vt:lpstr>
      <vt:lpstr>CLAUDE.md 파일 구조화 전략</vt:lpstr>
      <vt:lpstr>주제별로 파일 쪼개기 – 조건부 규칙</vt:lpstr>
      <vt:lpstr>CLAUDE.md Rules모듈화 예시</vt:lpstr>
      <vt:lpstr>CLAUDE.md 폴더 모듈화 예시</vt:lpstr>
      <vt:lpstr>폴더 모듈화 적용방법</vt:lpstr>
      <vt:lpstr>메인 CLAUDE.md 경로 서술 차이</vt:lpstr>
      <vt:lpstr>전략 1 / 전략 2 비교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15</cp:revision>
  <dcterms:created xsi:type="dcterms:W3CDTF">2026-07-09T03:47:21Z</dcterms:created>
  <dcterms:modified xsi:type="dcterms:W3CDTF">2026-07-09T04:32:48Z</dcterms:modified>
</cp:coreProperties>
</file>