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1CB35F2-12C9-4F6A-8692-5D2FD7E26155}">
          <p14:sldIdLst>
            <p14:sldId id="256"/>
            <p14:sldId id="257"/>
            <p14:sldId id="258"/>
          </p14:sldIdLst>
        </p14:section>
        <p14:section name="session-report 플러그인" id="{31500342-6AF1-48B6-8C6F-CE742D47D45F}">
          <p14:sldIdLst>
            <p14:sldId id="259"/>
          </p14:sldIdLst>
        </p14:section>
        <p14:section name="claude-md-management" id="{9514C4C4-325E-4BC5-BAD1-671786E2F7B8}">
          <p14:sldIdLst>
            <p14:sldId id="260"/>
          </p14:sldIdLst>
        </p14:section>
        <p14:section name="serena" id="{A75DCD5F-2F80-4B1A-A27B-52C2A1A1D5DA}">
          <p14:sldIdLst>
            <p14:sldId id="261"/>
            <p14:sldId id="262"/>
          </p14:sldIdLst>
        </p14:section>
        <p14:section name="hookify" id="{E2D77A56-1E32-4CAB-AA40-1C7D72868D26}">
          <p14:sldIdLst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18022D-1EA8-4271-A7D8-7AED44BDF3A6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AE23F6-F95D-4023-85E8-33B47AEAB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801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AE23F6-F95D-4023-85E8-33B47AEAB4A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444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AE23F6-F95D-4023-85E8-33B47AEAB4A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911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A99F-F43A-4D6D-AE4A-1574C2F4C515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A3AF-9D27-4BD4-8A0C-1BCA3088EDE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907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A99F-F43A-4D6D-AE4A-1574C2F4C515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A3AF-9D27-4BD4-8A0C-1BCA3088ED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825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A99F-F43A-4D6D-AE4A-1574C2F4C515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A3AF-9D27-4BD4-8A0C-1BCA3088EDE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5523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A99F-F43A-4D6D-AE4A-1574C2F4C515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A3AF-9D27-4BD4-8A0C-1BCA3088ED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432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A99F-F43A-4D6D-AE4A-1574C2F4C515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A3AF-9D27-4BD4-8A0C-1BCA3088ED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146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A99F-F43A-4D6D-AE4A-1574C2F4C515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A3AF-9D27-4BD4-8A0C-1BCA3088ED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20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A99F-F43A-4D6D-AE4A-1574C2F4C515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A3AF-9D27-4BD4-8A0C-1BCA3088ED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055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36AA99F-F43A-4D6D-AE4A-1574C2F4C515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32A3AF-9D27-4BD4-8A0C-1BCA3088ED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2341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A99F-F43A-4D6D-AE4A-1574C2F4C515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A3AF-9D27-4BD4-8A0C-1BCA3088ED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432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A99F-F43A-4D6D-AE4A-1574C2F4C515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A3AF-9D27-4BD4-8A0C-1BCA3088ED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099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A99F-F43A-4D6D-AE4A-1574C2F4C515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A3AF-9D27-4BD4-8A0C-1BCA3088ED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700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36AA99F-F43A-4D6D-AE4A-1574C2F4C515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32A3AF-9D27-4BD4-8A0C-1BCA3088EDE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996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stral.sh/uv/getting-started/installation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3C922F-8731-8B4C-7C8E-ACD1691BAD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6000"/>
              <a:t>하네스 엔지니어링 도구 추천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FF80A0-5BB4-AC8E-EDC4-FFF6E8F020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13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19B3AB-CD67-BCD6-D7DB-607C42BC8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토큰 절약 </a:t>
            </a:r>
            <a:r>
              <a:rPr lang="en-US" altLang="ko-KR"/>
              <a:t>CLAUDE </a:t>
            </a:r>
            <a:r>
              <a:rPr lang="ko-KR" altLang="en-US"/>
              <a:t>공식 플러그인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D86EB55-FAE5-42B1-142C-43C34D3D69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28" t="10721" r="31185" b="9828"/>
          <a:stretch>
            <a:fillRect/>
          </a:stretch>
        </p:blipFill>
        <p:spPr>
          <a:xfrm>
            <a:off x="707011" y="1940951"/>
            <a:ext cx="3676126" cy="43363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68121E-9159-A65C-35DB-75C6DDC301D4}"/>
              </a:ext>
            </a:extLst>
          </p:cNvPr>
          <p:cNvSpPr txBox="1"/>
          <p:nvPr/>
        </p:nvSpPr>
        <p:spPr>
          <a:xfrm>
            <a:off x="4515439" y="1940951"/>
            <a:ext cx="72680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 = </a:t>
            </a:r>
            <a:r>
              <a:rPr lang="ko-KR" altLang="en-US"/>
              <a:t>토큰이 어디서 새는지 </a:t>
            </a:r>
            <a:endParaRPr lang="en-US" altLang="ko-KR"/>
          </a:p>
          <a:p>
            <a:r>
              <a:rPr lang="en-US" altLang="ko-KR"/>
              <a:t>2 = CLAUDE.md </a:t>
            </a:r>
            <a:r>
              <a:rPr lang="ko-KR" altLang="en-US"/>
              <a:t>파일을 관리하는 플러그인</a:t>
            </a:r>
            <a:endParaRPr lang="en-US" altLang="ko-KR"/>
          </a:p>
          <a:p>
            <a:r>
              <a:rPr lang="en-US" altLang="ko-KR"/>
              <a:t>3 = </a:t>
            </a:r>
            <a:r>
              <a:rPr lang="ko-KR" altLang="en-US"/>
              <a:t>코드를 검색할 때 토큰을 절약해주는 플러그인</a:t>
            </a:r>
            <a:endParaRPr lang="en-US" altLang="ko-KR"/>
          </a:p>
          <a:p>
            <a:r>
              <a:rPr lang="en-US" altLang="ko-KR"/>
              <a:t>4 = </a:t>
            </a:r>
            <a:r>
              <a:rPr lang="ko-KR" altLang="en-US"/>
              <a:t>같은 실수를 반복하지 않도록 해주는 플러그인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      (</a:t>
            </a:r>
            <a:r>
              <a:rPr lang="ko-KR" altLang="en-US"/>
              <a:t>사고 치기 전에 막아버리는 도구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677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918993-026F-0421-9D9E-B985AC58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플러그인 설치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22F51-4D9F-4DDA-7795-9814F3AFCECA}"/>
              </a:ext>
            </a:extLst>
          </p:cNvPr>
          <p:cNvSpPr txBox="1"/>
          <p:nvPr/>
        </p:nvSpPr>
        <p:spPr>
          <a:xfrm>
            <a:off x="1225485" y="1894788"/>
            <a:ext cx="1005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/plugin </a:t>
            </a:r>
            <a:r>
              <a:rPr lang="en-US" altLang="ko-KR" sz="1600">
                <a:sym typeface="Wingdings" panose="05000000000000000000" pitchFamily="2" charset="2"/>
              </a:rPr>
              <a:t> </a:t>
            </a:r>
            <a:r>
              <a:rPr lang="ko-KR" altLang="en-US" sz="1600">
                <a:sym typeface="Wingdings" panose="05000000000000000000" pitchFamily="2" charset="2"/>
              </a:rPr>
              <a:t>마켓플레이스에서 플러그인 검색</a:t>
            </a:r>
            <a:endParaRPr lang="en-US" altLang="ko-KR" sz="1600">
              <a:sym typeface="Wingdings" panose="05000000000000000000" pitchFamily="2" charset="2"/>
            </a:endParaRPr>
          </a:p>
          <a:p>
            <a:r>
              <a:rPr lang="en-US" altLang="ko-KR" sz="1600">
                <a:sym typeface="Wingdings" panose="05000000000000000000" pitchFamily="2" charset="2"/>
              </a:rPr>
              <a:t>/reload-plugin  </a:t>
            </a:r>
            <a:r>
              <a:rPr lang="ko-KR" altLang="en-US" sz="1600">
                <a:sym typeface="Wingdings" panose="05000000000000000000" pitchFamily="2" charset="2"/>
              </a:rPr>
              <a:t>설치한 플러그인 리로드 </a:t>
            </a:r>
            <a:r>
              <a:rPr lang="en-US" altLang="ko-KR" sz="1600">
                <a:sym typeface="Wingdings" panose="05000000000000000000" pitchFamily="2" charset="2"/>
              </a:rPr>
              <a:t>(</a:t>
            </a:r>
            <a:r>
              <a:rPr lang="ko-KR" altLang="en-US" sz="1600">
                <a:sym typeface="Wingdings" panose="05000000000000000000" pitchFamily="2" charset="2"/>
              </a:rPr>
              <a:t>설치하고 바로 적용 안됨</a:t>
            </a:r>
            <a:r>
              <a:rPr lang="en-US" altLang="ko-KR" sz="1600">
                <a:sym typeface="Wingdings" panose="05000000000000000000" pitchFamily="2" charset="2"/>
              </a:rPr>
              <a:t>)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422813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F42DAB-3AC6-D523-5D9F-F6FDE031E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Session-report </a:t>
            </a:r>
            <a:r>
              <a:rPr lang="ko-KR" altLang="en-US"/>
              <a:t>플러그인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20C8B2-B000-8C46-538E-E6FAE5D83D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454" t="31753" r="27938" b="29209"/>
          <a:stretch>
            <a:fillRect/>
          </a:stretch>
        </p:blipFill>
        <p:spPr>
          <a:xfrm>
            <a:off x="452486" y="1847654"/>
            <a:ext cx="5316717" cy="26772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07FADD-7FC3-1E57-A232-CC547E19E5B4}"/>
              </a:ext>
            </a:extLst>
          </p:cNvPr>
          <p:cNvSpPr txBox="1"/>
          <p:nvPr/>
        </p:nvSpPr>
        <p:spPr>
          <a:xfrm>
            <a:off x="5948313" y="1875934"/>
            <a:ext cx="58728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1. </a:t>
            </a:r>
            <a:r>
              <a:rPr lang="ko-KR" altLang="en-US" sz="1400"/>
              <a:t>어디서 토큰이 많이 사용되었는지 파악할 때</a:t>
            </a:r>
            <a:endParaRPr lang="en-US" altLang="ko-KR" sz="1400"/>
          </a:p>
          <a:p>
            <a:r>
              <a:rPr lang="en-US" altLang="ko-KR" sz="1400"/>
              <a:t>2. </a:t>
            </a:r>
            <a:r>
              <a:rPr lang="ko-KR" altLang="en-US" sz="1400"/>
              <a:t>캐시가 잘 작동하는지 확인할 때</a:t>
            </a:r>
            <a:br>
              <a:rPr lang="en-US" altLang="ko-KR" sz="1400"/>
            </a:br>
            <a:r>
              <a:rPr lang="en-US" altLang="ko-KR" sz="1400"/>
              <a:t>    (</a:t>
            </a:r>
            <a:r>
              <a:rPr lang="ko-KR" altLang="en-US" sz="1400"/>
              <a:t>반복되는 부분을 한 번 처리해놓고</a:t>
            </a:r>
            <a:r>
              <a:rPr lang="en-US" altLang="ko-KR" sz="1400"/>
              <a:t> </a:t>
            </a:r>
            <a:r>
              <a:rPr lang="ko-KR" altLang="en-US" sz="1400"/>
              <a:t>캐시에 저장해 둠</a:t>
            </a:r>
            <a:br>
              <a:rPr lang="en-US" altLang="ko-KR" sz="1400"/>
            </a:br>
            <a:r>
              <a:rPr lang="en-US" altLang="ko-KR" sz="1400"/>
              <a:t>    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>
                <a:sym typeface="Wingdings" panose="05000000000000000000" pitchFamily="2" charset="2"/>
              </a:rPr>
              <a:t>두 번째 요청에서는 그 비용을 </a:t>
            </a:r>
            <a:r>
              <a:rPr lang="en-US" altLang="ko-KR" sz="1400">
                <a:sym typeface="Wingdings" panose="05000000000000000000" pitchFamily="2" charset="2"/>
              </a:rPr>
              <a:t>1/10</a:t>
            </a:r>
            <a:r>
              <a:rPr lang="ko-KR" altLang="en-US" sz="1400">
                <a:sym typeface="Wingdings" panose="05000000000000000000" pitchFamily="2" charset="2"/>
              </a:rPr>
              <a:t>으로 할인해줌</a:t>
            </a:r>
            <a:r>
              <a:rPr lang="en-US" altLang="ko-KR" sz="1400">
                <a:sym typeface="Wingdings" panose="05000000000000000000" pitchFamily="2" charset="2"/>
              </a:rPr>
              <a:t>)</a:t>
            </a:r>
          </a:p>
          <a:p>
            <a:r>
              <a:rPr lang="en-US" altLang="ko-KR" sz="1400">
                <a:sym typeface="Wingdings" panose="05000000000000000000" pitchFamily="2" charset="2"/>
              </a:rPr>
              <a:t>3. </a:t>
            </a:r>
            <a:r>
              <a:rPr lang="ko-KR" altLang="en-US" sz="1400">
                <a:sym typeface="Wingdings" panose="05000000000000000000" pitchFamily="2" charset="2"/>
              </a:rPr>
              <a:t>작업 전후를 비교하고 싶을때 사용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  <a:br>
              <a:rPr lang="en-US" altLang="ko-KR" sz="1400">
                <a:sym typeface="Wingdings" panose="05000000000000000000" pitchFamily="2" charset="2"/>
              </a:rPr>
            </a:b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※ </a:t>
            </a:r>
            <a:r>
              <a:rPr lang="ko-KR" altLang="en-US" sz="1400">
                <a:sym typeface="Wingdings" panose="05000000000000000000" pitchFamily="2" charset="2"/>
              </a:rPr>
              <a:t>하기 사진은 사용법 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ko-KR" altLang="en-US" sz="1400">
                <a:sym typeface="Wingdings" panose="05000000000000000000" pitchFamily="2" charset="2"/>
              </a:rPr>
              <a:t>좌측 </a:t>
            </a:r>
            <a:r>
              <a:rPr lang="en-US" altLang="ko-KR" sz="1400">
                <a:sym typeface="Wingdings" panose="05000000000000000000" pitchFamily="2" charset="2"/>
              </a:rPr>
              <a:t>: </a:t>
            </a:r>
            <a:r>
              <a:rPr lang="ko-KR" altLang="en-US" sz="1400">
                <a:sym typeface="Wingdings" panose="05000000000000000000" pitchFamily="2" charset="2"/>
              </a:rPr>
              <a:t>플러그인 설치 후 프롬프트 명령</a:t>
            </a:r>
            <a:endParaRPr lang="en-US" altLang="ko-KR" sz="1400">
              <a:sym typeface="Wingdings" panose="05000000000000000000" pitchFamily="2" charset="2"/>
            </a:endParaRPr>
          </a:p>
          <a:p>
            <a:r>
              <a:rPr lang="ko-KR" altLang="en-US" sz="1400">
                <a:sym typeface="Wingdings" panose="05000000000000000000" pitchFamily="2" charset="2"/>
              </a:rPr>
              <a:t>우측 </a:t>
            </a:r>
            <a:r>
              <a:rPr lang="en-US" altLang="ko-KR" sz="1400">
                <a:sym typeface="Wingdings" panose="05000000000000000000" pitchFamily="2" charset="2"/>
              </a:rPr>
              <a:t>: </a:t>
            </a:r>
            <a:r>
              <a:rPr lang="ko-KR" altLang="en-US" sz="1400">
                <a:sym typeface="Wingdings" panose="05000000000000000000" pitchFamily="2" charset="2"/>
              </a:rPr>
              <a:t>플러그인 명령 </a:t>
            </a:r>
            <a:r>
              <a:rPr lang="en-US" altLang="ko-KR" sz="1400">
                <a:sym typeface="Wingdings" panose="05000000000000000000" pitchFamily="2" charset="2"/>
              </a:rPr>
              <a:t>(</a:t>
            </a:r>
            <a:r>
              <a:rPr lang="ko-KR" altLang="en-US" sz="1400">
                <a:sym typeface="Wingdings" panose="05000000000000000000" pitchFamily="2" charset="2"/>
              </a:rPr>
              <a:t>옵션에 기간을 정하지 않으면 기본 </a:t>
            </a:r>
            <a:r>
              <a:rPr lang="en-US" altLang="ko-KR" sz="1400">
                <a:sym typeface="Wingdings" panose="05000000000000000000" pitchFamily="2" charset="2"/>
              </a:rPr>
              <a:t>7</a:t>
            </a:r>
            <a:r>
              <a:rPr lang="ko-KR" altLang="en-US" sz="1400">
                <a:sym typeface="Wingdings" panose="05000000000000000000" pitchFamily="2" charset="2"/>
              </a:rPr>
              <a:t>일</a:t>
            </a:r>
            <a:r>
              <a:rPr lang="en-US" altLang="ko-KR" sz="1400">
                <a:sym typeface="Wingdings" panose="05000000000000000000" pitchFamily="2" charset="2"/>
              </a:rPr>
              <a:t>)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            [d = </a:t>
            </a:r>
            <a:r>
              <a:rPr lang="ko-KR" altLang="en-US" sz="1400">
                <a:sym typeface="Wingdings" panose="05000000000000000000" pitchFamily="2" charset="2"/>
              </a:rPr>
              <a:t>날짜 </a:t>
            </a:r>
            <a:r>
              <a:rPr lang="en-US" altLang="ko-KR" sz="1400">
                <a:sym typeface="Wingdings" panose="05000000000000000000" pitchFamily="2" charset="2"/>
              </a:rPr>
              <a:t>/ h=</a:t>
            </a:r>
            <a:r>
              <a:rPr lang="ko-KR" altLang="en-US" sz="1400">
                <a:sym typeface="Wingdings" panose="05000000000000000000" pitchFamily="2" charset="2"/>
              </a:rPr>
              <a:t>시간</a:t>
            </a:r>
            <a:r>
              <a:rPr lang="en-US" altLang="ko-KR" sz="1400">
                <a:sym typeface="Wingdings" panose="05000000000000000000" pitchFamily="2" charset="2"/>
              </a:rPr>
              <a:t>]</a:t>
            </a:r>
            <a:br>
              <a:rPr lang="en-US" altLang="ko-KR" sz="1400">
                <a:sym typeface="Wingdings" panose="05000000000000000000" pitchFamily="2" charset="2"/>
              </a:rPr>
            </a:br>
            <a:br>
              <a:rPr lang="en-US" altLang="ko-KR" sz="1400">
                <a:sym typeface="Wingdings" panose="05000000000000000000" pitchFamily="2" charset="2"/>
              </a:rPr>
            </a:br>
            <a:r>
              <a:rPr lang="ko-KR" altLang="en-US" sz="1400">
                <a:sym typeface="Wingdings" panose="05000000000000000000" pitchFamily="2" charset="2"/>
              </a:rPr>
              <a:t>자세한 사용 방법은 플러그인 </a:t>
            </a:r>
            <a:r>
              <a:rPr lang="en-US" altLang="ko-KR" sz="1400">
                <a:sym typeface="Wingdings" panose="05000000000000000000" pitchFamily="2" charset="2"/>
              </a:rPr>
              <a:t>git </a:t>
            </a:r>
            <a:r>
              <a:rPr lang="ko-KR" altLang="en-US" sz="1400">
                <a:sym typeface="Wingdings" panose="05000000000000000000" pitchFamily="2" charset="2"/>
              </a:rPr>
              <a:t>페이지 확인</a:t>
            </a:r>
            <a:endParaRPr lang="ko-KR" altLang="en-US" sz="14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ED7BFE-B4E8-B589-0085-0D29EA1D00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129" t="43711" r="34278" b="39794"/>
          <a:stretch>
            <a:fillRect/>
          </a:stretch>
        </p:blipFill>
        <p:spPr>
          <a:xfrm>
            <a:off x="452486" y="4967926"/>
            <a:ext cx="4949074" cy="11312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E4346DC-BABA-41C4-B3FA-E6005FBEB4B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052" t="44123" r="33428" b="38282"/>
          <a:stretch>
            <a:fillRect/>
          </a:stretch>
        </p:blipFill>
        <p:spPr>
          <a:xfrm>
            <a:off x="6400800" y="4967926"/>
            <a:ext cx="4581427" cy="10920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C0CCE6-2156-5337-77F1-EE09023AAF39}"/>
              </a:ext>
            </a:extLst>
          </p:cNvPr>
          <p:cNvSpPr txBox="1"/>
          <p:nvPr/>
        </p:nvSpPr>
        <p:spPr>
          <a:xfrm>
            <a:off x="5740922" y="5231875"/>
            <a:ext cx="6315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/>
              <a:t>=</a:t>
            </a:r>
            <a:endParaRPr lang="ko-KR" altLang="en-US" sz="3200"/>
          </a:p>
        </p:txBody>
      </p:sp>
    </p:spTree>
    <p:extLst>
      <p:ext uri="{BB962C8B-B14F-4D97-AF65-F5344CB8AC3E}">
        <p14:creationId xmlns:p14="http://schemas.microsoft.com/office/powerpoint/2010/main" val="424141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502C0D-8410-52F7-A457-DA50904A3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claude-md-management </a:t>
            </a:r>
            <a:r>
              <a:rPr lang="ko-KR" altLang="en-US"/>
              <a:t>플러그인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99B7F4B-80E5-30A0-090D-9936E61306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26" t="25333" r="10463" b="26736"/>
          <a:stretch>
            <a:fillRect/>
          </a:stretch>
        </p:blipFill>
        <p:spPr>
          <a:xfrm>
            <a:off x="1097280" y="1871221"/>
            <a:ext cx="6815581" cy="2334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EFA50D-E357-F310-A3DE-1DCA2AAB25EC}"/>
              </a:ext>
            </a:extLst>
          </p:cNvPr>
          <p:cNvSpPr txBox="1"/>
          <p:nvPr/>
        </p:nvSpPr>
        <p:spPr>
          <a:xfrm>
            <a:off x="1097280" y="4326903"/>
            <a:ext cx="103939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/revise-claude-md</a:t>
            </a:r>
            <a:r>
              <a:rPr lang="ko-KR" altLang="en-US" sz="1200"/>
              <a:t> 명령 </a:t>
            </a:r>
            <a:r>
              <a:rPr lang="en-US" altLang="ko-KR" sz="1200"/>
              <a:t>: </a:t>
            </a:r>
            <a:r>
              <a:rPr lang="ko-KR" altLang="en-US" sz="1200"/>
              <a:t>세션이 끝날때</a:t>
            </a:r>
            <a:r>
              <a:rPr lang="en-US" altLang="ko-KR" sz="1200"/>
              <a:t>, </a:t>
            </a:r>
            <a:r>
              <a:rPr lang="ko-KR" altLang="en-US" sz="1200"/>
              <a:t>대화를 복기하여 </a:t>
            </a:r>
            <a:r>
              <a:rPr lang="ko-KR" altLang="en-US" sz="1200" b="1">
                <a:solidFill>
                  <a:srgbClr val="FF0000"/>
                </a:solidFill>
              </a:rPr>
              <a:t>새롭게 알게된 명령어</a:t>
            </a:r>
            <a:r>
              <a:rPr lang="en-US" altLang="ko-KR" sz="1200"/>
              <a:t>, </a:t>
            </a:r>
            <a:r>
              <a:rPr lang="ko-KR" altLang="en-US" sz="1200" b="1">
                <a:solidFill>
                  <a:srgbClr val="FF0000"/>
                </a:solidFill>
              </a:rPr>
              <a:t>작업패턴</a:t>
            </a:r>
            <a:r>
              <a:rPr lang="en-US" altLang="ko-KR" sz="1200"/>
              <a:t>, </a:t>
            </a:r>
            <a:r>
              <a:rPr lang="ko-KR" altLang="en-US" sz="1200" b="1">
                <a:solidFill>
                  <a:srgbClr val="FF0000"/>
                </a:solidFill>
              </a:rPr>
              <a:t>함정</a:t>
            </a:r>
            <a:br>
              <a:rPr lang="en-US" altLang="ko-KR" sz="1200" b="1">
                <a:solidFill>
                  <a:srgbClr val="FF0000"/>
                </a:solidFill>
              </a:rPr>
            </a:br>
            <a:r>
              <a:rPr lang="en-US" altLang="ko-KR" sz="1200" b="1">
                <a:solidFill>
                  <a:srgbClr val="FF0000"/>
                </a:solidFill>
              </a:rPr>
              <a:t>                                              </a:t>
            </a:r>
            <a:r>
              <a:rPr lang="en-US" altLang="ko-KR" sz="1200"/>
              <a:t>MD</a:t>
            </a:r>
            <a:r>
              <a:rPr lang="ko-KR" altLang="en-US" sz="1200"/>
              <a:t>에 추가할 </a:t>
            </a:r>
            <a:r>
              <a:rPr lang="ko-KR" altLang="en-US" sz="1200" b="1">
                <a:solidFill>
                  <a:srgbClr val="FF0000"/>
                </a:solidFill>
              </a:rPr>
              <a:t>후보</a:t>
            </a:r>
            <a:r>
              <a:rPr lang="ko-KR" altLang="en-US" sz="1200"/>
              <a:t>로 보여줌</a:t>
            </a:r>
            <a:endParaRPr lang="en-US" altLang="ko-KR" sz="1200"/>
          </a:p>
          <a:p>
            <a:r>
              <a:rPr lang="en-US" altLang="ko-KR" sz="1200"/>
              <a:t>/claude-md-improver </a:t>
            </a:r>
            <a:r>
              <a:rPr lang="ko-KR" altLang="en-US" sz="1200"/>
              <a:t>명령 </a:t>
            </a:r>
            <a:r>
              <a:rPr lang="en-US" altLang="ko-KR" sz="1200"/>
              <a:t>: </a:t>
            </a:r>
            <a:r>
              <a:rPr lang="ko-KR" altLang="en-US" sz="1200"/>
              <a:t>주기적으로 </a:t>
            </a:r>
            <a:r>
              <a:rPr lang="en-US" altLang="ko-KR" sz="1200"/>
              <a:t>CLAUDE.md </a:t>
            </a:r>
            <a:r>
              <a:rPr lang="ko-KR" altLang="en-US" sz="1200"/>
              <a:t>파일을 검사할 때 사용하는 도구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                                        </a:t>
            </a:r>
            <a:r>
              <a:rPr lang="ko-KR" altLang="en-US" sz="1200"/>
              <a:t>프로젝트에 있는 모든 </a:t>
            </a:r>
            <a:r>
              <a:rPr lang="en-US" altLang="ko-KR" sz="1200"/>
              <a:t>CLAUDE.md</a:t>
            </a:r>
            <a:r>
              <a:rPr lang="ko-KR" altLang="en-US" sz="1200"/>
              <a:t> 파일을 </a:t>
            </a:r>
            <a:r>
              <a:rPr lang="en-US" altLang="ko-KR" sz="1200"/>
              <a:t>6</a:t>
            </a:r>
            <a:r>
              <a:rPr lang="ko-KR" altLang="en-US" sz="1200"/>
              <a:t>개의 기준으로 평가</a:t>
            </a:r>
            <a:br>
              <a:rPr lang="en-US" altLang="ko-KR" sz="1200"/>
            </a:br>
            <a:r>
              <a:rPr lang="en-US" altLang="ko-KR" sz="1200"/>
              <a:t>                                                    </a:t>
            </a:r>
            <a:endParaRPr lang="ko-KR" altLang="en-US" sz="12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D14432-56C2-F806-AE19-2CAD204C48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572" t="23367" r="41546" b="23574"/>
          <a:stretch>
            <a:fillRect/>
          </a:stretch>
        </p:blipFill>
        <p:spPr>
          <a:xfrm>
            <a:off x="8163612" y="1858471"/>
            <a:ext cx="3082565" cy="24944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EA2EC47-5595-50C1-9E9A-E8F61FAC4FA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114" t="23918" r="20825" b="22749"/>
          <a:stretch>
            <a:fillRect/>
          </a:stretch>
        </p:blipFill>
        <p:spPr>
          <a:xfrm>
            <a:off x="7566322" y="4404707"/>
            <a:ext cx="4547122" cy="239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917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90912-0E7D-7F73-0EBC-251A8F85D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Serena </a:t>
            </a:r>
            <a:r>
              <a:rPr lang="ko-KR" altLang="en-US"/>
              <a:t>플러그인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C4691D-EFE7-AE46-3ABF-6F82551721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98" t="31615" r="11701" b="28934"/>
          <a:stretch>
            <a:fillRect/>
          </a:stretch>
        </p:blipFill>
        <p:spPr>
          <a:xfrm>
            <a:off x="1097280" y="1970201"/>
            <a:ext cx="6768445" cy="19582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BF1F80-ACAB-797C-0FB0-A68F1B988066}"/>
              </a:ext>
            </a:extLst>
          </p:cNvPr>
          <p:cNvSpPr txBox="1"/>
          <p:nvPr/>
        </p:nvSpPr>
        <p:spPr>
          <a:xfrm>
            <a:off x="1097280" y="3928410"/>
            <a:ext cx="107804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rgbClr val="FF0000"/>
                </a:solidFill>
              </a:rPr>
              <a:t>IDE</a:t>
            </a:r>
            <a:r>
              <a:rPr lang="ko-KR" altLang="en-US" sz="1600" b="1">
                <a:solidFill>
                  <a:srgbClr val="FF0000"/>
                </a:solidFill>
              </a:rPr>
              <a:t> 명령어나 동작방식을 </a:t>
            </a:r>
            <a:r>
              <a:rPr lang="en-US" altLang="ko-KR" sz="1600" b="1">
                <a:solidFill>
                  <a:srgbClr val="FF0000"/>
                </a:solidFill>
              </a:rPr>
              <a:t>AI</a:t>
            </a:r>
            <a:r>
              <a:rPr lang="ko-KR" altLang="en-US" sz="1600" b="1">
                <a:solidFill>
                  <a:srgbClr val="FF0000"/>
                </a:solidFill>
              </a:rPr>
              <a:t>에게 인식시켜줌</a:t>
            </a:r>
            <a:r>
              <a:rPr lang="en-US" altLang="ko-KR" sz="1600" b="1">
                <a:solidFill>
                  <a:srgbClr val="FF0000"/>
                </a:solidFill>
              </a:rPr>
              <a:t>.</a:t>
            </a:r>
            <a:br>
              <a:rPr lang="en-US" altLang="ko-KR" sz="1600"/>
            </a:br>
            <a:r>
              <a:rPr lang="ko-KR" altLang="en-US" sz="1600"/>
              <a:t>대부분의 </a:t>
            </a:r>
            <a:r>
              <a:rPr lang="en-US" altLang="ko-KR" sz="1600"/>
              <a:t>IDE</a:t>
            </a:r>
            <a:r>
              <a:rPr lang="ko-KR" altLang="en-US" sz="1600"/>
              <a:t>에서 </a:t>
            </a:r>
            <a:r>
              <a:rPr lang="en-US" altLang="ko-KR" sz="1600"/>
              <a:t>ctrl + </a:t>
            </a:r>
            <a:r>
              <a:rPr lang="ko-KR" altLang="en-US" sz="1600"/>
              <a:t>마우스 좌측 클릭 시 해당하는 함수명 또는 클래스 명으로 이동하지만</a:t>
            </a:r>
            <a:br>
              <a:rPr lang="en-US" altLang="ko-KR" sz="1600"/>
            </a:br>
            <a:r>
              <a:rPr lang="en-US" altLang="ko-KR" sz="1600"/>
              <a:t>AI</a:t>
            </a:r>
            <a:r>
              <a:rPr lang="ko-KR" altLang="en-US" sz="1600"/>
              <a:t>는 이를 모름 패키지 내 모든 지시사항과 동일한 이름을 탐색 </a:t>
            </a:r>
            <a:r>
              <a:rPr lang="en-US" altLang="ko-KR" sz="1600">
                <a:sym typeface="Wingdings" panose="05000000000000000000" pitchFamily="2" charset="2"/>
              </a:rPr>
              <a:t> </a:t>
            </a:r>
            <a:r>
              <a:rPr lang="ko-KR" altLang="en-US" sz="1600">
                <a:sym typeface="Wingdings" panose="05000000000000000000" pitchFamily="2" charset="2"/>
              </a:rPr>
              <a:t>토큰 낭비</a:t>
            </a:r>
            <a:endParaRPr lang="en-US" altLang="ko-KR" sz="1600">
              <a:sym typeface="Wingdings" panose="05000000000000000000" pitchFamily="2" charset="2"/>
            </a:endParaRPr>
          </a:p>
          <a:p>
            <a:endParaRPr lang="en-US" altLang="ko-KR" sz="1600">
              <a:sym typeface="Wingdings" panose="05000000000000000000" pitchFamily="2" charset="2"/>
            </a:endParaRPr>
          </a:p>
          <a:p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4110479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CC8331-B1E1-A817-C9CE-858344275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설치 방법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34C62F2-C81D-DBA1-937A-6FA2F43687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56" t="9347" r="19510" b="11753"/>
          <a:stretch>
            <a:fillRect/>
          </a:stretch>
        </p:blipFill>
        <p:spPr>
          <a:xfrm>
            <a:off x="339365" y="2017335"/>
            <a:ext cx="4971572" cy="40535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B04BB4-7289-3705-16DB-BAD59E9A1603}"/>
              </a:ext>
            </a:extLst>
          </p:cNvPr>
          <p:cNvSpPr txBox="1"/>
          <p:nvPr/>
        </p:nvSpPr>
        <p:spPr>
          <a:xfrm>
            <a:off x="5382705" y="1923068"/>
            <a:ext cx="65799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600"/>
              <a:t>plugin </a:t>
            </a:r>
            <a:r>
              <a:rPr lang="ko-KR" altLang="en-US" sz="1600"/>
              <a:t>설치 </a:t>
            </a:r>
            <a:r>
              <a:rPr lang="en-US" altLang="ko-KR" sz="1600"/>
              <a:t>(</a:t>
            </a:r>
            <a:r>
              <a:rPr lang="ko-KR" altLang="en-US" sz="1600"/>
              <a:t>기존과 동일</a:t>
            </a:r>
            <a:r>
              <a:rPr lang="en-US" altLang="ko-KR" sz="1600"/>
              <a:t>)</a:t>
            </a:r>
          </a:p>
          <a:p>
            <a:pPr marL="342900" indent="-342900">
              <a:buAutoNum type="arabicPeriod"/>
            </a:pPr>
            <a:r>
              <a:rPr lang="en-US" altLang="ko-KR" sz="1600"/>
              <a:t>uv </a:t>
            </a:r>
            <a:r>
              <a:rPr lang="ko-KR" altLang="en-US" sz="1600"/>
              <a:t>패키지 설치</a:t>
            </a:r>
            <a:r>
              <a:rPr lang="en-US" altLang="ko-KR" sz="1600"/>
              <a:t>(</a:t>
            </a:r>
            <a:r>
              <a:rPr lang="en-US" altLang="ko-KR" sz="1600">
                <a:hlinkClick r:id="rId3"/>
              </a:rPr>
              <a:t>https://docs.astral.sh/uv/getting-started/installation/</a:t>
            </a:r>
            <a:r>
              <a:rPr lang="en-US" altLang="ko-KR" sz="1600"/>
              <a:t> )</a:t>
            </a:r>
          </a:p>
          <a:p>
            <a:r>
              <a:rPr lang="ko-KR" altLang="en-US" sz="1600"/>
              <a:t>        </a:t>
            </a:r>
            <a:r>
              <a:rPr lang="en-US" altLang="ko-KR" sz="1600">
                <a:sym typeface="Wingdings" panose="05000000000000000000" pitchFamily="2" charset="2"/>
              </a:rPr>
              <a:t> </a:t>
            </a:r>
            <a:r>
              <a:rPr lang="ko-KR" altLang="en-US" sz="1600"/>
              <a:t>환경에 맞게 설치</a:t>
            </a:r>
            <a:endParaRPr lang="en-US" altLang="ko-KR" sz="1600"/>
          </a:p>
          <a:p>
            <a:r>
              <a:rPr lang="en-US" altLang="ko-KR" sz="1600"/>
              <a:t>3. reconnect </a:t>
            </a:r>
            <a:r>
              <a:rPr lang="ko-KR" altLang="en-US" sz="1600"/>
              <a:t>수행</a:t>
            </a:r>
            <a:endParaRPr lang="en-US" altLang="ko-KR" sz="1600"/>
          </a:p>
          <a:p>
            <a:pPr marL="342900" indent="-342900">
              <a:buAutoNum type="arabicPeriod"/>
            </a:pPr>
            <a:endParaRPr lang="en-US" altLang="ko-KR" sz="1600"/>
          </a:p>
          <a:p>
            <a:pPr marL="342900" indent="-342900">
              <a:buAutoNum type="arabicPeriod"/>
            </a:pPr>
            <a:endParaRPr lang="en-US" altLang="ko-KR" sz="1600"/>
          </a:p>
          <a:p>
            <a:endParaRPr lang="ko-KR" altLang="en-US" sz="160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D39DD25-B98D-B893-2E73-4366321137AE}"/>
              </a:ext>
            </a:extLst>
          </p:cNvPr>
          <p:cNvGrpSpPr/>
          <p:nvPr/>
        </p:nvGrpSpPr>
        <p:grpSpPr>
          <a:xfrm>
            <a:off x="5382706" y="3073138"/>
            <a:ext cx="4524866" cy="3228992"/>
            <a:chOff x="5382705" y="2639070"/>
            <a:chExt cx="4817097" cy="35942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29DA844-D6B3-5EEC-EF64-8D0CAD45C1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82705" y="2639070"/>
              <a:ext cx="4817097" cy="3594232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5298C3A-2312-334B-897D-0E00E9D2F4AF}"/>
                </a:ext>
              </a:extLst>
            </p:cNvPr>
            <p:cNvSpPr/>
            <p:nvPr/>
          </p:nvSpPr>
          <p:spPr>
            <a:xfrm>
              <a:off x="5486400" y="3429000"/>
              <a:ext cx="1904214" cy="2945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9770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447C9-4850-34AC-3DCE-477357E38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hookify </a:t>
            </a:r>
            <a:r>
              <a:rPr lang="ko-KR" altLang="en-US"/>
              <a:t>플러그인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C6D86B-652D-11ED-4361-4734809E6D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82" t="32116" r="30799" b="27285"/>
          <a:stretch>
            <a:fillRect/>
          </a:stretch>
        </p:blipFill>
        <p:spPr>
          <a:xfrm>
            <a:off x="1448584" y="1894788"/>
            <a:ext cx="4647416" cy="278421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8F9A154-152B-84B2-0626-F96952D3F9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61" t="70522" r="33814" b="12028"/>
          <a:stretch>
            <a:fillRect/>
          </a:stretch>
        </p:blipFill>
        <p:spPr>
          <a:xfrm>
            <a:off x="6178328" y="1920009"/>
            <a:ext cx="4977352" cy="1196725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7B29606E-826F-0949-CC8F-82758F60D127}"/>
              </a:ext>
            </a:extLst>
          </p:cNvPr>
          <p:cNvGrpSpPr/>
          <p:nvPr/>
        </p:nvGrpSpPr>
        <p:grpSpPr>
          <a:xfrm>
            <a:off x="6178327" y="3199430"/>
            <a:ext cx="6060371" cy="3578442"/>
            <a:chOff x="6178327" y="3199430"/>
            <a:chExt cx="6060371" cy="357844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A012977-F54A-B011-7E11-C456B46F0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6366" t="18420" r="2268" b="6666"/>
            <a:stretch>
              <a:fillRect/>
            </a:stretch>
          </p:blipFill>
          <p:spPr>
            <a:xfrm>
              <a:off x="6178327" y="3199430"/>
              <a:ext cx="6060371" cy="3578442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97CB325-49AF-59F2-3A9F-33B95C2B3821}"/>
                </a:ext>
              </a:extLst>
            </p:cNvPr>
            <p:cNvSpPr/>
            <p:nvPr/>
          </p:nvSpPr>
          <p:spPr>
            <a:xfrm>
              <a:off x="6919274" y="3429000"/>
              <a:ext cx="2432116" cy="20974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0BC9C33-FD46-243E-F70E-1E1DB565B200}"/>
              </a:ext>
            </a:extLst>
          </p:cNvPr>
          <p:cNvSpPr txBox="1"/>
          <p:nvPr/>
        </p:nvSpPr>
        <p:spPr>
          <a:xfrm>
            <a:off x="9521072" y="3429000"/>
            <a:ext cx="2450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solidFill>
                  <a:srgbClr val="FF0000"/>
                </a:solidFill>
              </a:rPr>
              <a:t>잘못에 대한 지적을 기억하는 </a:t>
            </a:r>
            <a:r>
              <a:rPr lang="en-US" altLang="ko-KR" sz="1400">
                <a:solidFill>
                  <a:srgbClr val="FF0000"/>
                </a:solidFill>
              </a:rPr>
              <a:t>md </a:t>
            </a:r>
            <a:r>
              <a:rPr lang="ko-KR" altLang="en-US" sz="1400">
                <a:solidFill>
                  <a:srgbClr val="FF0000"/>
                </a:solidFill>
              </a:rPr>
              <a:t>파일이 생성됨</a:t>
            </a:r>
          </a:p>
        </p:txBody>
      </p:sp>
    </p:spTree>
    <p:extLst>
      <p:ext uri="{BB962C8B-B14F-4D97-AF65-F5344CB8AC3E}">
        <p14:creationId xmlns:p14="http://schemas.microsoft.com/office/powerpoint/2010/main" val="2173302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B7E0E-D167-B3C6-6230-3CFBEDB67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hookify</a:t>
            </a:r>
            <a:r>
              <a:rPr lang="ko-KR" altLang="en-US"/>
              <a:t> 명령어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67A1838-F804-64EC-E026-B93A959E61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00" t="19931" r="40464" b="21513"/>
          <a:stretch>
            <a:fillRect/>
          </a:stretch>
        </p:blipFill>
        <p:spPr>
          <a:xfrm>
            <a:off x="1097280" y="1970202"/>
            <a:ext cx="5125041" cy="40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192315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35</TotalTime>
  <Words>307</Words>
  <Application>Microsoft Office PowerPoint</Application>
  <PresentationFormat>와이드스크린</PresentationFormat>
  <Paragraphs>31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Calibri</vt:lpstr>
      <vt:lpstr>Calibri Light</vt:lpstr>
      <vt:lpstr>Wingdings</vt:lpstr>
      <vt:lpstr>추억</vt:lpstr>
      <vt:lpstr>하네스 엔지니어링 도구 추천</vt:lpstr>
      <vt:lpstr>토큰 절약 CLAUDE 공식 플러그인</vt:lpstr>
      <vt:lpstr>플러그인 설치</vt:lpstr>
      <vt:lpstr>Session-report 플러그인</vt:lpstr>
      <vt:lpstr>claude-md-management 플러그인</vt:lpstr>
      <vt:lpstr>Serena 플러그인</vt:lpstr>
      <vt:lpstr>설치 방법 </vt:lpstr>
      <vt:lpstr>hookify 플러그인</vt:lpstr>
      <vt:lpstr>hookify 명령어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19</cp:revision>
  <dcterms:created xsi:type="dcterms:W3CDTF">2026-07-09T06:29:53Z</dcterms:created>
  <dcterms:modified xsi:type="dcterms:W3CDTF">2026-07-09T07:05:47Z</dcterms:modified>
</cp:coreProperties>
</file>