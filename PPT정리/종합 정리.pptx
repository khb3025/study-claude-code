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64" r:id="rId4"/>
    <p:sldId id="265" r:id="rId5"/>
    <p:sldId id="266" r:id="rId6"/>
    <p:sldId id="283" r:id="rId7"/>
    <p:sldId id="284" r:id="rId8"/>
    <p:sldId id="260" r:id="rId9"/>
    <p:sldId id="285" r:id="rId10"/>
    <p:sldId id="263" r:id="rId11"/>
    <p:sldId id="28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1" r:id="rId22"/>
    <p:sldId id="262" r:id="rId23"/>
    <p:sldId id="282" r:id="rId24"/>
    <p:sldId id="281" r:id="rId25"/>
    <p:sldId id="277" r:id="rId26"/>
    <p:sldId id="278" r:id="rId27"/>
    <p:sldId id="280" r:id="rId28"/>
    <p:sldId id="25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47AEE8-40E6-4EB4-B4B9-96532DCAE16E}">
          <p14:sldIdLst>
            <p14:sldId id="256"/>
          </p14:sldIdLst>
        </p14:section>
        <p14:section name="VS Code 개행 설정" id="{61024826-ADE0-475D-A041-90985C48707A}">
          <p14:sldIdLst>
            <p14:sldId id="257"/>
          </p14:sldIdLst>
        </p14:section>
        <p14:section name="환경 설정 파일 특징" id="{88897A01-12CE-4320-9DB7-BBA3DDE6DEB0}">
          <p14:sldIdLst>
            <p14:sldId id="264"/>
            <p14:sldId id="265"/>
            <p14:sldId id="266"/>
            <p14:sldId id="283"/>
            <p14:sldId id="284"/>
            <p14:sldId id="260"/>
            <p14:sldId id="285"/>
            <p14:sldId id="263"/>
            <p14:sldId id="28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aude Cli 유용한 명령 및 단축키 정리" id="{D65BCBC2-78ED-4762-B6EE-25ACB6D9BDD7}">
          <p14:sldIdLst>
            <p14:sldId id="261"/>
          </p14:sldIdLst>
        </p14:section>
        <p14:section name="작업 단위 개발 도구 설치" id="{438CAA3D-F90A-47A6-B194-3F07759C711C}">
          <p14:sldIdLst>
            <p14:sldId id="262"/>
            <p14:sldId id="282"/>
            <p14:sldId id="281"/>
            <p14:sldId id="277"/>
            <p14:sldId id="278"/>
            <p14:sldId id="280"/>
          </p14:sldIdLst>
        </p14:section>
        <p14:section name="Harness AI기능 개발 Flow" id="{11DD271B-3BCF-4B54-B8C5-1419901615B3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0C625-AE4C-4410-99AC-9C19F89199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C1371-C4B5-4B84-8404-0E3375CBD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12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E23F6-F95D-4023-85E8-33B47AEAB4A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444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E23F6-F95D-4023-85E8-33B47AEAB4A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91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6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35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13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84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2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02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85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24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80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3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016B570-9DF4-437B-BC1B-79C990120C1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5192D7-D67B-4962-AB4D-9A51F6FF29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jo4m06/mcp-shrimp-task-manager.git" TargetMode="External"/><Relationship Id="rId2" Type="http://schemas.openxmlformats.org/officeDocument/2006/relationships/hyperlink" Target="https://github.com/cjo4m06/mcp-shrimp-task-manager/tree/main#installation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A6DF8-8DDC-7AC1-A9D6-4C2ADF380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종합 정리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CD54CB-D14B-C0D8-39D5-E5227FBA3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복기해보려니깐 기억이 안나서 만나는 중요 내용정리</a:t>
            </a:r>
            <a:endParaRPr lang="en-US" altLang="ko-KR" sz="1800"/>
          </a:p>
          <a:p>
            <a:r>
              <a:rPr lang="en-US" altLang="ko-KR" sz="1800"/>
              <a:t>(AI</a:t>
            </a:r>
            <a:r>
              <a:rPr lang="ko-KR" altLang="en-US" sz="1800"/>
              <a:t>를 학습하며 중요하다고 생각하는 기능 </a:t>
            </a:r>
            <a:r>
              <a:rPr lang="en-US" altLang="ko-KR" sz="1800"/>
              <a:t>- </a:t>
            </a:r>
            <a:r>
              <a:rPr lang="ko-KR" altLang="en-US" sz="1800"/>
              <a:t>하네스 엔지니어링을 위한 설정</a:t>
            </a:r>
            <a:r>
              <a:rPr lang="en-US" altLang="ko-KR" sz="1800"/>
              <a:t>)</a:t>
            </a:r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0286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F3FE0-1533-CA9A-AC45-D92B6FF9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VSCode</a:t>
            </a:r>
            <a:r>
              <a:rPr lang="ko-KR" altLang="en-US" sz="3200"/>
              <a:t>에서는 </a:t>
            </a:r>
            <a:r>
              <a:rPr lang="en-US" altLang="ko-KR" sz="3200"/>
              <a:t>shift+enter</a:t>
            </a:r>
            <a:r>
              <a:rPr lang="ko-KR" altLang="en-US" sz="3200"/>
              <a:t>가 개행으로 안먹힌다</a:t>
            </a:r>
            <a:r>
              <a:rPr lang="en-US" altLang="ko-KR" sz="3200"/>
              <a:t>.</a:t>
            </a:r>
            <a:endParaRPr lang="ko-KR" altLang="en-US" sz="32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CFD0F0-0F67-05D2-5ADA-253BF891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클로드 접속 </a:t>
            </a:r>
            <a:r>
              <a:rPr lang="en-US" altLang="ko-KR"/>
              <a:t>: </a:t>
            </a:r>
          </a:p>
          <a:p>
            <a:r>
              <a:rPr lang="en-US" altLang="ko-KR"/>
              <a:t>&gt; claude</a:t>
            </a:r>
          </a:p>
          <a:p>
            <a:r>
              <a:rPr lang="en-US" altLang="ko-KR"/>
              <a:t>/terminal-setup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2BF941-5474-FE6E-4000-56D58028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95334"/>
            <a:ext cx="160042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7D5BE-DFC6-1093-2DFF-5495F901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settings.json / settings.local.json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545129-080A-02CE-7496-764FCCDE3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93" y="1868715"/>
            <a:ext cx="11158013" cy="34543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B586363-9667-26B4-E1DD-C65328643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93" y="5608830"/>
            <a:ext cx="1448002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2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B18EE-5ADE-B41E-A54D-7D2BD761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A9DBC5-CFC4-94ED-C6E4-EAA579E9D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4372"/>
            <a:ext cx="8583617" cy="16443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486CEB2-8994-8595-A1E2-8CE935F9B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15755"/>
            <a:ext cx="6250577" cy="22612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5BE0D4-9BEF-3636-59D7-C0739F150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970" y="4593918"/>
            <a:ext cx="7675677" cy="4758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802787-C5A4-5F3C-1FAC-62784C325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970" y="5252615"/>
            <a:ext cx="5630061" cy="1152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B61E1C-A32E-42BE-5173-836090E2B180}"/>
              </a:ext>
            </a:extLst>
          </p:cNvPr>
          <p:cNvSpPr txBox="1"/>
          <p:nvPr/>
        </p:nvSpPr>
        <p:spPr>
          <a:xfrm>
            <a:off x="7511143" y="3820886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모듈별 규칙 지정시에는 </a:t>
            </a:r>
            <a:r>
              <a:rPr lang="en-US" altLang="ko-KR" sz="1400"/>
              <a:t>frontmatter</a:t>
            </a:r>
            <a:r>
              <a:rPr lang="ko-KR" altLang="en-US" sz="1400"/>
              <a:t>에 범위 지정</a:t>
            </a:r>
            <a:br>
              <a:rPr lang="en-US" altLang="ko-KR" sz="1400"/>
            </a:br>
            <a:r>
              <a:rPr lang="ko-KR" altLang="en-US" sz="1400"/>
              <a:t>해당 모듈의 파일을 다룰때 </a:t>
            </a:r>
            <a:r>
              <a:rPr lang="en-US" altLang="ko-KR" sz="1400"/>
              <a:t>Include</a:t>
            </a:r>
            <a:endParaRPr lang="ko-KR" altLang="en-US" sz="1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4A830D-CA63-DBDA-3887-6BE3748BAF8B}"/>
              </a:ext>
            </a:extLst>
          </p:cNvPr>
          <p:cNvSpPr/>
          <p:nvPr/>
        </p:nvSpPr>
        <p:spPr>
          <a:xfrm>
            <a:off x="2329543" y="3058886"/>
            <a:ext cx="1959427" cy="2285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132F4-A847-D2A5-01C5-E7945A96EA57}"/>
              </a:ext>
            </a:extLst>
          </p:cNvPr>
          <p:cNvSpPr txBox="1"/>
          <p:nvPr/>
        </p:nvSpPr>
        <p:spPr>
          <a:xfrm>
            <a:off x="4376056" y="2971410"/>
            <a:ext cx="371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참조형 규칙 </a:t>
            </a:r>
            <a:r>
              <a:rPr lang="en-US" altLang="ko-KR"/>
              <a:t>Include</a:t>
            </a:r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EC2DA2E-6116-BCA8-7AAA-9252B68DC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9031" y="1945951"/>
            <a:ext cx="1124107" cy="724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ECDD39-9E46-31AD-B33C-A24EA88A621F}"/>
              </a:ext>
            </a:extLst>
          </p:cNvPr>
          <p:cNvSpPr txBox="1"/>
          <p:nvPr/>
        </p:nvSpPr>
        <p:spPr>
          <a:xfrm>
            <a:off x="4746171" y="478971"/>
            <a:ext cx="69124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(</a:t>
            </a:r>
            <a:r>
              <a:rPr lang="ko-KR" altLang="en-US" sz="1400"/>
              <a:t>프로젝트 루트 또는</a:t>
            </a:r>
            <a:r>
              <a:rPr lang="en-US" altLang="ko-KR" sz="1400"/>
              <a:t> .claude </a:t>
            </a:r>
            <a:r>
              <a:rPr lang="ko-KR" altLang="en-US" sz="1400"/>
              <a:t>폴더 내  존재하는 </a:t>
            </a:r>
            <a:r>
              <a:rPr lang="en-US" altLang="ko-KR" sz="1400"/>
              <a:t>CLAUDE.md </a:t>
            </a:r>
            <a:r>
              <a:rPr lang="ko-KR" altLang="en-US" sz="1400"/>
              <a:t>파일의 영향력은 같음</a:t>
            </a:r>
            <a:r>
              <a:rPr lang="en-US" altLang="ko-KR" sz="1400"/>
              <a:t>)</a:t>
            </a:r>
            <a:br>
              <a:rPr lang="en-US" altLang="ko-KR" sz="1400"/>
            </a:br>
            <a:r>
              <a:rPr lang="ko-KR" altLang="en-US" sz="1400"/>
              <a:t>그러나 둘 중 하나에서만 사용하는것을 권장</a:t>
            </a:r>
            <a:r>
              <a:rPr lang="en-US" altLang="ko-KR" sz="1400"/>
              <a:t>.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충돌 발생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주관적인 견해는 </a:t>
            </a:r>
            <a:r>
              <a:rPr lang="en-US" altLang="ko-KR" sz="1400">
                <a:sym typeface="Wingdings" panose="05000000000000000000" pitchFamily="2" charset="2"/>
              </a:rPr>
              <a:t>.claude </a:t>
            </a:r>
            <a:r>
              <a:rPr lang="ko-KR" altLang="en-US" sz="1400">
                <a:sym typeface="Wingdings" panose="05000000000000000000" pitchFamily="2" charset="2"/>
              </a:rPr>
              <a:t>내 존재하는 것이 </a:t>
            </a:r>
            <a:r>
              <a:rPr lang="en-US" altLang="ko-KR" sz="1400">
                <a:sym typeface="Wingdings" panose="05000000000000000000" pitchFamily="2" charset="2"/>
              </a:rPr>
              <a:t>.claude </a:t>
            </a:r>
            <a:r>
              <a:rPr lang="ko-KR" altLang="en-US" sz="1400">
                <a:sym typeface="Wingdings" panose="05000000000000000000" pitchFamily="2" charset="2"/>
              </a:rPr>
              <a:t>설정파일들과 함께 볼 수 있어 좋음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79858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A743-A557-8B5D-7D2B-F4618C43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MCP.json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CC4994-BBA5-F115-ED14-884A93B8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29" y="1908318"/>
            <a:ext cx="1648055" cy="11907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E83A5C-EDB9-5048-83B9-33CFE073C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277" y="1908318"/>
            <a:ext cx="3743501" cy="3469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3256BD-CE3A-FD28-3AF1-996DA795AC71}"/>
              </a:ext>
            </a:extLst>
          </p:cNvPr>
          <p:cNvSpPr txBox="1"/>
          <p:nvPr/>
        </p:nvSpPr>
        <p:spPr>
          <a:xfrm>
            <a:off x="4065027" y="319260"/>
            <a:ext cx="73432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claude</a:t>
            </a:r>
            <a:r>
              <a:rPr lang="ko-KR" altLang="en-US" sz="1400"/>
              <a:t>가 사용할수 있는 도구</a:t>
            </a:r>
            <a:r>
              <a:rPr lang="en-US" altLang="ko-KR" sz="1400"/>
              <a:t>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1400">
                <a:sym typeface="Wingdings" panose="05000000000000000000" pitchFamily="2" charset="2"/>
              </a:rPr>
              <a:t>mcp </a:t>
            </a:r>
            <a:r>
              <a:rPr lang="ko-KR" altLang="en-US" sz="1400">
                <a:sym typeface="Wingdings" panose="05000000000000000000" pitchFamily="2" charset="2"/>
              </a:rPr>
              <a:t>설치법은 서칭이나 </a:t>
            </a:r>
            <a:r>
              <a:rPr lang="en-US" altLang="ko-KR" sz="1400">
                <a:sym typeface="Wingdings" panose="05000000000000000000" pitchFamily="2" charset="2"/>
              </a:rPr>
              <a:t>claude</a:t>
            </a:r>
            <a:r>
              <a:rPr lang="ko-KR" altLang="en-US" sz="1400">
                <a:sym typeface="Wingdings" panose="05000000000000000000" pitchFamily="2" charset="2"/>
              </a:rPr>
              <a:t>에게 알아서 셋팅해달라고 하면 잘해줌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plugin </a:t>
            </a:r>
            <a:r>
              <a:rPr lang="ko-KR" altLang="en-US" sz="1400">
                <a:sym typeface="Wingdings" panose="05000000000000000000" pitchFamily="2" charset="2"/>
              </a:rPr>
              <a:t>과의 차이점 </a:t>
            </a:r>
            <a:r>
              <a:rPr lang="en-US" altLang="ko-KR" sz="1400">
                <a:sym typeface="Wingdings" panose="05000000000000000000" pitchFamily="2" charset="2"/>
              </a:rPr>
              <a:t>plugin</a:t>
            </a:r>
            <a:r>
              <a:rPr lang="ko-KR" altLang="en-US" sz="1400">
                <a:sym typeface="Wingdings" panose="05000000000000000000" pitchFamily="2" charset="2"/>
              </a:rPr>
              <a:t>은 </a:t>
            </a:r>
            <a:r>
              <a:rPr lang="en-US" altLang="ko-KR" sz="1400">
                <a:sym typeface="Wingdings" panose="05000000000000000000" pitchFamily="2" charset="2"/>
              </a:rPr>
              <a:t>mcp</a:t>
            </a:r>
            <a:r>
              <a:rPr lang="ko-KR" altLang="en-US" sz="1400">
                <a:sym typeface="Wingdings" panose="05000000000000000000" pitchFamily="2" charset="2"/>
              </a:rPr>
              <a:t>의 묶음 패키지 형 설치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[</a:t>
            </a:r>
            <a:r>
              <a:rPr lang="ko-KR" altLang="en-US" sz="1400">
                <a:sym typeface="Wingdings" panose="05000000000000000000" pitchFamily="2" charset="2"/>
              </a:rPr>
              <a:t>무거울 수 있으나</a:t>
            </a:r>
            <a:r>
              <a:rPr lang="en-US" altLang="ko-KR" sz="1400">
                <a:sym typeface="Wingdings" panose="05000000000000000000" pitchFamily="2" charset="2"/>
              </a:rPr>
              <a:t>. / </a:t>
            </a:r>
            <a:r>
              <a:rPr lang="ko-KR" altLang="en-US" sz="1400">
                <a:sym typeface="Wingdings" panose="05000000000000000000" pitchFamily="2" charset="2"/>
              </a:rPr>
              <a:t>다양한기능 사용가능</a:t>
            </a:r>
            <a:r>
              <a:rPr lang="en-US" altLang="ko-KR" sz="1400">
                <a:sym typeface="Wingdings" panose="05000000000000000000" pitchFamily="2" charset="2"/>
              </a:rPr>
              <a:t>]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가벼운 사용은 </a:t>
            </a:r>
            <a:r>
              <a:rPr lang="en-US" altLang="ko-KR" sz="1400">
                <a:sym typeface="Wingdings" panose="05000000000000000000" pitchFamily="2" charset="2"/>
              </a:rPr>
              <a:t>mcp / </a:t>
            </a:r>
            <a:r>
              <a:rPr lang="ko-KR" altLang="en-US" sz="1400">
                <a:sym typeface="Wingdings" panose="05000000000000000000" pitchFamily="2" charset="2"/>
              </a:rPr>
              <a:t>다양한 기능은 </a:t>
            </a:r>
            <a:r>
              <a:rPr lang="en-US" altLang="ko-KR" sz="1400">
                <a:sym typeface="Wingdings" panose="05000000000000000000" pitchFamily="2" charset="2"/>
              </a:rPr>
              <a:t>plugin)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E3383-9A54-960E-232B-890C63F406B5}"/>
              </a:ext>
            </a:extLst>
          </p:cNvPr>
          <p:cNvSpPr txBox="1"/>
          <p:nvPr/>
        </p:nvSpPr>
        <p:spPr>
          <a:xfrm>
            <a:off x="5936778" y="1875213"/>
            <a:ext cx="59721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context7 - </a:t>
            </a:r>
            <a:r>
              <a:rPr lang="ko-KR" altLang="en-US" sz="1200"/>
              <a:t>최신 기술 스택으로 코드 작성</a:t>
            </a:r>
            <a:endParaRPr lang="en-US" altLang="ko-KR" sz="1200"/>
          </a:p>
          <a:p>
            <a:r>
              <a:rPr lang="en-US" altLang="ko-KR" sz="1200"/>
              <a:t>filesystem - </a:t>
            </a:r>
            <a:r>
              <a:rPr lang="ko-KR" altLang="en-US" sz="1200"/>
              <a:t>외부 </a:t>
            </a:r>
            <a:r>
              <a:rPr lang="en-US" altLang="ko-KR" sz="1200"/>
              <a:t>mcp client</a:t>
            </a:r>
            <a:r>
              <a:rPr lang="ko-KR" altLang="en-US" sz="1200"/>
              <a:t>가 파일에 대한 읽기</a:t>
            </a:r>
            <a:r>
              <a:rPr lang="en-US" altLang="ko-KR" sz="1200"/>
              <a:t>, </a:t>
            </a:r>
            <a:r>
              <a:rPr lang="ko-KR" altLang="en-US" sz="1200"/>
              <a:t>쓰기</a:t>
            </a:r>
            <a:r>
              <a:rPr lang="en-US" altLang="ko-KR" sz="1200"/>
              <a:t>, </a:t>
            </a:r>
            <a:r>
              <a:rPr lang="ko-KR" altLang="en-US" sz="1200"/>
              <a:t>탐색을 해야하는 경우</a:t>
            </a:r>
            <a:endParaRPr lang="en-US" altLang="ko-KR" sz="1200"/>
          </a:p>
          <a:p>
            <a:r>
              <a:rPr lang="en-US" altLang="ko-KR" sz="1200"/>
              <a:t>Github - Pull Request, Issue, Release </a:t>
            </a:r>
            <a:r>
              <a:rPr lang="ko-KR" altLang="en-US" sz="1200"/>
              <a:t>등 </a:t>
            </a:r>
            <a:r>
              <a:rPr lang="en-US" altLang="ko-KR" sz="1200"/>
              <a:t>Claude</a:t>
            </a:r>
            <a:r>
              <a:rPr lang="ko-KR" altLang="en-US" sz="1200"/>
              <a:t>가 관리할 수 있도록 기능 제공</a:t>
            </a:r>
            <a:endParaRPr lang="en-US" altLang="ko-KR" sz="1200"/>
          </a:p>
          <a:p>
            <a:r>
              <a:rPr lang="en-US" altLang="ko-KR" sz="1200"/>
              <a:t>Sequential-thinking - claude</a:t>
            </a:r>
            <a:r>
              <a:rPr lang="ko-KR" altLang="en-US" sz="1200"/>
              <a:t>가 깊게 생각한 사고를 사용하여 응답</a:t>
            </a:r>
            <a:endParaRPr lang="en-US" altLang="ko-KR" sz="1200"/>
          </a:p>
          <a:p>
            <a:r>
              <a:rPr lang="en-US" altLang="ko-KR" sz="1200"/>
              <a:t>Playwright - claude</a:t>
            </a:r>
            <a:r>
              <a:rPr lang="ko-KR" altLang="en-US" sz="1200"/>
              <a:t>가 브라우저 제어</a:t>
            </a:r>
            <a:r>
              <a:rPr lang="en-US" altLang="ko-KR" sz="1200"/>
              <a:t>. </a:t>
            </a:r>
            <a:r>
              <a:rPr lang="ko-KR" altLang="en-US" sz="1200"/>
              <a:t>테스트 시나리오 실행</a:t>
            </a:r>
            <a:endParaRPr lang="en-US" altLang="ko-KR" sz="1200"/>
          </a:p>
          <a:p>
            <a:r>
              <a:rPr lang="en-US" altLang="ko-KR" sz="1200"/>
              <a:t>Mysql - claude</a:t>
            </a:r>
            <a:r>
              <a:rPr lang="ko-KR" altLang="en-US" sz="1200"/>
              <a:t>가 </a:t>
            </a:r>
            <a:r>
              <a:rPr lang="en-US" altLang="ko-KR" sz="1200"/>
              <a:t>mysql DB</a:t>
            </a:r>
            <a:r>
              <a:rPr lang="ko-KR" altLang="en-US" sz="1200"/>
              <a:t>에 접속하기 위한 도구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389977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C24F7-6AD0-08BB-66E1-F3B9D571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A30F47-78D8-7E0B-2F5A-EE8098E5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28" t="10721" r="31185" b="9828"/>
          <a:stretch>
            <a:fillRect/>
          </a:stretch>
        </p:blipFill>
        <p:spPr>
          <a:xfrm>
            <a:off x="707011" y="1940951"/>
            <a:ext cx="3676126" cy="4336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A2C3E8-5DEE-CABF-0EDA-A20464B9A313}"/>
              </a:ext>
            </a:extLst>
          </p:cNvPr>
          <p:cNvSpPr txBox="1"/>
          <p:nvPr/>
        </p:nvSpPr>
        <p:spPr>
          <a:xfrm>
            <a:off x="4515439" y="1940951"/>
            <a:ext cx="72680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 = </a:t>
            </a:r>
            <a:r>
              <a:rPr lang="ko-KR" altLang="en-US"/>
              <a:t>토큰이 어디서 새는지 </a:t>
            </a:r>
            <a:endParaRPr lang="en-US" altLang="ko-KR"/>
          </a:p>
          <a:p>
            <a:r>
              <a:rPr lang="en-US" altLang="ko-KR"/>
              <a:t>2 = CLAUDE.md </a:t>
            </a:r>
            <a:r>
              <a:rPr lang="ko-KR" altLang="en-US"/>
              <a:t>파일을 관리하는 플러그인</a:t>
            </a:r>
            <a:endParaRPr lang="en-US" altLang="ko-KR"/>
          </a:p>
          <a:p>
            <a:r>
              <a:rPr lang="en-US" altLang="ko-KR"/>
              <a:t>3 = </a:t>
            </a:r>
            <a:r>
              <a:rPr lang="ko-KR" altLang="en-US"/>
              <a:t>코드를 검색할 때 토큰을 절약해주는 플러그인</a:t>
            </a:r>
            <a:endParaRPr lang="en-US" altLang="ko-KR"/>
          </a:p>
          <a:p>
            <a:r>
              <a:rPr lang="en-US" altLang="ko-KR"/>
              <a:t>4 = </a:t>
            </a:r>
            <a:r>
              <a:rPr lang="ko-KR" altLang="en-US"/>
              <a:t>같은 실수를 반복하지 않도록 해주는 플러그인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  (</a:t>
            </a:r>
            <a:r>
              <a:rPr lang="ko-KR" altLang="en-US"/>
              <a:t>사고 치기 전에 막아버리는 도구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44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42DAB-3AC6-D523-5D9F-F6FDE031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Session-report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20C8B2-B000-8C46-538E-E6FAE5D8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54" t="31753" r="27938" b="29209"/>
          <a:stretch>
            <a:fillRect/>
          </a:stretch>
        </p:blipFill>
        <p:spPr>
          <a:xfrm>
            <a:off x="452486" y="1847654"/>
            <a:ext cx="5316717" cy="2677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7FADD-7FC3-1E57-A232-CC547E19E5B4}"/>
              </a:ext>
            </a:extLst>
          </p:cNvPr>
          <p:cNvSpPr txBox="1"/>
          <p:nvPr/>
        </p:nvSpPr>
        <p:spPr>
          <a:xfrm>
            <a:off x="5948313" y="1875934"/>
            <a:ext cx="58728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</a:t>
            </a:r>
            <a:r>
              <a:rPr lang="ko-KR" altLang="en-US" sz="1400"/>
              <a:t>어디서 토큰이 많이 사용되었는지 파악할 때</a:t>
            </a:r>
            <a:endParaRPr lang="en-US" altLang="ko-KR" sz="1400"/>
          </a:p>
          <a:p>
            <a:r>
              <a:rPr lang="en-US" altLang="ko-KR" sz="1400"/>
              <a:t>2. </a:t>
            </a:r>
            <a:r>
              <a:rPr lang="ko-KR" altLang="en-US" sz="1400"/>
              <a:t>캐시가 잘 작동하는지 확인할 때</a:t>
            </a:r>
            <a:br>
              <a:rPr lang="en-US" altLang="ko-KR" sz="1400"/>
            </a:br>
            <a:r>
              <a:rPr lang="en-US" altLang="ko-KR" sz="1400"/>
              <a:t>    (</a:t>
            </a:r>
            <a:r>
              <a:rPr lang="ko-KR" altLang="en-US" sz="1400"/>
              <a:t>반복되는 부분을 한 번 처리해놓고</a:t>
            </a:r>
            <a:r>
              <a:rPr lang="en-US" altLang="ko-KR" sz="1400"/>
              <a:t> </a:t>
            </a:r>
            <a:r>
              <a:rPr lang="ko-KR" altLang="en-US" sz="1400"/>
              <a:t>캐시에 저장해 둠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두 번째 요청에서는 그 비용을 </a:t>
            </a:r>
            <a:r>
              <a:rPr lang="en-US" altLang="ko-KR" sz="1400">
                <a:sym typeface="Wingdings" panose="05000000000000000000" pitchFamily="2" charset="2"/>
              </a:rPr>
              <a:t>1/10</a:t>
            </a:r>
            <a:r>
              <a:rPr lang="ko-KR" altLang="en-US" sz="1400">
                <a:sym typeface="Wingdings" panose="05000000000000000000" pitchFamily="2" charset="2"/>
              </a:rPr>
              <a:t>으로 할인해줌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3. </a:t>
            </a:r>
            <a:r>
              <a:rPr lang="ko-KR" altLang="en-US" sz="1400">
                <a:sym typeface="Wingdings" panose="05000000000000000000" pitchFamily="2" charset="2"/>
              </a:rPr>
              <a:t>작업 전후를 비교하고 싶을때 사용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※ </a:t>
            </a:r>
            <a:r>
              <a:rPr lang="ko-KR" altLang="en-US" sz="1400">
                <a:sym typeface="Wingdings" panose="05000000000000000000" pitchFamily="2" charset="2"/>
              </a:rPr>
              <a:t>하기 사진은 사용법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좌측 </a:t>
            </a:r>
            <a:r>
              <a:rPr lang="en-US" altLang="ko-KR" sz="1400">
                <a:sym typeface="Wingdings" panose="05000000000000000000" pitchFamily="2" charset="2"/>
              </a:rPr>
              <a:t>: </a:t>
            </a:r>
            <a:r>
              <a:rPr lang="ko-KR" altLang="en-US" sz="1400">
                <a:sym typeface="Wingdings" panose="05000000000000000000" pitchFamily="2" charset="2"/>
              </a:rPr>
              <a:t>플러그인 설치 후 프롬프트 명령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우측 </a:t>
            </a:r>
            <a:r>
              <a:rPr lang="en-US" altLang="ko-KR" sz="1400">
                <a:sym typeface="Wingdings" panose="05000000000000000000" pitchFamily="2" charset="2"/>
              </a:rPr>
              <a:t>: </a:t>
            </a:r>
            <a:r>
              <a:rPr lang="ko-KR" altLang="en-US" sz="1400">
                <a:sym typeface="Wingdings" panose="05000000000000000000" pitchFamily="2" charset="2"/>
              </a:rPr>
              <a:t>플러그인 명령 </a:t>
            </a:r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옵션에 기간을 정하지 않으면 기본 </a:t>
            </a:r>
            <a:r>
              <a:rPr lang="en-US" altLang="ko-KR" sz="1400">
                <a:sym typeface="Wingdings" panose="05000000000000000000" pitchFamily="2" charset="2"/>
              </a:rPr>
              <a:t>7</a:t>
            </a:r>
            <a:r>
              <a:rPr lang="ko-KR" altLang="en-US" sz="1400">
                <a:sym typeface="Wingdings" panose="05000000000000000000" pitchFamily="2" charset="2"/>
              </a:rPr>
              <a:t>일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[d = </a:t>
            </a:r>
            <a:r>
              <a:rPr lang="ko-KR" altLang="en-US" sz="1400">
                <a:sym typeface="Wingdings" panose="05000000000000000000" pitchFamily="2" charset="2"/>
              </a:rPr>
              <a:t>날짜 </a:t>
            </a:r>
            <a:r>
              <a:rPr lang="en-US" altLang="ko-KR" sz="1400">
                <a:sym typeface="Wingdings" panose="05000000000000000000" pitchFamily="2" charset="2"/>
              </a:rPr>
              <a:t>/ h=</a:t>
            </a:r>
            <a:r>
              <a:rPr lang="ko-KR" altLang="en-US" sz="1400">
                <a:sym typeface="Wingdings" panose="05000000000000000000" pitchFamily="2" charset="2"/>
              </a:rPr>
              <a:t>시간</a:t>
            </a:r>
            <a:r>
              <a:rPr lang="en-US" altLang="ko-KR" sz="1400">
                <a:sym typeface="Wingdings" panose="05000000000000000000" pitchFamily="2" charset="2"/>
              </a:rPr>
              <a:t>]</a:t>
            </a:r>
            <a:br>
              <a:rPr lang="en-US" altLang="ko-KR" sz="1400">
                <a:sym typeface="Wingdings" panose="05000000000000000000" pitchFamily="2" charset="2"/>
              </a:rPr>
            </a:b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자세한 사용 방법은 플러그인 </a:t>
            </a:r>
            <a:r>
              <a:rPr lang="en-US" altLang="ko-KR" sz="1400">
                <a:sym typeface="Wingdings" panose="05000000000000000000" pitchFamily="2" charset="2"/>
              </a:rPr>
              <a:t>git </a:t>
            </a:r>
            <a:r>
              <a:rPr lang="ko-KR" altLang="en-US" sz="1400">
                <a:sym typeface="Wingdings" panose="05000000000000000000" pitchFamily="2" charset="2"/>
              </a:rPr>
              <a:t>페이지 확인</a:t>
            </a: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ED7BFE-B4E8-B589-0085-0D29EA1D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129" t="43711" r="34278" b="39794"/>
          <a:stretch>
            <a:fillRect/>
          </a:stretch>
        </p:blipFill>
        <p:spPr>
          <a:xfrm>
            <a:off x="452486" y="4967926"/>
            <a:ext cx="4949074" cy="11312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4346DC-BABA-41C4-B3FA-E6005FBEB4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52" t="44123" r="33428" b="38282"/>
          <a:stretch>
            <a:fillRect/>
          </a:stretch>
        </p:blipFill>
        <p:spPr>
          <a:xfrm>
            <a:off x="6400800" y="4967926"/>
            <a:ext cx="4581427" cy="10920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C0CCE6-2156-5337-77F1-EE09023AAF39}"/>
              </a:ext>
            </a:extLst>
          </p:cNvPr>
          <p:cNvSpPr txBox="1"/>
          <p:nvPr/>
        </p:nvSpPr>
        <p:spPr>
          <a:xfrm>
            <a:off x="5740922" y="5231875"/>
            <a:ext cx="631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=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42414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02C0D-8410-52F7-A457-DA50904A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claude-md-management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9B7F4B-80E5-30A0-090D-9936E61306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26" t="25333" r="10463" b="26736"/>
          <a:stretch>
            <a:fillRect/>
          </a:stretch>
        </p:blipFill>
        <p:spPr>
          <a:xfrm>
            <a:off x="1097280" y="1871221"/>
            <a:ext cx="6815581" cy="2334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EFA50D-E357-F310-A3DE-1DCA2AAB25EC}"/>
              </a:ext>
            </a:extLst>
          </p:cNvPr>
          <p:cNvSpPr txBox="1"/>
          <p:nvPr/>
        </p:nvSpPr>
        <p:spPr>
          <a:xfrm>
            <a:off x="1097280" y="4326903"/>
            <a:ext cx="10393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/revise-claude-md</a:t>
            </a:r>
            <a:r>
              <a:rPr lang="ko-KR" altLang="en-US" sz="1200"/>
              <a:t> 명령 </a:t>
            </a:r>
            <a:r>
              <a:rPr lang="en-US" altLang="ko-KR" sz="1200"/>
              <a:t>: </a:t>
            </a:r>
            <a:r>
              <a:rPr lang="ko-KR" altLang="en-US" sz="1200"/>
              <a:t>세션이 끝날때</a:t>
            </a:r>
            <a:r>
              <a:rPr lang="en-US" altLang="ko-KR" sz="1200"/>
              <a:t>, </a:t>
            </a:r>
            <a:r>
              <a:rPr lang="ko-KR" altLang="en-US" sz="1200"/>
              <a:t>대화를 복기하여 </a:t>
            </a:r>
            <a:r>
              <a:rPr lang="ko-KR" altLang="en-US" sz="1200" b="1">
                <a:solidFill>
                  <a:srgbClr val="FF0000"/>
                </a:solidFill>
              </a:rPr>
              <a:t>새롭게 알게된 명령어</a:t>
            </a:r>
            <a:r>
              <a:rPr lang="en-US" altLang="ko-KR" sz="1200"/>
              <a:t>, </a:t>
            </a:r>
            <a:r>
              <a:rPr lang="ko-KR" altLang="en-US" sz="1200" b="1">
                <a:solidFill>
                  <a:srgbClr val="FF0000"/>
                </a:solidFill>
              </a:rPr>
              <a:t>작업패턴</a:t>
            </a:r>
            <a:r>
              <a:rPr lang="en-US" altLang="ko-KR" sz="1200"/>
              <a:t>, </a:t>
            </a:r>
            <a:r>
              <a:rPr lang="ko-KR" altLang="en-US" sz="1200" b="1">
                <a:solidFill>
                  <a:srgbClr val="FF0000"/>
                </a:solidFill>
              </a:rPr>
              <a:t>함정</a:t>
            </a:r>
            <a:br>
              <a:rPr lang="en-US" altLang="ko-KR" sz="1200" b="1">
                <a:solidFill>
                  <a:srgbClr val="FF0000"/>
                </a:solidFill>
              </a:rPr>
            </a:br>
            <a:r>
              <a:rPr lang="en-US" altLang="ko-KR" sz="1200" b="1">
                <a:solidFill>
                  <a:srgbClr val="FF0000"/>
                </a:solidFill>
              </a:rPr>
              <a:t>                                              </a:t>
            </a:r>
            <a:r>
              <a:rPr lang="en-US" altLang="ko-KR" sz="1200"/>
              <a:t>MD</a:t>
            </a:r>
            <a:r>
              <a:rPr lang="ko-KR" altLang="en-US" sz="1200"/>
              <a:t>에 추가할 </a:t>
            </a:r>
            <a:r>
              <a:rPr lang="ko-KR" altLang="en-US" sz="1200" b="1">
                <a:solidFill>
                  <a:srgbClr val="FF0000"/>
                </a:solidFill>
              </a:rPr>
              <a:t>후보</a:t>
            </a:r>
            <a:r>
              <a:rPr lang="ko-KR" altLang="en-US" sz="1200"/>
              <a:t>로 보여줌</a:t>
            </a:r>
            <a:endParaRPr lang="en-US" altLang="ko-KR" sz="1200"/>
          </a:p>
          <a:p>
            <a:r>
              <a:rPr lang="en-US" altLang="ko-KR" sz="1200"/>
              <a:t>/claude-md-improver </a:t>
            </a:r>
            <a:r>
              <a:rPr lang="ko-KR" altLang="en-US" sz="1200"/>
              <a:t>명령 </a:t>
            </a:r>
            <a:r>
              <a:rPr lang="en-US" altLang="ko-KR" sz="1200"/>
              <a:t>: </a:t>
            </a:r>
            <a:r>
              <a:rPr lang="ko-KR" altLang="en-US" sz="1200"/>
              <a:t>주기적으로 </a:t>
            </a:r>
            <a:r>
              <a:rPr lang="en-US" altLang="ko-KR" sz="1200"/>
              <a:t>CLAUDE.md </a:t>
            </a:r>
            <a:r>
              <a:rPr lang="ko-KR" altLang="en-US" sz="1200"/>
              <a:t>파일을 검사할 때 사용하는 도구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                                       </a:t>
            </a:r>
            <a:r>
              <a:rPr lang="ko-KR" altLang="en-US" sz="1200"/>
              <a:t>프로젝트에 있는 모든 </a:t>
            </a:r>
            <a:r>
              <a:rPr lang="en-US" altLang="ko-KR" sz="1200"/>
              <a:t>CLAUDE.md</a:t>
            </a:r>
            <a:r>
              <a:rPr lang="ko-KR" altLang="en-US" sz="1200"/>
              <a:t> 파일을 </a:t>
            </a:r>
            <a:r>
              <a:rPr lang="en-US" altLang="ko-KR" sz="1200"/>
              <a:t>6</a:t>
            </a:r>
            <a:r>
              <a:rPr lang="ko-KR" altLang="en-US" sz="1200"/>
              <a:t>개의 기준으로 평가</a:t>
            </a:r>
            <a:br>
              <a:rPr lang="en-US" altLang="ko-KR" sz="1200"/>
            </a:br>
            <a:r>
              <a:rPr lang="en-US" altLang="ko-KR" sz="1200"/>
              <a:t>                                                    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D14432-56C2-F806-AE19-2CAD204C48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72" t="23367" r="41546" b="23574"/>
          <a:stretch>
            <a:fillRect/>
          </a:stretch>
        </p:blipFill>
        <p:spPr>
          <a:xfrm>
            <a:off x="8163612" y="1858471"/>
            <a:ext cx="3082565" cy="24944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A2EC47-5595-50C1-9E9A-E8F61FAC4F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114" t="23918" r="20825" b="22749"/>
          <a:stretch>
            <a:fillRect/>
          </a:stretch>
        </p:blipFill>
        <p:spPr>
          <a:xfrm>
            <a:off x="7566322" y="4404707"/>
            <a:ext cx="4547122" cy="23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1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90912-0E7D-7F73-0EBC-251A8F85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Serena </a:t>
            </a:r>
            <a:r>
              <a:rPr lang="ko-KR" altLang="en-US"/>
              <a:t>플러그인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C4691D-EFE7-AE46-3ABF-6F825517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8" t="31615" r="11701" b="28934"/>
          <a:stretch>
            <a:fillRect/>
          </a:stretch>
        </p:blipFill>
        <p:spPr>
          <a:xfrm>
            <a:off x="1097280" y="1970201"/>
            <a:ext cx="6768445" cy="1958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F1F80-ACAB-797C-0FB0-A68F1B988066}"/>
              </a:ext>
            </a:extLst>
          </p:cNvPr>
          <p:cNvSpPr txBox="1"/>
          <p:nvPr/>
        </p:nvSpPr>
        <p:spPr>
          <a:xfrm>
            <a:off x="1097280" y="3928410"/>
            <a:ext cx="107804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IDE</a:t>
            </a:r>
            <a:r>
              <a:rPr lang="ko-KR" altLang="en-US" sz="1600" b="1">
                <a:solidFill>
                  <a:srgbClr val="FF0000"/>
                </a:solidFill>
              </a:rPr>
              <a:t> 명령어나 동작방식을 </a:t>
            </a:r>
            <a:r>
              <a:rPr lang="en-US" altLang="ko-KR" sz="1600" b="1">
                <a:solidFill>
                  <a:srgbClr val="FF0000"/>
                </a:solidFill>
              </a:rPr>
              <a:t>AI</a:t>
            </a:r>
            <a:r>
              <a:rPr lang="ko-KR" altLang="en-US" sz="1600" b="1">
                <a:solidFill>
                  <a:srgbClr val="FF0000"/>
                </a:solidFill>
              </a:rPr>
              <a:t>에게 인식시켜줌</a:t>
            </a:r>
            <a:r>
              <a:rPr lang="en-US" altLang="ko-KR" sz="1600" b="1">
                <a:solidFill>
                  <a:srgbClr val="FF0000"/>
                </a:solidFill>
              </a:rPr>
              <a:t>.</a:t>
            </a:r>
            <a:br>
              <a:rPr lang="en-US" altLang="ko-KR" sz="1600"/>
            </a:br>
            <a:r>
              <a:rPr lang="ko-KR" altLang="en-US" sz="1600"/>
              <a:t>대부분의 </a:t>
            </a:r>
            <a:r>
              <a:rPr lang="en-US" altLang="ko-KR" sz="1600"/>
              <a:t>IDE</a:t>
            </a:r>
            <a:r>
              <a:rPr lang="ko-KR" altLang="en-US" sz="1600"/>
              <a:t>에서 </a:t>
            </a:r>
            <a:r>
              <a:rPr lang="en-US" altLang="ko-KR" sz="1600"/>
              <a:t>ctrl + </a:t>
            </a:r>
            <a:r>
              <a:rPr lang="ko-KR" altLang="en-US" sz="1600"/>
              <a:t>마우스 좌측 클릭 시 해당하는 함수명 또는 클래스 명으로 이동하지만</a:t>
            </a:r>
            <a:br>
              <a:rPr lang="en-US" altLang="ko-KR" sz="1600"/>
            </a:br>
            <a:r>
              <a:rPr lang="en-US" altLang="ko-KR" sz="1600"/>
              <a:t>AI</a:t>
            </a:r>
            <a:r>
              <a:rPr lang="ko-KR" altLang="en-US" sz="1600"/>
              <a:t>는 이를 모름 패키지 내 모든 지시사항과 동일한 이름을 탐색 </a:t>
            </a:r>
            <a:r>
              <a:rPr lang="en-US" altLang="ko-KR" sz="1600">
                <a:sym typeface="Wingdings" panose="05000000000000000000" pitchFamily="2" charset="2"/>
              </a:rPr>
              <a:t> </a:t>
            </a:r>
            <a:r>
              <a:rPr lang="ko-KR" altLang="en-US" sz="1600">
                <a:sym typeface="Wingdings" panose="05000000000000000000" pitchFamily="2" charset="2"/>
              </a:rPr>
              <a:t>토큰 낭비</a:t>
            </a:r>
            <a:endParaRPr lang="en-US" altLang="ko-KR" sz="1600">
              <a:sym typeface="Wingdings" panose="05000000000000000000" pitchFamily="2" charset="2"/>
            </a:endParaRPr>
          </a:p>
          <a:p>
            <a:endParaRPr lang="en-US" altLang="ko-KR" sz="1600">
              <a:sym typeface="Wingdings" panose="05000000000000000000" pitchFamily="2" charset="2"/>
            </a:endParaRPr>
          </a:p>
          <a:p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11047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447C9-4850-34AC-3DCE-477357E3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hookify </a:t>
            </a:r>
            <a:r>
              <a:rPr lang="ko-KR" altLang="en-US"/>
              <a:t>플러그인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C6D86B-652D-11ED-4361-4734809E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2" t="32116" r="30799" b="27285"/>
          <a:stretch>
            <a:fillRect/>
          </a:stretch>
        </p:blipFill>
        <p:spPr>
          <a:xfrm>
            <a:off x="1448584" y="1894788"/>
            <a:ext cx="4647416" cy="27842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F9A154-152B-84B2-0626-F96952D3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61" t="70522" r="33814" b="12028"/>
          <a:stretch>
            <a:fillRect/>
          </a:stretch>
        </p:blipFill>
        <p:spPr>
          <a:xfrm>
            <a:off x="6178328" y="1920009"/>
            <a:ext cx="4977352" cy="1196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29606E-826F-0949-CC8F-82758F60D127}"/>
              </a:ext>
            </a:extLst>
          </p:cNvPr>
          <p:cNvGrpSpPr/>
          <p:nvPr/>
        </p:nvGrpSpPr>
        <p:grpSpPr>
          <a:xfrm>
            <a:off x="6178327" y="3199430"/>
            <a:ext cx="6060371" cy="3578442"/>
            <a:chOff x="6178327" y="3199430"/>
            <a:chExt cx="6060371" cy="357844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A012977-F54A-B011-7E11-C456B46F0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66" t="18420" r="2268" b="6666"/>
            <a:stretch>
              <a:fillRect/>
            </a:stretch>
          </p:blipFill>
          <p:spPr>
            <a:xfrm>
              <a:off x="6178327" y="3199430"/>
              <a:ext cx="6060371" cy="357844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7CB325-49AF-59F2-3A9F-33B95C2B3821}"/>
                </a:ext>
              </a:extLst>
            </p:cNvPr>
            <p:cNvSpPr/>
            <p:nvPr/>
          </p:nvSpPr>
          <p:spPr>
            <a:xfrm>
              <a:off x="6919274" y="3429000"/>
              <a:ext cx="2432116" cy="2097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0BC9C33-FD46-243E-F70E-1E1DB565B200}"/>
              </a:ext>
            </a:extLst>
          </p:cNvPr>
          <p:cNvSpPr txBox="1"/>
          <p:nvPr/>
        </p:nvSpPr>
        <p:spPr>
          <a:xfrm>
            <a:off x="9521072" y="3429000"/>
            <a:ext cx="2450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잘못에 대한 지적을 기억하는 </a:t>
            </a:r>
            <a:r>
              <a:rPr lang="en-US" altLang="ko-KR" sz="1400">
                <a:solidFill>
                  <a:srgbClr val="FF0000"/>
                </a:solidFill>
              </a:rPr>
              <a:t>md </a:t>
            </a:r>
            <a:r>
              <a:rPr lang="ko-KR" altLang="en-US" sz="1400">
                <a:solidFill>
                  <a:srgbClr val="FF0000"/>
                </a:solidFill>
              </a:rPr>
              <a:t>파일이 생성됨</a:t>
            </a:r>
          </a:p>
        </p:txBody>
      </p:sp>
    </p:spTree>
    <p:extLst>
      <p:ext uri="{BB962C8B-B14F-4D97-AF65-F5344CB8AC3E}">
        <p14:creationId xmlns:p14="http://schemas.microsoft.com/office/powerpoint/2010/main" val="217330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B7E0E-D167-B3C6-6230-3CFBEDB6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hookify</a:t>
            </a:r>
            <a:r>
              <a:rPr lang="ko-KR" altLang="en-US"/>
              <a:t> 명령어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7A1838-F804-64EC-E026-B93A959E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0" t="19931" r="40464" b="21513"/>
          <a:stretch>
            <a:fillRect/>
          </a:stretch>
        </p:blipFill>
        <p:spPr>
          <a:xfrm>
            <a:off x="1097280" y="1970202"/>
            <a:ext cx="5125041" cy="40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92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580CB-CDCF-B53E-5961-88F41EDD1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서브에이전트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84FF15-405C-8C83-0B21-3FA69A44A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5" y="1849886"/>
            <a:ext cx="1857634" cy="143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0C2E7D-3014-284E-5ADA-ECCB04C15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11" y="1849886"/>
            <a:ext cx="6676451" cy="1191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A83998-60C0-AD57-C0AB-24F8CCDF236B}"/>
              </a:ext>
            </a:extLst>
          </p:cNvPr>
          <p:cNvSpPr txBox="1"/>
          <p:nvPr/>
        </p:nvSpPr>
        <p:spPr>
          <a:xfrm>
            <a:off x="2319687" y="3137836"/>
            <a:ext cx="678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더이상 지원되지 않는 커맨드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그러나 만들수 있음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A5EF3A-E927-853F-91B1-048682474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711" y="3586907"/>
            <a:ext cx="7497221" cy="466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98C3BA-6163-7625-F43C-0698C4029D98}"/>
              </a:ext>
            </a:extLst>
          </p:cNvPr>
          <p:cNvSpPr txBox="1"/>
          <p:nvPr/>
        </p:nvSpPr>
        <p:spPr>
          <a:xfrm>
            <a:off x="2300711" y="4053697"/>
            <a:ext cx="741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프롬프트로  역할을 부여한 에이전트 생성 명령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F2B4F8C-278D-B77B-914F-A71A2E7C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35" y="4562636"/>
            <a:ext cx="2286319" cy="11050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42B20E-BA4B-38C7-F8C3-01A9F023EF6F}"/>
              </a:ext>
            </a:extLst>
          </p:cNvPr>
          <p:cNvSpPr txBox="1"/>
          <p:nvPr/>
        </p:nvSpPr>
        <p:spPr>
          <a:xfrm>
            <a:off x="356135" y="5714964"/>
            <a:ext cx="801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에이전트 생성위치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A3D578-2D8F-F51C-0490-E2884A673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9452" y="4569548"/>
            <a:ext cx="4802927" cy="21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2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611F2-39F3-DC9D-BD40-17EBAC4F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Hook </a:t>
            </a:r>
            <a:r>
              <a:rPr lang="ko-KR" altLang="en-US"/>
              <a:t>클로드의 동작 제어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95693-3E01-4B4D-B11E-BA9AEADA9480}"/>
              </a:ext>
            </a:extLst>
          </p:cNvPr>
          <p:cNvSpPr txBox="1"/>
          <p:nvPr/>
        </p:nvSpPr>
        <p:spPr>
          <a:xfrm>
            <a:off x="1183907" y="1857676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클로드가 동작한 이후에 강제하고자 하는 작업이나 수행명령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Hook </a:t>
            </a:r>
            <a:r>
              <a:rPr lang="ko-KR" altLang="en-US"/>
              <a:t>등록 위치 </a:t>
            </a:r>
            <a:r>
              <a:rPr lang="en-US" altLang="ko-KR"/>
              <a:t>: settings.json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F86CE1-FC9A-B9DB-56C3-975BE9E7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07" y="2504007"/>
            <a:ext cx="8931060" cy="2304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144AE-DCF4-8423-EED9-F15ADE017194}"/>
              </a:ext>
            </a:extLst>
          </p:cNvPr>
          <p:cNvSpPr txBox="1"/>
          <p:nvPr/>
        </p:nvSpPr>
        <p:spPr>
          <a:xfrm>
            <a:off x="1289785" y="4899259"/>
            <a:ext cx="88251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/hooks </a:t>
            </a:r>
            <a:r>
              <a:rPr lang="ko-KR" altLang="en-US" sz="1400"/>
              <a:t>로 만드는 커맨드 명령어는 막힘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클로드에게 어떠한 동작을 꼭 이 작업 이후에 수행해달라고 </a:t>
            </a:r>
            <a:r>
              <a:rPr lang="en-US" altLang="ko-KR" sz="1400"/>
              <a:t>Hook</a:t>
            </a:r>
            <a:r>
              <a:rPr lang="ko-KR" altLang="en-US" sz="1400"/>
              <a:t>으로 등록 요청을 하면 가능</a:t>
            </a:r>
            <a:br>
              <a:rPr lang="en-US" altLang="ko-KR" sz="1400"/>
            </a:br>
            <a:r>
              <a:rPr lang="en-US" altLang="ko-KR" sz="1400"/>
              <a:t>(EX: </a:t>
            </a:r>
            <a:r>
              <a:rPr lang="ko-KR" altLang="en-US" sz="1400"/>
              <a:t>코드 리뷰 서브에이전트를 코드 작성 작업에 한해 작성이 완료되면 동작하도록 </a:t>
            </a:r>
            <a:r>
              <a:rPr lang="en-US" altLang="ko-KR" sz="1400"/>
              <a:t>Hook</a:t>
            </a:r>
            <a:r>
              <a:rPr lang="ko-KR" altLang="en-US" sz="1400"/>
              <a:t>에 등록해 줘</a:t>
            </a:r>
            <a:r>
              <a:rPr lang="en-US" altLang="ko-KR" sz="1400"/>
              <a:t>)</a:t>
            </a:r>
            <a:endParaRPr lang="ko-KR" altLang="en-US" sz="1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7094C0-EBA0-3F55-8B63-7F77EFA3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624" y="1817403"/>
            <a:ext cx="2010056" cy="119079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9CB8A2C-740F-0C05-9E3B-3DB44F780371}"/>
              </a:ext>
            </a:extLst>
          </p:cNvPr>
          <p:cNvSpPr/>
          <p:nvPr/>
        </p:nvSpPr>
        <p:spPr>
          <a:xfrm>
            <a:off x="9317255" y="2504007"/>
            <a:ext cx="1690838" cy="5041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9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1871B-5320-9D7A-AAE2-C3685EA2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Skill </a:t>
            </a:r>
            <a:r>
              <a:rPr lang="ko-KR" altLang="en-US"/>
              <a:t>작성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F9678-E905-9DE0-645B-308FC7261020}"/>
              </a:ext>
            </a:extLst>
          </p:cNvPr>
          <p:cNvSpPr txBox="1"/>
          <p:nvPr/>
        </p:nvSpPr>
        <p:spPr>
          <a:xfrm>
            <a:off x="314021" y="1902258"/>
            <a:ext cx="7713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전문가가 아니라면 목적을 달성하기 위한 자료를 리서치 요청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리서치 결과를 확인</a:t>
            </a:r>
            <a:r>
              <a:rPr lang="en-US" altLang="ko-KR" sz="1200"/>
              <a:t>(</a:t>
            </a:r>
            <a:r>
              <a:rPr lang="ko-KR" altLang="en-US" sz="1200"/>
              <a:t>검토하는데 시간을 많이 써야함</a:t>
            </a:r>
            <a:r>
              <a:rPr lang="en-US" altLang="ko-KR" sz="1200"/>
              <a:t>.) </a:t>
            </a:r>
            <a:r>
              <a:rPr lang="ko-KR" altLang="en-US" sz="1200"/>
              <a:t>합당하다면  스킬 생성요청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F1045C-16B6-5111-9B1D-CE57BE79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22" y="2444817"/>
            <a:ext cx="4710366" cy="10087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5F73BF-4CC3-CC93-713A-3B46B9466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22" y="3534509"/>
            <a:ext cx="4726982" cy="245240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F9F3231-B3DA-6D56-98C2-7C9FE8F33E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819"/>
          <a:stretch>
            <a:fillRect/>
          </a:stretch>
        </p:blipFill>
        <p:spPr>
          <a:xfrm>
            <a:off x="5257909" y="2444817"/>
            <a:ext cx="5539117" cy="187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78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A1853-0AFB-F623-5753-1B848377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Skill </a:t>
            </a:r>
            <a:r>
              <a:rPr lang="ko-KR" altLang="en-US"/>
              <a:t>작성 방법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09FA01-D5D7-1A45-7FF9-509F3F33C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819"/>
          <a:stretch>
            <a:fillRect/>
          </a:stretch>
        </p:blipFill>
        <p:spPr>
          <a:xfrm>
            <a:off x="-6566" y="1737361"/>
            <a:ext cx="5743223" cy="194911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F287222-A0B8-E78F-C05A-1EA13391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657" y="1737360"/>
            <a:ext cx="6327698" cy="437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2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432E4-9469-871B-F34A-87B00835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Skill </a:t>
            </a:r>
            <a:r>
              <a:rPr lang="ko-KR" altLang="en-US"/>
              <a:t>생성 결과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46FFACB-B932-3D4B-D859-9BDEE554DDEB}"/>
              </a:ext>
            </a:extLst>
          </p:cNvPr>
          <p:cNvGrpSpPr/>
          <p:nvPr/>
        </p:nvGrpSpPr>
        <p:grpSpPr>
          <a:xfrm>
            <a:off x="1097280" y="1888538"/>
            <a:ext cx="2954376" cy="4827238"/>
            <a:chOff x="8624815" y="1744159"/>
            <a:chExt cx="2954376" cy="48272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8A30481-C7E4-EF6F-3097-DA8732524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4815" y="1744159"/>
              <a:ext cx="2954376" cy="4827238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B9EAD2-DD58-92DF-E591-BB001587FB3F}"/>
                </a:ext>
              </a:extLst>
            </p:cNvPr>
            <p:cNvSpPr/>
            <p:nvPr/>
          </p:nvSpPr>
          <p:spPr>
            <a:xfrm>
              <a:off x="9163251" y="2444817"/>
              <a:ext cx="1357162" cy="26758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481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A69CD-58F6-2D65-900C-27D23476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Skill </a:t>
            </a:r>
            <a:r>
              <a:rPr lang="ko-KR" altLang="en-US"/>
              <a:t>배포 </a:t>
            </a:r>
            <a:r>
              <a:rPr lang="en-US" altLang="ko-KR"/>
              <a:t>( </a:t>
            </a:r>
            <a:r>
              <a:rPr lang="ko-KR" altLang="en-US"/>
              <a:t>플러그인 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F2CE15-B031-5057-727A-10C6C543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39" y="2026763"/>
            <a:ext cx="5961451" cy="250753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C2F2687-1640-F7A1-CC58-A7562BD6B9B1}"/>
              </a:ext>
            </a:extLst>
          </p:cNvPr>
          <p:cNvGrpSpPr/>
          <p:nvPr/>
        </p:nvGrpSpPr>
        <p:grpSpPr>
          <a:xfrm>
            <a:off x="1310326" y="2026763"/>
            <a:ext cx="9713603" cy="4026637"/>
            <a:chOff x="1310326" y="2026763"/>
            <a:chExt cx="9713603" cy="40266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9C578BD-01BC-8EF8-6BE4-B2079EBBD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9539" y="2026763"/>
              <a:ext cx="2464390" cy="402663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8D35E3-4D32-73EA-1516-B9C25B3D3A39}"/>
                </a:ext>
              </a:extLst>
            </p:cNvPr>
            <p:cNvSpPr/>
            <p:nvPr/>
          </p:nvSpPr>
          <p:spPr>
            <a:xfrm>
              <a:off x="8955464" y="2582944"/>
              <a:ext cx="1677971" cy="23001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C9A8E3E-159B-97FD-5C03-6F39353A3CE1}"/>
                </a:ext>
              </a:extLst>
            </p:cNvPr>
            <p:cNvCxnSpPr>
              <a:cxnSpLocks/>
              <a:stCxn id="6" idx="1"/>
              <a:endCxn id="8" idx="3"/>
            </p:cNvCxnSpPr>
            <p:nvPr/>
          </p:nvCxnSpPr>
          <p:spPr>
            <a:xfrm flipH="1" flipV="1">
              <a:off x="2460396" y="3572758"/>
              <a:ext cx="6495068" cy="1602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9DE7F01-6205-AF78-45CF-4507F91F02A3}"/>
                </a:ext>
              </a:extLst>
            </p:cNvPr>
            <p:cNvSpPr/>
            <p:nvPr/>
          </p:nvSpPr>
          <p:spPr>
            <a:xfrm>
              <a:off x="1310326" y="3110844"/>
              <a:ext cx="1150070" cy="9238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6A6FA69-AF3A-8740-967E-6432D086068D}"/>
              </a:ext>
            </a:extLst>
          </p:cNvPr>
          <p:cNvSpPr txBox="1"/>
          <p:nvPr/>
        </p:nvSpPr>
        <p:spPr>
          <a:xfrm>
            <a:off x="1012439" y="4666268"/>
            <a:ext cx="7415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project </a:t>
            </a:r>
            <a:r>
              <a:rPr lang="ko-KR" altLang="en-US" sz="1400"/>
              <a:t>폴더 </a:t>
            </a:r>
            <a:r>
              <a:rPr lang="en-US" altLang="ko-KR" sz="1400"/>
              <a:t>root</a:t>
            </a:r>
            <a:r>
              <a:rPr lang="ko-KR" altLang="en-US" sz="1400"/>
              <a:t>에 </a:t>
            </a:r>
            <a:r>
              <a:rPr lang="en-US" altLang="ko-KR" sz="1400"/>
              <a:t>.claude-plugin </a:t>
            </a:r>
            <a:r>
              <a:rPr lang="ko-KR" altLang="en-US" sz="1400"/>
              <a:t>폴더 생성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plugin.json</a:t>
            </a:r>
            <a:r>
              <a:rPr lang="ko-KR" altLang="en-US" sz="1400"/>
              <a:t> 파일 작성 </a:t>
            </a:r>
            <a:r>
              <a:rPr lang="en-US" altLang="ko-KR" sz="1400"/>
              <a:t>( plugin</a:t>
            </a:r>
            <a:r>
              <a:rPr lang="ko-KR" altLang="en-US" sz="1400"/>
              <a:t> 명 </a:t>
            </a:r>
            <a:r>
              <a:rPr lang="en-US" altLang="ko-KR" sz="1400"/>
              <a:t>/ </a:t>
            </a:r>
            <a:r>
              <a:rPr lang="ko-KR" altLang="en-US" sz="1400"/>
              <a:t>설명 </a:t>
            </a:r>
            <a:r>
              <a:rPr lang="en-US" altLang="ko-KR" sz="1400"/>
              <a:t>/ </a:t>
            </a:r>
            <a:r>
              <a:rPr lang="ko-KR" altLang="en-US" sz="1400"/>
              <a:t>버전 </a:t>
            </a:r>
            <a:r>
              <a:rPr lang="en-US" altLang="ko-KR" sz="1400"/>
              <a:t>/ </a:t>
            </a:r>
            <a:r>
              <a:rPr lang="ko-KR" altLang="en-US" sz="1400"/>
              <a:t>작성자 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생성한 스킬 폴더를 </a:t>
            </a:r>
            <a:r>
              <a:rPr lang="en-US" altLang="ko-KR" sz="1400"/>
              <a:t>.claude-plugin </a:t>
            </a:r>
            <a:r>
              <a:rPr lang="ko-KR" altLang="en-US" sz="1400"/>
              <a:t>폴더와 같은 레벨에 복사 붙여넣기</a:t>
            </a:r>
            <a:br>
              <a:rPr lang="en-US" altLang="ko-KR" sz="1400"/>
            </a:b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54692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954AF-C1C6-4039-793A-36EEEC5E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플러그인으로만 공유하는 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55DA61-D87D-291C-39C7-BE697F4F9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67" y="1884443"/>
            <a:ext cx="7240010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14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65B4A-9D6D-B50A-B70F-B879B17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MarketPlace</a:t>
            </a:r>
            <a:r>
              <a:rPr lang="ko-KR" altLang="en-US"/>
              <a:t>로 공유하는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9C8B6-5BD7-56E9-C047-1CA56699031B}"/>
              </a:ext>
            </a:extLst>
          </p:cNvPr>
          <p:cNvSpPr txBox="1"/>
          <p:nvPr/>
        </p:nvSpPr>
        <p:spPr>
          <a:xfrm>
            <a:off x="1065229" y="1904214"/>
            <a:ext cx="1019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여러 플러그인들을 담은 나만의 </a:t>
            </a:r>
            <a:r>
              <a:rPr lang="en-US" altLang="ko-KR"/>
              <a:t>Marketplace</a:t>
            </a:r>
            <a:r>
              <a:rPr lang="ko-KR" altLang="en-US"/>
              <a:t>를 생성하여 공유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7513F5-E441-3713-0D0F-CD2C9B157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29" y="2273546"/>
            <a:ext cx="4267796" cy="16766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18A68D-5523-FB9B-BF7D-64F02F11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61" y="2273546"/>
            <a:ext cx="3503058" cy="284623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231790-EB40-785A-FFCF-8C62AD1771B0}"/>
              </a:ext>
            </a:extLst>
          </p:cNvPr>
          <p:cNvSpPr/>
          <p:nvPr/>
        </p:nvSpPr>
        <p:spPr>
          <a:xfrm>
            <a:off x="424206" y="2790334"/>
            <a:ext cx="1327970" cy="443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B7C69-0EB0-1DED-E2FC-DB8071F06794}"/>
              </a:ext>
            </a:extLst>
          </p:cNvPr>
          <p:cNvSpPr txBox="1"/>
          <p:nvPr/>
        </p:nvSpPr>
        <p:spPr>
          <a:xfrm>
            <a:off x="8255419" y="2293425"/>
            <a:ext cx="3822275" cy="28623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.claude-plugin </a:t>
            </a:r>
            <a:r>
              <a:rPr lang="ko-KR" altLang="en-US" sz="1200"/>
              <a:t>폴더는 </a:t>
            </a:r>
            <a:r>
              <a:rPr lang="en-US" altLang="ko-KR" sz="1200"/>
              <a:t>Plugin </a:t>
            </a:r>
            <a:r>
              <a:rPr lang="ko-KR" altLang="en-US" sz="1200"/>
              <a:t>생성때와 동일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.claude-plugin </a:t>
            </a:r>
            <a:r>
              <a:rPr lang="ko-KR" altLang="en-US" sz="1200"/>
              <a:t>폴더네 </a:t>
            </a:r>
            <a:r>
              <a:rPr lang="en-US" altLang="ko-KR" sz="1200"/>
              <a:t>marketplace.json </a:t>
            </a:r>
            <a:r>
              <a:rPr lang="ko-KR" altLang="en-US" sz="1200"/>
              <a:t>생성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마켓플레이스 명 </a:t>
            </a:r>
            <a:br>
              <a:rPr lang="en-US" altLang="ko-KR" sz="1200"/>
            </a:br>
            <a:r>
              <a:rPr lang="ko-KR" altLang="en-US" sz="1200"/>
              <a:t>마켓플레이스의 주인 이름 및 이메일 정보</a:t>
            </a:r>
            <a:r>
              <a:rPr lang="en-US" altLang="ko-KR" sz="1200"/>
              <a:t>/</a:t>
            </a:r>
            <a:br>
              <a:rPr lang="en-US" altLang="ko-KR" sz="1200"/>
            </a:br>
            <a:r>
              <a:rPr lang="ko-KR" altLang="en-US" sz="1200"/>
              <a:t>공유할 플러그인 모음 </a:t>
            </a:r>
            <a:br>
              <a:rPr lang="en-US" altLang="ko-KR" sz="1200"/>
            </a:br>
            <a:r>
              <a:rPr lang="en-US" altLang="ko-KR" sz="1200"/>
              <a:t>(- </a:t>
            </a:r>
            <a:r>
              <a:rPr lang="ko-KR" altLang="en-US" sz="1200"/>
              <a:t>플러그인 이름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위치 </a:t>
            </a:r>
            <a:br>
              <a:rPr lang="en-US" altLang="ko-KR" sz="1200"/>
            </a:br>
            <a:r>
              <a:rPr lang="en-US" altLang="ko-KR" sz="1200"/>
              <a:t>   [※ Claude Code</a:t>
            </a:r>
            <a:r>
              <a:rPr lang="ko-KR" altLang="en-US" sz="1200"/>
              <a:t>의 상대경로 시작위치는 프로젝트 루트</a:t>
            </a:r>
            <a:r>
              <a:rPr lang="en-US" altLang="ko-KR" sz="1200"/>
              <a:t>]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설명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버전 정보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작성자</a:t>
            </a:r>
            <a:r>
              <a:rPr lang="en-US" altLang="ko-KR" sz="1200"/>
              <a:t>)</a:t>
            </a:r>
            <a:br>
              <a:rPr lang="en-US" altLang="ko-KR" sz="1200"/>
            </a:br>
            <a:br>
              <a:rPr lang="en-US" altLang="ko-KR" sz="1200"/>
            </a:br>
            <a:br>
              <a:rPr lang="en-US" altLang="ko-KR" sz="1200"/>
            </a:b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01E18A-3930-E111-CA2C-1603CD138439}"/>
              </a:ext>
            </a:extLst>
          </p:cNvPr>
          <p:cNvSpPr/>
          <p:nvPr/>
        </p:nvSpPr>
        <p:spPr>
          <a:xfrm>
            <a:off x="1065229" y="3233395"/>
            <a:ext cx="1159497" cy="2733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E0E344-F959-6F9A-7DC3-A709C194F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29" y="4181459"/>
            <a:ext cx="4272203" cy="833601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65B1A8-5AAF-2712-CDCE-59681872D3F2}"/>
              </a:ext>
            </a:extLst>
          </p:cNvPr>
          <p:cNvSpPr txBox="1"/>
          <p:nvPr/>
        </p:nvSpPr>
        <p:spPr>
          <a:xfrm>
            <a:off x="313929" y="5155747"/>
            <a:ext cx="4267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plugins</a:t>
            </a:r>
            <a:r>
              <a:rPr lang="ko-KR" altLang="en-US" sz="1200"/>
              <a:t> 폴더는 </a:t>
            </a:r>
            <a:r>
              <a:rPr lang="en-US" altLang="ko-KR" sz="1200"/>
              <a:t>.claude-plugin </a:t>
            </a:r>
            <a:r>
              <a:rPr lang="ko-KR" altLang="en-US" sz="1200"/>
              <a:t>폴더와 동일한 레벨로 구성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plugins </a:t>
            </a:r>
            <a:r>
              <a:rPr lang="ko-KR" altLang="en-US" sz="1200"/>
              <a:t>폴더 하위에 플러그인을 구성한 폴더가 통째로 복사되어 들어간다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04649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9EE84-8587-2483-81F9-9CAA4D07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마켓 플레이스 공유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C7775C4-DBBD-8DAC-4FA4-0F581CD7CEE3}"/>
              </a:ext>
            </a:extLst>
          </p:cNvPr>
          <p:cNvGrpSpPr/>
          <p:nvPr/>
        </p:nvGrpSpPr>
        <p:grpSpPr>
          <a:xfrm>
            <a:off x="207388" y="1934850"/>
            <a:ext cx="8383571" cy="4715759"/>
            <a:chOff x="207388" y="1934850"/>
            <a:chExt cx="8383571" cy="471575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B4EA581-F12C-0B09-4A87-BFFD356CA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388" y="1934850"/>
              <a:ext cx="8383571" cy="471575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95B03AE-7541-2490-F6FA-A179BB21E7E3}"/>
                </a:ext>
              </a:extLst>
            </p:cNvPr>
            <p:cNvSpPr/>
            <p:nvPr/>
          </p:nvSpPr>
          <p:spPr>
            <a:xfrm>
              <a:off x="282804" y="5618375"/>
              <a:ext cx="3082565" cy="4901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A1F25B1-5ACF-B350-4A5B-3EB47EF97371}"/>
              </a:ext>
            </a:extLst>
          </p:cNvPr>
          <p:cNvSpPr txBox="1"/>
          <p:nvPr/>
        </p:nvSpPr>
        <p:spPr>
          <a:xfrm>
            <a:off x="8663233" y="1934850"/>
            <a:ext cx="32459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/>
              <a:t>git </a:t>
            </a:r>
            <a:r>
              <a:rPr lang="ko-KR" altLang="en-US" sz="1200"/>
              <a:t>레포지토리로  마켓플레이스 프로젝트를 등록한다</a:t>
            </a:r>
            <a:r>
              <a:rPr lang="en-US" altLang="ko-KR" sz="1200"/>
              <a:t>.</a:t>
            </a:r>
          </a:p>
          <a:p>
            <a:pPr marL="342900" indent="-342900">
              <a:buAutoNum type="arabicPeriod"/>
            </a:pPr>
            <a:r>
              <a:rPr lang="en-US" altLang="ko-KR" sz="1200"/>
              <a:t>/plugin marketplace add {</a:t>
            </a:r>
            <a:r>
              <a:rPr lang="ko-KR" altLang="en-US" sz="1200"/>
              <a:t>마켓플레이스</a:t>
            </a:r>
            <a:r>
              <a:rPr lang="en-US" altLang="ko-KR" sz="1200"/>
              <a:t>git_Id}/{</a:t>
            </a:r>
            <a:r>
              <a:rPr lang="ko-KR" altLang="en-US" sz="1200"/>
              <a:t>마켓플레이스 명</a:t>
            </a:r>
            <a:r>
              <a:rPr lang="en-US" altLang="ko-KR" sz="1200"/>
              <a:t>}</a:t>
            </a:r>
          </a:p>
          <a:p>
            <a:pPr marL="342900" indent="-342900">
              <a:buAutoNum type="arabicPeriod"/>
            </a:pP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720A6D-BA93-D796-B4E1-9A86DBFDB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14" t="25334" r="42010" b="61016"/>
          <a:stretch>
            <a:fillRect/>
          </a:stretch>
        </p:blipFill>
        <p:spPr>
          <a:xfrm>
            <a:off x="7742549" y="3068967"/>
            <a:ext cx="4166647" cy="936154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260284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537A2-572C-9CCC-0A12-220709D02C7F}"/>
              </a:ext>
            </a:extLst>
          </p:cNvPr>
          <p:cNvSpPr txBox="1"/>
          <p:nvPr/>
        </p:nvSpPr>
        <p:spPr>
          <a:xfrm>
            <a:off x="316029" y="240632"/>
            <a:ext cx="115599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>
                <a:solidFill>
                  <a:srgbClr val="FF0000"/>
                </a:solidFill>
              </a:rPr>
              <a:t>/init</a:t>
            </a:r>
            <a:r>
              <a:rPr lang="en-US" altLang="ko-KR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폴더를 스캔하여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r>
              <a:rPr lang="ko-KR" altLang="en-US" sz="1200">
                <a:sym typeface="Wingdings" panose="05000000000000000000" pitchFamily="2" charset="2"/>
              </a:rPr>
              <a:t> 명령어 루트 폴더에 </a:t>
            </a:r>
            <a:r>
              <a:rPr lang="en-US" altLang="ko-KR" sz="1200">
                <a:sym typeface="Wingdings" panose="05000000000000000000" pitchFamily="2" charset="2"/>
              </a:rPr>
              <a:t>CLAUDE.md</a:t>
            </a:r>
            <a:r>
              <a:rPr lang="ko-KR" altLang="en-US" sz="1200">
                <a:sym typeface="Wingdings" panose="05000000000000000000" pitchFamily="2" charset="2"/>
              </a:rPr>
              <a:t> 파일 생성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규칙 정의 </a:t>
            </a:r>
            <a:r>
              <a:rPr lang="en-US" altLang="ko-KR" sz="1200">
                <a:sym typeface="Wingdings" panose="05000000000000000000" pitchFamily="2" charset="2"/>
              </a:rPr>
              <a:t>- </a:t>
            </a:r>
            <a:r>
              <a:rPr lang="ko-KR" altLang="en-US" sz="1200">
                <a:sym typeface="Wingdings" panose="05000000000000000000" pitchFamily="2" charset="2"/>
              </a:rPr>
              <a:t>비어있는경우 임의로 넣음</a:t>
            </a:r>
            <a:r>
              <a:rPr lang="en-US" altLang="ko-KR" sz="1200">
                <a:sym typeface="Wingdings" panose="05000000000000000000" pitchFamily="2" charset="2"/>
              </a:rPr>
              <a:t>.)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★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CLUADE.MD</a:t>
            </a:r>
            <a:r>
              <a:rPr lang="en-US" altLang="ko-KR" sz="1200">
                <a:sym typeface="Wingdings" panose="05000000000000000000" pitchFamily="2" charset="2"/>
              </a:rPr>
              <a:t>  </a:t>
            </a:r>
            <a:r>
              <a:rPr lang="ko-KR" altLang="en-US" sz="1200">
                <a:sym typeface="Wingdings" panose="05000000000000000000" pitchFamily="2" charset="2"/>
              </a:rPr>
              <a:t>가장 먼저 읽히는 규칙 파일 </a:t>
            </a:r>
            <a:r>
              <a:rPr lang="en-US" altLang="ko-KR" sz="1200">
                <a:sym typeface="Wingdings" panose="05000000000000000000" pitchFamily="2" charset="2"/>
              </a:rPr>
              <a:t>.md </a:t>
            </a:r>
            <a:r>
              <a:rPr lang="ko-KR" altLang="en-US" sz="1200">
                <a:sym typeface="Wingdings" panose="05000000000000000000" pitchFamily="2" charset="2"/>
              </a:rPr>
              <a:t>파일은 </a:t>
            </a:r>
            <a:r>
              <a:rPr lang="en-US" altLang="ko-KR" sz="1200">
                <a:sym typeface="Wingdings" panose="05000000000000000000" pitchFamily="2" charset="2"/>
              </a:rPr>
              <a:t>250</a:t>
            </a:r>
            <a:r>
              <a:rPr lang="ko-KR" altLang="en-US" sz="1200">
                <a:sym typeface="Wingdings" panose="05000000000000000000" pitchFamily="2" charset="2"/>
              </a:rPr>
              <a:t>자가 넘어가면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성능 저하</a:t>
            </a:r>
            <a:r>
              <a:rPr lang="en-US" altLang="ko-KR" sz="1200">
                <a:sym typeface="Wingdings" panose="05000000000000000000" pitchFamily="2" charset="2"/>
              </a:rPr>
              <a:t>. 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</a:t>
            </a:r>
            <a:r>
              <a:rPr lang="ko-KR" altLang="en-US" sz="1200">
                <a:sym typeface="Wingdings" panose="05000000000000000000" pitchFamily="2" charset="2"/>
              </a:rPr>
              <a:t>가장 앞에 존재하는 파일인 만큼 프로젝트 규모가 커지면 각각의 기능별 규칙 모듈 </a:t>
            </a:r>
            <a:r>
              <a:rPr lang="en-US" altLang="ko-KR" sz="1200">
                <a:sym typeface="Wingdings" panose="05000000000000000000" pitchFamily="2" charset="2"/>
              </a:rPr>
              <a:t>.md</a:t>
            </a:r>
            <a:r>
              <a:rPr lang="ko-KR" altLang="en-US" sz="1200">
                <a:sym typeface="Wingdings" panose="05000000000000000000" pitchFamily="2" charset="2"/>
              </a:rPr>
              <a:t> 를 분리하고 참조를 넣는다</a:t>
            </a:r>
            <a:endParaRPr lang="en-US" altLang="ko-KR" sz="1200">
              <a:sym typeface="Wingdings" panose="05000000000000000000" pitchFamily="2" charset="2"/>
            </a:endParaRPr>
          </a:p>
          <a:p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2. ctrl + r  claude </a:t>
            </a:r>
            <a:r>
              <a:rPr lang="ko-KR" altLang="en-US" sz="1200">
                <a:sym typeface="Wingdings" panose="05000000000000000000" pitchFamily="2" charset="2"/>
              </a:rPr>
              <a:t>에게 전달한 이전 프롬프트를 확인하는 단축키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/>
              <a:t>3. </a:t>
            </a:r>
            <a:r>
              <a:rPr lang="en-US" altLang="ko-KR" sz="1200" b="1">
                <a:solidFill>
                  <a:srgbClr val="FF0000"/>
                </a:solidFill>
              </a:rPr>
              <a:t>/resume</a:t>
            </a:r>
            <a:r>
              <a:rPr lang="ko-KR" altLang="en-US" sz="1200" b="1">
                <a:solidFill>
                  <a:srgbClr val="FF0000"/>
                </a:solidFill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종료한 세션 불러오기 명령어 </a:t>
            </a:r>
            <a:r>
              <a:rPr lang="en-US" altLang="ko-KR" sz="1200" b="1">
                <a:sym typeface="Wingdings" panose="05000000000000000000" pitchFamily="2" charset="2"/>
              </a:rPr>
              <a:t>  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4.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/rename</a:t>
            </a:r>
            <a:r>
              <a:rPr lang="en-US" altLang="ko-KR" sz="1200">
                <a:sym typeface="Wingdings" panose="05000000000000000000" pitchFamily="2" charset="2"/>
              </a:rPr>
              <a:t>  </a:t>
            </a:r>
            <a:r>
              <a:rPr lang="ko-KR" altLang="en-US" sz="1200">
                <a:sym typeface="Wingdings" panose="05000000000000000000" pitchFamily="2" charset="2"/>
              </a:rPr>
              <a:t>세션에 이름 붙이기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/>
              <a:t>5.  </a:t>
            </a:r>
            <a:r>
              <a:rPr lang="en-US" altLang="ko-KR" sz="1200" b="1">
                <a:solidFill>
                  <a:srgbClr val="FF0000"/>
                </a:solidFill>
              </a:rPr>
              <a:t>/context</a:t>
            </a:r>
            <a:r>
              <a:rPr lang="en-US" altLang="ko-KR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현재 </a:t>
            </a:r>
            <a:r>
              <a:rPr lang="en-US" altLang="ko-KR" sz="1200">
                <a:sym typeface="Wingdings" panose="05000000000000000000" pitchFamily="2" charset="2"/>
              </a:rPr>
              <a:t>Context </a:t>
            </a:r>
            <a:r>
              <a:rPr lang="ko-KR" altLang="en-US" sz="1200">
                <a:sym typeface="Wingdings" panose="05000000000000000000" pitchFamily="2" charset="2"/>
              </a:rPr>
              <a:t>사용량 확인 </a:t>
            </a:r>
            <a:r>
              <a:rPr lang="en-US" altLang="ko-KR" sz="1200">
                <a:sym typeface="Wingdings" panose="05000000000000000000" pitchFamily="2" charset="2"/>
              </a:rPr>
              <a:t>( </a:t>
            </a:r>
            <a:r>
              <a:rPr lang="ko-KR" altLang="en-US" sz="1200">
                <a:sym typeface="Wingdings" panose="05000000000000000000" pitchFamily="2" charset="2"/>
              </a:rPr>
              <a:t>현재 </a:t>
            </a:r>
            <a:r>
              <a:rPr lang="en-US" altLang="ko-KR" sz="1200">
                <a:sym typeface="Wingdings" panose="05000000000000000000" pitchFamily="2" charset="2"/>
              </a:rPr>
              <a:t>Session</a:t>
            </a:r>
            <a:r>
              <a:rPr lang="ko-KR" altLang="en-US" sz="1200">
                <a:sym typeface="Wingdings" panose="05000000000000000000" pitchFamily="2" charset="2"/>
              </a:rPr>
              <a:t>의 </a:t>
            </a:r>
            <a:r>
              <a:rPr lang="en-US" altLang="ko-KR" sz="1200">
                <a:sym typeface="Wingdings" panose="05000000000000000000" pitchFamily="2" charset="2"/>
              </a:rPr>
              <a:t>Context</a:t>
            </a:r>
            <a:r>
              <a:rPr lang="ko-KR" altLang="en-US" sz="1200">
                <a:sym typeface="Wingdings" panose="05000000000000000000" pitchFamily="2" charset="2"/>
              </a:rPr>
              <a:t>를 확인하는것은 중요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계속되는 질의 응답을 </a:t>
            </a:r>
            <a:r>
              <a:rPr lang="en-US" altLang="ko-KR" sz="1200">
                <a:sym typeface="Wingdings" panose="05000000000000000000" pitchFamily="2" charset="2"/>
              </a:rPr>
              <a:t>Claude</a:t>
            </a:r>
            <a:r>
              <a:rPr lang="ko-KR" altLang="en-US" sz="1200">
                <a:sym typeface="Wingdings" panose="05000000000000000000" pitchFamily="2" charset="2"/>
              </a:rPr>
              <a:t>가 지니고 다님</a:t>
            </a:r>
            <a:r>
              <a:rPr lang="en-US" altLang="ko-KR" sz="1200">
                <a:sym typeface="Wingdings" panose="05000000000000000000" pitchFamily="2" charset="2"/>
              </a:rPr>
              <a:t>.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 </a:t>
            </a:r>
            <a:r>
              <a:rPr lang="ko-KR" altLang="en-US" sz="1200">
                <a:sym typeface="Wingdings" panose="05000000000000000000" pitchFamily="2" charset="2"/>
              </a:rPr>
              <a:t>즉 질문이 쌓일수록 토큰사용량 증가</a:t>
            </a:r>
            <a:r>
              <a:rPr lang="en-US" altLang="ko-KR" sz="1200">
                <a:sym typeface="Wingdings" panose="05000000000000000000" pitchFamily="2" charset="2"/>
              </a:rPr>
              <a:t>. (70% </a:t>
            </a:r>
            <a:r>
              <a:rPr lang="ko-KR" altLang="en-US" sz="1200">
                <a:sym typeface="Wingdings" panose="05000000000000000000" pitchFamily="2" charset="2"/>
              </a:rPr>
              <a:t>이상이라면 비워주거나 압축해주는게 좋음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/>
              <a:t>6. </a:t>
            </a:r>
            <a:r>
              <a:rPr lang="en-US" altLang="ko-KR" sz="1200" b="1">
                <a:solidFill>
                  <a:srgbClr val="FF0000"/>
                </a:solidFill>
              </a:rPr>
              <a:t>/compact</a:t>
            </a:r>
            <a:r>
              <a:rPr lang="en-US" altLang="ko-KR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현재 세션에 쌓인</a:t>
            </a:r>
            <a:r>
              <a:rPr lang="en-US" altLang="ko-KR" sz="1200">
                <a:sym typeface="Wingdings" panose="05000000000000000000" pitchFamily="2" charset="2"/>
              </a:rPr>
              <a:t> Context </a:t>
            </a:r>
            <a:r>
              <a:rPr lang="ko-KR" altLang="en-US" sz="1200">
                <a:sym typeface="Wingdings" panose="05000000000000000000" pitchFamily="2" charset="2"/>
              </a:rPr>
              <a:t>를 압축해주는 명령어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대화 요약본으로 대체</a:t>
            </a:r>
            <a:r>
              <a:rPr lang="en-US" altLang="ko-KR" sz="1200">
                <a:sym typeface="Wingdings" panose="05000000000000000000" pitchFamily="2" charset="2"/>
              </a:rPr>
              <a:t>) [ /compact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&lt;</a:t>
            </a:r>
            <a:r>
              <a:rPr lang="ko-KR" altLang="en-US" sz="1200">
                <a:sym typeface="Wingdings" panose="05000000000000000000" pitchFamily="2" charset="2"/>
              </a:rPr>
              <a:t>지시문</a:t>
            </a:r>
            <a:r>
              <a:rPr lang="en-US" altLang="ko-KR" sz="1200">
                <a:sym typeface="Wingdings" panose="05000000000000000000" pitchFamily="2" charset="2"/>
              </a:rPr>
              <a:t>&gt;  </a:t>
            </a:r>
            <a:r>
              <a:rPr lang="ko-KR" altLang="en-US" sz="1200">
                <a:sym typeface="Wingdings" panose="05000000000000000000" pitchFamily="2" charset="2"/>
              </a:rPr>
              <a:t>요약시 남길 명령 지정 </a:t>
            </a:r>
            <a:r>
              <a:rPr lang="en-US" altLang="ko-KR" sz="1200">
                <a:sym typeface="Wingdings" panose="05000000000000000000" pitchFamily="2" charset="2"/>
              </a:rPr>
              <a:t>]</a:t>
            </a:r>
          </a:p>
          <a:p>
            <a:r>
              <a:rPr lang="en-US" altLang="ko-KR" sz="1200"/>
              <a:t>7. </a:t>
            </a:r>
            <a:r>
              <a:rPr lang="en-US" altLang="ko-KR" sz="1200" b="1">
                <a:solidFill>
                  <a:srgbClr val="FF0000"/>
                </a:solidFill>
              </a:rPr>
              <a:t>/permissions </a:t>
            </a:r>
            <a:r>
              <a:rPr lang="en-US" altLang="ko-KR" sz="1200">
                <a:sym typeface="Wingdings" panose="05000000000000000000" pitchFamily="2" charset="2"/>
              </a:rPr>
              <a:t> Claude</a:t>
            </a:r>
            <a:r>
              <a:rPr lang="ko-KR" altLang="en-US" sz="1200">
                <a:sym typeface="Wingdings" panose="05000000000000000000" pitchFamily="2" charset="2"/>
              </a:rPr>
              <a:t>제어를 위한 권한 설정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/>
              <a:t>      ★ </a:t>
            </a:r>
            <a:r>
              <a:rPr lang="en-US" altLang="ko-KR" sz="1200"/>
              <a:t>.</a:t>
            </a:r>
            <a:r>
              <a:rPr lang="en-US" altLang="ko-KR" sz="1200" b="1"/>
              <a:t>claude </a:t>
            </a:r>
            <a:r>
              <a:rPr lang="ko-KR" altLang="en-US" sz="1200" b="1"/>
              <a:t>폴더 내 </a:t>
            </a:r>
            <a:r>
              <a:rPr lang="en-US" altLang="ko-KR" sz="1200" b="1"/>
              <a:t>settings.json,  settings.local.json </a:t>
            </a:r>
            <a:r>
              <a:rPr lang="ko-KR" altLang="en-US" sz="1200" b="1"/>
              <a:t>권한 파일 </a:t>
            </a:r>
            <a:r>
              <a:rPr lang="ko-KR" altLang="en-US" sz="1200"/>
              <a:t>생성 </a:t>
            </a:r>
            <a:r>
              <a:rPr lang="en-US" altLang="ko-KR" sz="1200"/>
              <a:t>( [settings.json] claude </a:t>
            </a:r>
            <a:r>
              <a:rPr lang="ko-KR" altLang="en-US" sz="1200"/>
              <a:t>개발자와의 협업 </a:t>
            </a:r>
            <a:r>
              <a:rPr lang="en-US" altLang="ko-KR" sz="1200"/>
              <a:t>claude</a:t>
            </a:r>
            <a:r>
              <a:rPr lang="ko-KR" altLang="en-US" sz="1200"/>
              <a:t>설정 </a:t>
            </a:r>
            <a:r>
              <a:rPr lang="en-US" altLang="ko-KR" sz="1200"/>
              <a:t>/ )</a:t>
            </a:r>
          </a:p>
          <a:p>
            <a:r>
              <a:rPr lang="en-US" altLang="ko-KR" sz="1200"/>
              <a:t>8. </a:t>
            </a:r>
            <a:r>
              <a:rPr lang="en-US" altLang="ko-KR" sz="1200" b="1">
                <a:solidFill>
                  <a:srgbClr val="FF0000"/>
                </a:solidFill>
              </a:rPr>
              <a:t>ctrl+shift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모드 변경 </a:t>
            </a:r>
            <a:r>
              <a:rPr lang="en-US" altLang="ko-KR" sz="1200">
                <a:sym typeface="Wingdings" panose="05000000000000000000" pitchFamily="2" charset="2"/>
              </a:rPr>
              <a:t>( </a:t>
            </a:r>
            <a:r>
              <a:rPr lang="ko-KR" altLang="en-US" sz="1200">
                <a:sym typeface="Wingdings" panose="05000000000000000000" pitchFamily="2" charset="2"/>
              </a:rPr>
              <a:t>터미널의 프롬프트 모드 설정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</a:t>
            </a:r>
            <a:r>
              <a:rPr lang="ko-KR" altLang="en-US" sz="1200">
                <a:sym typeface="Wingdings" panose="05000000000000000000" pitchFamily="2" charset="2"/>
              </a:rPr>
              <a:t>★ </a:t>
            </a:r>
            <a:r>
              <a:rPr lang="en-US" altLang="ko-KR" sz="1200">
                <a:sym typeface="Wingdings" panose="05000000000000000000" pitchFamily="2" charset="2"/>
              </a:rPr>
              <a:t>accept edits on : </a:t>
            </a:r>
            <a:r>
              <a:rPr lang="ko-KR" altLang="en-US" sz="1200">
                <a:sym typeface="Wingdings" panose="05000000000000000000" pitchFamily="2" charset="2"/>
              </a:rPr>
              <a:t>세션의 파일 편집 권한을 묻지 않음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</a:t>
            </a:r>
            <a:r>
              <a:rPr lang="ko-KR" altLang="en-US" sz="1200">
                <a:sym typeface="Wingdings" panose="05000000000000000000" pitchFamily="2" charset="2"/>
              </a:rPr>
              <a:t>★ </a:t>
            </a:r>
            <a:r>
              <a:rPr lang="en-US" altLang="ko-KR" sz="1200">
                <a:sym typeface="Wingdings" panose="05000000000000000000" pitchFamily="2" charset="2"/>
              </a:rPr>
              <a:t>plan mode  Claude</a:t>
            </a:r>
            <a:r>
              <a:rPr lang="ko-KR" altLang="en-US" sz="1200">
                <a:sym typeface="Wingdings" panose="05000000000000000000" pitchFamily="2" charset="2"/>
              </a:rPr>
              <a:t>가 분석 및 계획 수립</a:t>
            </a:r>
            <a:r>
              <a:rPr lang="en-US" altLang="ko-KR" sz="1200">
                <a:sym typeface="Wingdings" panose="05000000000000000000" pitchFamily="2" charset="2"/>
              </a:rPr>
              <a:t>.   (</a:t>
            </a:r>
            <a:r>
              <a:rPr lang="ko-KR" altLang="en-US" sz="1200">
                <a:sym typeface="Wingdings" panose="05000000000000000000" pitchFamily="2" charset="2"/>
              </a:rPr>
              <a:t>수행 </a:t>
            </a:r>
            <a:r>
              <a:rPr lang="en-US" altLang="ko-KR" sz="1200">
                <a:sym typeface="Wingdings" panose="05000000000000000000" pitchFamily="2" charset="2"/>
              </a:rPr>
              <a:t>X)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      </a:t>
            </a:r>
            <a:r>
              <a:rPr lang="ko-KR" altLang="en-US" sz="1200">
                <a:sym typeface="Wingdings" panose="05000000000000000000" pitchFamily="2" charset="2"/>
              </a:rPr>
              <a:t>★ </a:t>
            </a:r>
            <a:r>
              <a:rPr lang="en-US" altLang="ko-KR" sz="1200">
                <a:sym typeface="Wingdings" panose="05000000000000000000" pitchFamily="2" charset="2"/>
              </a:rPr>
              <a:t>auto mode  </a:t>
            </a:r>
            <a:r>
              <a:rPr lang="ko-KR" altLang="en-US" sz="1200">
                <a:sym typeface="Wingdings" panose="05000000000000000000" pitchFamily="2" charset="2"/>
              </a:rPr>
              <a:t>자동으로 모든것을 승인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9.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/usage </a:t>
            </a:r>
            <a:r>
              <a:rPr lang="en-US" altLang="ko-KR" sz="1200">
                <a:sym typeface="Wingdings" panose="05000000000000000000" pitchFamily="2" charset="2"/>
              </a:rPr>
              <a:t> Claude </a:t>
            </a:r>
            <a:r>
              <a:rPr lang="ko-KR" altLang="en-US" sz="1200">
                <a:sym typeface="Wingdings" panose="05000000000000000000" pitchFamily="2" charset="2"/>
              </a:rPr>
              <a:t>사용량 확인 명령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10. /config  </a:t>
            </a:r>
            <a:r>
              <a:rPr lang="ko-KR" altLang="en-US" sz="1200">
                <a:sym typeface="Wingdings" panose="05000000000000000000" pitchFamily="2" charset="2"/>
              </a:rPr>
              <a:t>클로드 환경 설정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11.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/agents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endParaRPr lang="en-US" altLang="ko-KR" sz="1200"/>
          </a:p>
          <a:p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7AE4B-C84E-9ECC-559D-5A75035AF89F}"/>
              </a:ext>
            </a:extLst>
          </p:cNvPr>
          <p:cNvSpPr txBox="1"/>
          <p:nvPr/>
        </p:nvSpPr>
        <p:spPr>
          <a:xfrm>
            <a:off x="4864515" y="4392389"/>
            <a:ext cx="51386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allow</a:t>
            </a:r>
            <a:r>
              <a:rPr lang="ko-KR" altLang="en-US" sz="1400"/>
              <a:t> </a:t>
            </a:r>
            <a:r>
              <a:rPr lang="en-US" altLang="ko-KR" sz="1400">
                <a:sym typeface="Wingdings" panose="05000000000000000000" pitchFamily="2" charset="2"/>
              </a:rPr>
              <a:t> claude</a:t>
            </a:r>
            <a:r>
              <a:rPr lang="ko-KR" altLang="en-US" sz="1400">
                <a:sym typeface="Wingdings" panose="05000000000000000000" pitchFamily="2" charset="2"/>
              </a:rPr>
              <a:t>가 사용자의 의견없이 사용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/>
              <a:t>ask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해당 명령 수행시 사용자에게 반드시 물어본다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deny  </a:t>
            </a:r>
            <a:r>
              <a:rPr lang="ko-KR" altLang="en-US" sz="1400">
                <a:sym typeface="Wingdings" panose="05000000000000000000" pitchFamily="2" charset="2"/>
              </a:rPr>
              <a:t>불가 명령</a:t>
            </a:r>
            <a:endParaRPr lang="ko-KR" altLang="en-US" sz="1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70AC16C-3365-D6C3-CAD0-B1828F1686BB}"/>
              </a:ext>
            </a:extLst>
          </p:cNvPr>
          <p:cNvGrpSpPr/>
          <p:nvPr/>
        </p:nvGrpSpPr>
        <p:grpSpPr>
          <a:xfrm>
            <a:off x="9175880" y="1229916"/>
            <a:ext cx="3016120" cy="5628084"/>
            <a:chOff x="9175880" y="1229916"/>
            <a:chExt cx="3016120" cy="562808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0D12EF-7E94-D123-08E4-27B7BF3875D3}"/>
                </a:ext>
              </a:extLst>
            </p:cNvPr>
            <p:cNvSpPr txBox="1"/>
            <p:nvPr/>
          </p:nvSpPr>
          <p:spPr>
            <a:xfrm>
              <a:off x="9175880" y="1926778"/>
              <a:ext cx="3016120" cy="493122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"permissions"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"allow"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[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"Skill(update-config)"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],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"ask"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[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"Bash(rm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"Bash(rmdir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"Bash(git rm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"Bash(git clean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"PowerShell(Remove-Item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"PowerShell(rm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"PowerShell(del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"PowerShell(rmdir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"PowerShell(git rm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"PowerShell(git clean *)"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],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"deny"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[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"Bash(rm -rf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"Bash(rm -fr 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"Read(.env)"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"Read(.env.*)"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"Edit(.env)"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"Edit(.env.*)"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]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46A5416-2A5C-AFE9-F4D6-DA9B8921C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5880" y="1229916"/>
              <a:ext cx="1400370" cy="514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0807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FAD2-0E27-E4C7-9641-E86256F9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ACF83-A82B-4593-6E34-4EA1898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Shrimp Task </a:t>
            </a:r>
            <a:r>
              <a:rPr lang="en-US" altLang="ko-KR" err="1"/>
              <a:t>Mananger</a:t>
            </a:r>
            <a:r>
              <a:rPr lang="en-US" altLang="ko-KR"/>
              <a:t>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09DAE-244E-1A1A-9B63-B20BE911635D}"/>
              </a:ext>
            </a:extLst>
          </p:cNvPr>
          <p:cNvSpPr txBox="1"/>
          <p:nvPr/>
        </p:nvSpPr>
        <p:spPr>
          <a:xfrm>
            <a:off x="1097280" y="1816718"/>
            <a:ext cx="756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참고 주소 </a:t>
            </a:r>
            <a:r>
              <a:rPr lang="en-US" altLang="ko-KR" sz="1200" dirty="0"/>
              <a:t>: </a:t>
            </a:r>
            <a:r>
              <a:rPr lang="en-US" altLang="ko-KR" sz="1200" dirty="0">
                <a:hlinkClick r:id="rId2"/>
              </a:rPr>
              <a:t>https://github.com/cjo4m06/mcp-shrimp-task-manager/tree/main#installation</a:t>
            </a:r>
            <a:r>
              <a:rPr lang="en-US" altLang="ko-KR" sz="1200" dirty="0"/>
              <a:t> </a:t>
            </a:r>
          </a:p>
          <a:p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099D0-85CD-7197-D035-B942A4FA51D6}"/>
              </a:ext>
            </a:extLst>
          </p:cNvPr>
          <p:cNvSpPr txBox="1"/>
          <p:nvPr/>
        </p:nvSpPr>
        <p:spPr>
          <a:xfrm>
            <a:off x="1097280" y="2117405"/>
            <a:ext cx="9721516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en-US" altLang="ko-KR" sz="1100" dirty="0" err="1"/>
              <a:t>mcp.json</a:t>
            </a:r>
            <a:br>
              <a:rPr lang="en-US" altLang="ko-KR" sz="1100" dirty="0"/>
            </a:br>
            <a:r>
              <a:rPr lang="ko-KR" altLang="en-US" sz="1100" dirty="0"/>
              <a:t>{</a:t>
            </a:r>
          </a:p>
          <a:p>
            <a:r>
              <a:rPr lang="ko-KR" altLang="en-US" sz="1100" dirty="0"/>
              <a:t>  "</a:t>
            </a:r>
            <a:r>
              <a:rPr lang="ko-KR" altLang="en-US" sz="1100" dirty="0" err="1"/>
              <a:t>mcpServers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"</a:t>
            </a:r>
            <a:r>
              <a:rPr lang="ko-KR" altLang="en-US" sz="1100" dirty="0" err="1"/>
              <a:t>shrimp-task-manager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command</a:t>
            </a:r>
            <a:r>
              <a:rPr lang="ko-KR" altLang="en-US" sz="1100" dirty="0"/>
              <a:t>": "</a:t>
            </a:r>
            <a:r>
              <a:rPr lang="ko-KR" altLang="en-US" sz="1100" dirty="0" err="1"/>
              <a:t>node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args</a:t>
            </a:r>
            <a:r>
              <a:rPr lang="ko-KR" altLang="en-US" sz="1100" dirty="0"/>
              <a:t>": ["/</a:t>
            </a:r>
            <a:r>
              <a:rPr lang="ko-KR" altLang="en-US" sz="1100" dirty="0" err="1"/>
              <a:t>path</a:t>
            </a:r>
            <a:r>
              <a:rPr lang="ko-KR" altLang="en-US" sz="1100" dirty="0"/>
              <a:t>/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mcp-shrimp-task-manager</a:t>
            </a:r>
            <a:r>
              <a:rPr lang="ko-KR" altLang="en-US" sz="1100" dirty="0"/>
              <a:t>/</a:t>
            </a:r>
            <a:r>
              <a:rPr lang="ko-KR" altLang="en-US" sz="1100" dirty="0" err="1"/>
              <a:t>dist</a:t>
            </a:r>
            <a:r>
              <a:rPr lang="ko-KR" altLang="en-US" sz="1100" dirty="0"/>
              <a:t>/</a:t>
            </a:r>
            <a:r>
              <a:rPr lang="ko-KR" altLang="en-US" sz="1100" dirty="0" err="1"/>
              <a:t>index.js</a:t>
            </a:r>
            <a:r>
              <a:rPr lang="ko-KR" altLang="en-US" sz="1100" dirty="0"/>
              <a:t>"],</a:t>
            </a:r>
          </a:p>
          <a:p>
            <a:r>
              <a:rPr lang="ko-KR" altLang="en-US" sz="1100" dirty="0"/>
              <a:t>      "</a:t>
            </a:r>
            <a:r>
              <a:rPr lang="ko-KR" altLang="en-US" sz="1100" dirty="0" err="1"/>
              <a:t>env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    "DATA_DIR": "/</a:t>
            </a:r>
            <a:r>
              <a:rPr lang="ko-KR" altLang="en-US" sz="1100" dirty="0" err="1"/>
              <a:t>path</a:t>
            </a:r>
            <a:r>
              <a:rPr lang="ko-KR" altLang="en-US" sz="1100" dirty="0"/>
              <a:t>/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/</a:t>
            </a:r>
            <a:r>
              <a:rPr lang="ko-KR" altLang="en-US" sz="1100" dirty="0" err="1"/>
              <a:t>your</a:t>
            </a:r>
            <a:r>
              <a:rPr lang="ko-KR" altLang="en-US" sz="1100" dirty="0"/>
              <a:t>/</a:t>
            </a:r>
            <a:r>
              <a:rPr lang="ko-KR" altLang="en-US" sz="1100" dirty="0" err="1"/>
              <a:t>shrimp_data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  "TEMPLATES_USE": "</a:t>
            </a:r>
            <a:r>
              <a:rPr lang="ko-KR" altLang="en-US" sz="1100" dirty="0" err="1"/>
              <a:t>en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    "ENABLE_GUI": "</a:t>
            </a:r>
            <a:r>
              <a:rPr lang="ko-KR" altLang="en-US" sz="1100" dirty="0" err="1"/>
              <a:t>false</a:t>
            </a:r>
            <a:r>
              <a:rPr lang="ko-KR" altLang="en-US" sz="1100" dirty="0"/>
              <a:t>"</a:t>
            </a:r>
          </a:p>
          <a:p>
            <a:r>
              <a:rPr lang="ko-KR" altLang="en-US" sz="1100" dirty="0"/>
              <a:t>      }</a:t>
            </a:r>
          </a:p>
          <a:p>
            <a:r>
              <a:rPr lang="ko-KR" altLang="en-US" sz="1100" dirty="0"/>
              <a:t>    }</a:t>
            </a:r>
          </a:p>
          <a:p>
            <a:r>
              <a:rPr lang="ko-KR" altLang="en-US" sz="1100" dirty="0"/>
              <a:t>  }</a:t>
            </a:r>
          </a:p>
          <a:p>
            <a:r>
              <a:rPr lang="ko-KR" altLang="en-US" sz="1100"/>
              <a:t>}</a:t>
            </a:r>
            <a:br>
              <a:rPr lang="en-US" altLang="ko-KR" sz="1100"/>
            </a:b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1. </a:t>
            </a:r>
            <a:r>
              <a:rPr lang="en-US" altLang="ko-KR" sz="1100">
                <a:sym typeface="Wingdings" panose="05000000000000000000" pitchFamily="2" charset="2"/>
              </a:rPr>
              <a:t>git clone </a:t>
            </a:r>
            <a:r>
              <a:rPr lang="en-US" altLang="ko-KR" sz="1100">
                <a:sym typeface="Wingdings" panose="05000000000000000000" pitchFamily="2" charset="2"/>
                <a:hlinkClick r:id="rId3"/>
              </a:rPr>
              <a:t>https://github.com/cjo4m06/mcp-shrimp-task-manager.git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/>
              <a:t>2. cd mcp-shrimp-task-manager</a:t>
            </a:r>
          </a:p>
          <a:p>
            <a:r>
              <a:rPr lang="en-US" altLang="ko-KR" sz="1100"/>
              <a:t>3. npm i</a:t>
            </a:r>
          </a:p>
          <a:p>
            <a:r>
              <a:rPr lang="en-US" altLang="ko-KR" sz="1100"/>
              <a:t>4. npm run build</a:t>
            </a:r>
            <a:br>
              <a:rPr lang="en-US" altLang="ko-KR" sz="1100"/>
            </a:br>
            <a:br>
              <a:rPr lang="en-US" altLang="ko-KR" sz="1100"/>
            </a:br>
            <a:r>
              <a:rPr lang="ko-KR" altLang="en-US" sz="1400" b="1">
                <a:solidFill>
                  <a:srgbClr val="FF0000"/>
                </a:solidFill>
              </a:rPr>
              <a:t>★ </a:t>
            </a:r>
            <a:r>
              <a:rPr lang="en-US" altLang="ko-KR" sz="1400" b="1">
                <a:solidFill>
                  <a:srgbClr val="FF0000"/>
                </a:solidFill>
              </a:rPr>
              <a:t>shrimp-task-manager </a:t>
            </a:r>
            <a:r>
              <a:rPr lang="ko-KR" altLang="en-US" sz="1400" b="1">
                <a:solidFill>
                  <a:srgbClr val="FF0000"/>
                </a:solidFill>
              </a:rPr>
              <a:t>폴더는 </a:t>
            </a:r>
            <a:r>
              <a:rPr lang="en-US" altLang="ko-KR" sz="1400" b="1">
                <a:solidFill>
                  <a:srgbClr val="FF0000"/>
                </a:solidFill>
              </a:rPr>
              <a:t>.gitignore </a:t>
            </a:r>
            <a:r>
              <a:rPr lang="ko-KR" altLang="en-US" sz="1400" b="1">
                <a:solidFill>
                  <a:srgbClr val="FF0000"/>
                </a:solidFill>
              </a:rPr>
              <a:t>등록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324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D6E9F-E71B-BCDB-B66D-5AA59CE9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Init_project_rules -1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230E4-4557-34C7-235B-9A17D9698F7B}"/>
              </a:ext>
            </a:extLst>
          </p:cNvPr>
          <p:cNvSpPr txBox="1"/>
          <p:nvPr/>
        </p:nvSpPr>
        <p:spPr>
          <a:xfrm>
            <a:off x="1187777" y="1847654"/>
            <a:ext cx="10463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init_project_rules  </a:t>
            </a:r>
            <a:r>
              <a:rPr lang="en-US" altLang="ko-KR" sz="1400">
                <a:sym typeface="Wingdings" panose="05000000000000000000" pitchFamily="2" charset="2"/>
              </a:rPr>
              <a:t> CLAUDE.md</a:t>
            </a:r>
            <a:r>
              <a:rPr lang="ko-KR" altLang="en-US" sz="1400">
                <a:sym typeface="Wingdings" panose="05000000000000000000" pitchFamily="2" charset="2"/>
              </a:rPr>
              <a:t>나 </a:t>
            </a:r>
            <a:r>
              <a:rPr lang="en-US" altLang="ko-KR" sz="1400">
                <a:sym typeface="Wingdings" panose="05000000000000000000" pitchFamily="2" charset="2"/>
              </a:rPr>
              <a:t>PRD.md </a:t>
            </a:r>
            <a:r>
              <a:rPr lang="ko-KR" altLang="en-US" sz="1400">
                <a:sym typeface="Wingdings" panose="05000000000000000000" pitchFamily="2" charset="2"/>
              </a:rPr>
              <a:t>또는 프로젝트 룰을 참고하여 </a:t>
            </a:r>
            <a:r>
              <a:rPr lang="en-US" altLang="ko-KR" sz="1400">
                <a:sym typeface="Wingdings" panose="05000000000000000000" pitchFamily="2" charset="2"/>
              </a:rPr>
              <a:t>shrimp_rules.md </a:t>
            </a:r>
            <a:r>
              <a:rPr lang="ko-KR" altLang="en-US" sz="1400">
                <a:sym typeface="Wingdings" panose="05000000000000000000" pitchFamily="2" charset="2"/>
              </a:rPr>
              <a:t>를 생성하는데만 사용해야하는 명령어이다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302D7E-AD7D-E259-9C73-066A5E555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73" y="2481168"/>
            <a:ext cx="4657708" cy="31334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22C76-4D8F-C4EF-BBC8-26F6E22B74E1}"/>
              </a:ext>
            </a:extLst>
          </p:cNvPr>
          <p:cNvSpPr txBox="1"/>
          <p:nvPr/>
        </p:nvSpPr>
        <p:spPr>
          <a:xfrm>
            <a:off x="5420412" y="2481168"/>
            <a:ext cx="63819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shrimp task master </a:t>
            </a:r>
            <a:r>
              <a:rPr lang="ko-KR" altLang="en-US" sz="1100"/>
              <a:t>명령어로 헷갈리는 부분 정리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>
                <a:sym typeface="Wingdings" panose="05000000000000000000" pitchFamily="2" charset="2"/>
              </a:rPr>
              <a:t>CLAUDE.md  </a:t>
            </a:r>
            <a:r>
              <a:rPr lang="ko-KR" altLang="en-US" sz="1100">
                <a:sym typeface="Wingdings" panose="05000000000000000000" pitchFamily="2" charset="2"/>
              </a:rPr>
              <a:t>프로젝트 룰이나 기술스택 컨벤션은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프로젝트를 진행하려고 하는 개발자가 지정하고 선택하는것이다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이 과정은 전문 </a:t>
            </a:r>
            <a:r>
              <a:rPr lang="en-US" altLang="ko-KR" sz="1100">
                <a:sym typeface="Wingdings" panose="05000000000000000000" pitchFamily="2" charset="2"/>
              </a:rPr>
              <a:t>sub-agent</a:t>
            </a:r>
            <a:r>
              <a:rPr lang="ko-KR" altLang="en-US" sz="1100">
                <a:sym typeface="Wingdings" panose="05000000000000000000" pitchFamily="2" charset="2"/>
              </a:rPr>
              <a:t>나 프롬프트 대화를 통해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프로젝트를 진행함에 있어 유용한 기술스택이나 룰에 대하여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도움을 받을수 있다</a:t>
            </a:r>
            <a:r>
              <a:rPr lang="en-US" altLang="ko-KR" sz="1100">
                <a:sym typeface="Wingdings" panose="05000000000000000000" pitchFamily="2" charset="2"/>
              </a:rPr>
              <a:t>.(</a:t>
            </a:r>
            <a:r>
              <a:rPr lang="ko-KR" altLang="en-US" sz="1100">
                <a:sym typeface="Wingdings" panose="05000000000000000000" pitchFamily="2" charset="2"/>
              </a:rPr>
              <a:t>결국 결정은 본인 몫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PRD.md  </a:t>
            </a:r>
            <a:r>
              <a:rPr lang="ko-KR" altLang="en-US" sz="1100">
                <a:sym typeface="Wingdings" panose="05000000000000000000" pitchFamily="2" charset="2"/>
              </a:rPr>
              <a:t>주요 기능 등의 맥락 </a:t>
            </a:r>
            <a:r>
              <a:rPr lang="en-US" altLang="ko-KR" sz="1100">
                <a:sym typeface="Wingdings" panose="05000000000000000000" pitchFamily="2" charset="2"/>
              </a:rPr>
              <a:t>/ </a:t>
            </a:r>
            <a:r>
              <a:rPr lang="ko-KR" altLang="en-US" sz="1100">
                <a:sym typeface="Wingdings" panose="05000000000000000000" pitchFamily="2" charset="2"/>
              </a:rPr>
              <a:t>일의 흐름 </a:t>
            </a:r>
            <a:r>
              <a:rPr lang="en-US" altLang="ko-KR" sz="1100">
                <a:sym typeface="Wingdings" panose="05000000000000000000" pitchFamily="2" charset="2"/>
              </a:rPr>
              <a:t>(Transaction) / </a:t>
            </a:r>
            <a:r>
              <a:rPr lang="ko-KR" altLang="en-US" sz="1100">
                <a:sym typeface="Wingdings" panose="05000000000000000000" pitchFamily="2" charset="2"/>
              </a:rPr>
              <a:t>예상 데이터 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데이터 모델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/ </a:t>
            </a:r>
            <a:r>
              <a:rPr lang="ko-KR" altLang="en-US" sz="1100">
                <a:sym typeface="Wingdings" panose="05000000000000000000" pitchFamily="2" charset="2"/>
              </a:rPr>
              <a:t>카테고리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메뉴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r>
              <a:rPr lang="ko-KR" altLang="en-US" sz="1100">
                <a:sym typeface="Wingdings" panose="05000000000000000000" pitchFamily="2" charset="2"/>
              </a:rPr>
              <a:t> 구조 등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</a:t>
            </a:r>
            <a:r>
              <a:rPr lang="ko-KR" altLang="en-US" sz="1100">
                <a:sym typeface="Wingdings" panose="05000000000000000000" pitchFamily="2" charset="2"/>
              </a:rPr>
              <a:t>서브 에이전트나 메타 프롬프트의 도움을 받아작성한다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(shrimp –task –manager </a:t>
            </a:r>
            <a:r>
              <a:rPr lang="ko-KR" altLang="en-US" sz="1100">
                <a:sym typeface="Wingdings" panose="05000000000000000000" pitchFamily="2" charset="2"/>
              </a:rPr>
              <a:t>가 </a:t>
            </a:r>
            <a:r>
              <a:rPr lang="en-US" altLang="ko-KR" sz="1100">
                <a:sym typeface="Wingdings" panose="05000000000000000000" pitchFamily="2" charset="2"/>
              </a:rPr>
              <a:t>PRD.md</a:t>
            </a:r>
            <a:r>
              <a:rPr lang="ko-KR" altLang="en-US" sz="1100">
                <a:sym typeface="Wingdings" panose="05000000000000000000" pitchFamily="2" charset="2"/>
              </a:rPr>
              <a:t>를 작성해주는 명령어는 존재하지 않다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(shrimp –task –manager </a:t>
            </a:r>
            <a:r>
              <a:rPr lang="ko-KR" altLang="en-US" sz="1100">
                <a:sym typeface="Wingdings" panose="05000000000000000000" pitchFamily="2" charset="2"/>
              </a:rPr>
              <a:t>는 어디까지나 자연어 요구사항에 대해 단위를 쪼개고 계획하는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</a:t>
            </a:r>
            <a:r>
              <a:rPr lang="ko-KR" altLang="en-US" sz="1100">
                <a:sym typeface="Wingdings" panose="05000000000000000000" pitchFamily="2" charset="2"/>
              </a:rPr>
              <a:t>도구이다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ROADMAP.md  </a:t>
            </a:r>
            <a:r>
              <a:rPr lang="ko-KR" altLang="en-US" sz="1100">
                <a:sym typeface="Wingdings" panose="05000000000000000000" pitchFamily="2" charset="2"/>
              </a:rPr>
              <a:t>제로 베이스의 개발자의 경우 </a:t>
            </a:r>
            <a:r>
              <a:rPr lang="en-US" altLang="ko-KR" sz="1100">
                <a:sym typeface="Wingdings" panose="05000000000000000000" pitchFamily="2" charset="2"/>
              </a:rPr>
              <a:t>PRD</a:t>
            </a:r>
            <a:r>
              <a:rPr lang="ko-KR" altLang="en-US" sz="1100">
                <a:sym typeface="Wingdings" panose="05000000000000000000" pitchFamily="2" charset="2"/>
              </a:rPr>
              <a:t>문서를 기반으로 </a:t>
            </a:r>
            <a:r>
              <a:rPr lang="en-US" altLang="ko-KR" sz="1100">
                <a:sym typeface="Wingdings" panose="05000000000000000000" pitchFamily="2" charset="2"/>
              </a:rPr>
              <a:t>plan_task</a:t>
            </a:r>
            <a:r>
              <a:rPr lang="ko-KR" altLang="en-US" sz="1100">
                <a:sym typeface="Wingdings" panose="05000000000000000000" pitchFamily="2" charset="2"/>
              </a:rPr>
              <a:t>를 진행해달라고 할 수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 있다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r>
              <a:rPr lang="ko-KR" altLang="en-US" sz="1100">
                <a:sym typeface="Wingdings" panose="05000000000000000000" pitchFamily="2" charset="2"/>
              </a:rPr>
              <a:t>이 경우 </a:t>
            </a:r>
            <a:r>
              <a:rPr lang="en-US" altLang="ko-KR" sz="1100">
                <a:sym typeface="Wingdings" panose="05000000000000000000" pitchFamily="2" charset="2"/>
              </a:rPr>
              <a:t>shrimp task manager</a:t>
            </a:r>
            <a:r>
              <a:rPr lang="ko-KR" altLang="en-US" sz="1100">
                <a:sym typeface="Wingdings" panose="05000000000000000000" pitchFamily="2" charset="2"/>
              </a:rPr>
              <a:t>에서 생성하는 계획 관련 </a:t>
            </a:r>
            <a:r>
              <a:rPr lang="en-US" altLang="ko-KR" sz="1100">
                <a:sym typeface="Wingdings" panose="05000000000000000000" pitchFamily="2" charset="2"/>
              </a:rPr>
              <a:t>md </a:t>
            </a:r>
            <a:r>
              <a:rPr lang="ko-KR" altLang="en-US" sz="1100">
                <a:sym typeface="Wingdings" panose="05000000000000000000" pitchFamily="2" charset="2"/>
              </a:rPr>
              <a:t>파일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(/tasks/XXX-description.md) </a:t>
            </a:r>
            <a:r>
              <a:rPr lang="ko-KR" altLang="en-US" sz="1100">
                <a:sym typeface="Wingdings" panose="05000000000000000000" pitchFamily="2" charset="2"/>
              </a:rPr>
              <a:t>은 </a:t>
            </a:r>
            <a:r>
              <a:rPr lang="en-US" altLang="ko-KR" sz="1100">
                <a:sym typeface="Wingdings" panose="05000000000000000000" pitchFamily="2" charset="2"/>
              </a:rPr>
              <a:t>ROADMAP.md </a:t>
            </a:r>
            <a:r>
              <a:rPr lang="ko-KR" altLang="en-US" sz="1100">
                <a:sym typeface="Wingdings" panose="05000000000000000000" pitchFamily="2" charset="2"/>
              </a:rPr>
              <a:t>파일과 결이 같다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즉 이름만 바꿔서 </a:t>
            </a:r>
            <a:r>
              <a:rPr lang="en-US" altLang="ko-KR" sz="1100">
                <a:sym typeface="Wingdings" panose="05000000000000000000" pitchFamily="2" charset="2"/>
              </a:rPr>
              <a:t>ROADMAP.md </a:t>
            </a:r>
            <a:r>
              <a:rPr lang="ko-KR" altLang="en-US" sz="1100">
                <a:sym typeface="Wingdings" panose="05000000000000000000" pitchFamily="2" charset="2"/>
              </a:rPr>
              <a:t>경로에 가져다 놓으면 된다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807297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3573-E0C5-E50E-294A-2C0C4E6D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AB4C0-3F0D-F393-F591-771BF744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Init_project_rules</a:t>
            </a:r>
            <a:r>
              <a:rPr lang="en-US" altLang="ko-KR" dirty="0"/>
              <a:t> -2 [</a:t>
            </a:r>
            <a:r>
              <a:rPr lang="en-US" altLang="ko-KR" dirty="0" err="1"/>
              <a:t>reseach_mode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E6A5CA-BA7A-2342-8A5A-335FD8C6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34" y="1821240"/>
            <a:ext cx="5539611" cy="485293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B80CAB1-5176-2FA2-526A-84F7F1D434E3}"/>
              </a:ext>
            </a:extLst>
          </p:cNvPr>
          <p:cNvGrpSpPr/>
          <p:nvPr/>
        </p:nvGrpSpPr>
        <p:grpSpPr>
          <a:xfrm>
            <a:off x="6012838" y="1821240"/>
            <a:ext cx="4634232" cy="2307700"/>
            <a:chOff x="6012838" y="1821240"/>
            <a:chExt cx="4634232" cy="23077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4660B60-12A2-DCFB-27AE-41304DB82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4449"/>
            <a:stretch>
              <a:fillRect/>
            </a:stretch>
          </p:blipFill>
          <p:spPr>
            <a:xfrm>
              <a:off x="6012838" y="1821240"/>
              <a:ext cx="4634232" cy="23077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6A00F48-7DC7-C524-5ADD-814D143D1052}"/>
                </a:ext>
              </a:extLst>
            </p:cNvPr>
            <p:cNvSpPr/>
            <p:nvPr/>
          </p:nvSpPr>
          <p:spPr>
            <a:xfrm>
              <a:off x="6096000" y="3544478"/>
              <a:ext cx="3679596" cy="3110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9748EC-45FF-4D9A-997E-F2D7B57B38CE}"/>
              </a:ext>
            </a:extLst>
          </p:cNvPr>
          <p:cNvSpPr txBox="1"/>
          <p:nvPr/>
        </p:nvSpPr>
        <p:spPr>
          <a:xfrm>
            <a:off x="5986021" y="4336330"/>
            <a:ext cx="585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초기화 룰을 읽어보다가 마음에 들지 않아 기술적인 부분에서 더 자세한 조사가 필요하다</a:t>
            </a:r>
            <a:r>
              <a:rPr lang="en-US" altLang="ko-KR" sz="1200" dirty="0"/>
              <a:t> </a:t>
            </a:r>
            <a:r>
              <a:rPr lang="ko-KR" altLang="en-US" sz="1200" dirty="0"/>
              <a:t>판단되면 </a:t>
            </a:r>
            <a:r>
              <a:rPr lang="en-US" altLang="ko-KR" sz="1200" dirty="0" err="1"/>
              <a:t>research_mode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br>
              <a:rPr lang="en-US" altLang="ko-KR" sz="1200" dirty="0"/>
            </a:br>
            <a:r>
              <a:rPr lang="ko-KR" altLang="en-US" sz="1200" dirty="0"/>
              <a:t>조사가 필요한 부분을 더 심층적으로 연구 조사 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7350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C5E2E-9825-558B-AD91-28F979A6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Plan_task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17CF49-0026-3A32-FCE9-E9B2744B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5541"/>
            <a:ext cx="2397551" cy="9826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3E1275-53C1-952C-EEFA-575CF5A4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68" y="1875540"/>
            <a:ext cx="5539611" cy="4852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52CE1E-FF17-1232-CEE2-A52994EBA2CB}"/>
              </a:ext>
            </a:extLst>
          </p:cNvPr>
          <p:cNvSpPr txBox="1"/>
          <p:nvPr/>
        </p:nvSpPr>
        <p:spPr>
          <a:xfrm>
            <a:off x="6096000" y="2858143"/>
            <a:ext cx="5894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프로젝트 룰을 통해 </a:t>
            </a:r>
            <a:r>
              <a:rPr lang="en-US" altLang="ko-KR" sz="1100" dirty="0"/>
              <a:t>Plan</a:t>
            </a:r>
            <a:r>
              <a:rPr lang="ko-KR" altLang="en-US" sz="1100" dirty="0"/>
              <a:t>을 세우고 싶을 때 사용하는 명령어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ko-KR" alt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78FDE4-4D56-05C4-376A-BB57555FD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55669"/>
            <a:ext cx="5195948" cy="33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97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AD1B9-E4BD-CE0B-4F94-7F5692E2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list</a:t>
            </a:r>
            <a:r>
              <a:rPr lang="en-US" altLang="ko-KR" err="1"/>
              <a:t>_</a:t>
            </a:r>
            <a:r>
              <a:rPr lang="en-US" altLang="ko-KR"/>
              <a:t>tasks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736846-A781-C48D-D8DE-3D91F1A9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75" y="1961376"/>
            <a:ext cx="2547739" cy="9049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6BA195-F50F-4854-F19E-664DDCB05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75" y="2967950"/>
            <a:ext cx="3358445" cy="374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0450A5-6854-83EC-9EE0-63D36BFC54DB}"/>
              </a:ext>
            </a:extLst>
          </p:cNvPr>
          <p:cNvSpPr txBox="1"/>
          <p:nvPr/>
        </p:nvSpPr>
        <p:spPr>
          <a:xfrm>
            <a:off x="4901938" y="1961376"/>
            <a:ext cx="6104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list_tasks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세워진 계획 중 진행 상태 확인 명령어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8418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8BC66-C47F-C02A-C95A-403AD852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Execute_task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FCD848-40F7-907D-F4C5-2D571FF46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799" y="1911822"/>
            <a:ext cx="3103478" cy="7241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3255ED-A615-5D62-7874-349A0DAA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11822"/>
            <a:ext cx="3358445" cy="3748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74BFC-17EF-F61C-3A6E-778DD04C5445}"/>
              </a:ext>
            </a:extLst>
          </p:cNvPr>
          <p:cNvSpPr txBox="1"/>
          <p:nvPr/>
        </p:nvSpPr>
        <p:spPr>
          <a:xfrm>
            <a:off x="4628561" y="2790334"/>
            <a:ext cx="700411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execute_task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단계 별로 계획을 실행시키는 명령어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                            </a:t>
            </a:r>
            <a:r>
              <a:rPr lang="ko-KR" altLang="en-US" sz="1400" dirty="0">
                <a:sym typeface="Wingdings" panose="05000000000000000000" pitchFamily="2" charset="2"/>
              </a:rPr>
              <a:t>연속적으로 단계를 실행시킬 수도 있고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사진과 같이 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                            </a:t>
            </a:r>
            <a:r>
              <a:rPr lang="ko-KR" altLang="en-US" sz="1400" dirty="0">
                <a:sym typeface="Wingdings" panose="05000000000000000000" pitchFamily="2" charset="2"/>
              </a:rPr>
              <a:t>작은 단위로 계획을 실행 </a:t>
            </a:r>
            <a:r>
              <a:rPr lang="ko-KR" altLang="en-US" sz="1400" dirty="0" err="1">
                <a:sym typeface="Wingdings" panose="05000000000000000000" pitchFamily="2" charset="2"/>
              </a:rPr>
              <a:t>시킬수</a:t>
            </a:r>
            <a:r>
              <a:rPr lang="ko-KR" altLang="en-US" sz="1400" dirty="0">
                <a:sym typeface="Wingdings" panose="05000000000000000000" pitchFamily="2" charset="2"/>
              </a:rPr>
              <a:t> 있다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(※ </a:t>
            </a:r>
            <a:r>
              <a:rPr lang="ko-KR" altLang="en-US" sz="1000" dirty="0">
                <a:sym typeface="Wingdings" panose="05000000000000000000" pitchFamily="2" charset="2"/>
              </a:rPr>
              <a:t>개발 계획의 경우 </a:t>
            </a:r>
            <a:r>
              <a:rPr lang="en-US" altLang="ko-KR" sz="1000" dirty="0">
                <a:sym typeface="Wingdings" panose="05000000000000000000" pitchFamily="2" charset="2"/>
              </a:rPr>
              <a:t>1</a:t>
            </a:r>
            <a:r>
              <a:rPr lang="ko-KR" altLang="en-US" sz="1000" dirty="0">
                <a:sym typeface="Wingdings" panose="05000000000000000000" pitchFamily="2" charset="2"/>
              </a:rPr>
              <a:t>번을 작업하다 </a:t>
            </a:r>
            <a:r>
              <a:rPr lang="en-US" altLang="ko-KR" sz="1000" dirty="0">
                <a:sym typeface="Wingdings" panose="05000000000000000000" pitchFamily="2" charset="2"/>
              </a:rPr>
              <a:t>4</a:t>
            </a:r>
            <a:r>
              <a:rPr lang="ko-KR" altLang="en-US" sz="1000" dirty="0">
                <a:sym typeface="Wingdings" panose="05000000000000000000" pitchFamily="2" charset="2"/>
              </a:rPr>
              <a:t>번을 작업하라는 둥 명령은 내릴 수 있지만</a:t>
            </a:r>
            <a:r>
              <a:rPr lang="en-US" altLang="ko-KR" sz="1000" dirty="0">
                <a:sym typeface="Wingdings" panose="05000000000000000000" pitchFamily="2" charset="2"/>
              </a:rPr>
              <a:t>.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      </a:t>
            </a:r>
            <a:r>
              <a:rPr lang="ko-KR" altLang="en-US" sz="1000" dirty="0">
                <a:sym typeface="Wingdings" panose="05000000000000000000" pitchFamily="2" charset="2"/>
              </a:rPr>
              <a:t>개발 계획 순서대로 개발이 진행되지 </a:t>
            </a:r>
            <a:r>
              <a:rPr lang="ko-KR" altLang="en-US" sz="1000" dirty="0" err="1">
                <a:sym typeface="Wingdings" panose="05000000000000000000" pitchFamily="2" charset="2"/>
              </a:rPr>
              <a:t>않을경우</a:t>
            </a:r>
            <a:r>
              <a:rPr lang="ko-KR" altLang="en-US" sz="1000" dirty="0">
                <a:sym typeface="Wingdings" panose="05000000000000000000" pitchFamily="2" charset="2"/>
              </a:rPr>
              <a:t> 어떠한 문제가 생길지 모른다</a:t>
            </a:r>
            <a:r>
              <a:rPr lang="en-US" altLang="ko-KR" sz="1000" dirty="0">
                <a:sym typeface="Wingdings" panose="05000000000000000000" pitchFamily="2" charset="2"/>
              </a:rPr>
              <a:t>.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      </a:t>
            </a:r>
            <a:r>
              <a:rPr lang="ko-KR" altLang="en-US" sz="1000" dirty="0">
                <a:sym typeface="Wingdings" panose="05000000000000000000" pitchFamily="2" charset="2"/>
              </a:rPr>
              <a:t>연속 개발이든 작은 범위의 계획 수행이든 순서대로 계획이 진행되도록 권장한다</a:t>
            </a:r>
            <a:r>
              <a:rPr lang="en-US" altLang="ko-KR" sz="1000" dirty="0">
                <a:sym typeface="Wingdings" panose="05000000000000000000" pitchFamily="2" charset="2"/>
              </a:rPr>
              <a:t>.)</a:t>
            </a:r>
          </a:p>
          <a:p>
            <a:endParaRPr lang="en-US" altLang="ko-KR" sz="105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계획 수행 완료 시 생성된 앱에 에러가 발생했을 경우에는 에러의 피드백을 전달하고 다시 앱 작성을 요청한다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br>
              <a:rPr lang="en-US" altLang="ko-KR" sz="1400" dirty="0">
                <a:sym typeface="Wingdings" panose="05000000000000000000" pitchFamily="2" charset="2"/>
              </a:rPr>
            </a:b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ko-KR" altLang="en-US" sz="1400" dirty="0">
                <a:sym typeface="Wingdings" panose="05000000000000000000" pitchFamily="2" charset="2"/>
              </a:rPr>
              <a:t>계획 수행이 정상적이라면 다시 </a:t>
            </a:r>
            <a:r>
              <a:rPr lang="en-US" altLang="ko-KR" sz="1400" dirty="0" err="1">
                <a:sym typeface="Wingdings" panose="05000000000000000000" pitchFamily="2" charset="2"/>
              </a:rPr>
              <a:t>list_tasks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명령으로 완료된 작업과 남은 작업을 확인 가능하다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914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F3F602-6C10-E7E4-DE8B-BD0048522447}"/>
              </a:ext>
            </a:extLst>
          </p:cNvPr>
          <p:cNvSpPr txBox="1"/>
          <p:nvPr/>
        </p:nvSpPr>
        <p:spPr>
          <a:xfrm>
            <a:off x="202131" y="192505"/>
            <a:ext cx="51645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claude cli </a:t>
            </a:r>
            <a:r>
              <a:rPr lang="ko-KR" altLang="en-US" sz="1400"/>
              <a:t>명령</a:t>
            </a:r>
            <a:r>
              <a:rPr lang="en-US" altLang="ko-KR" sz="1400"/>
              <a:t>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en-US" altLang="ko-KR" sz="1400" b="1">
                <a:sym typeface="Wingdings" panose="05000000000000000000" pitchFamily="2" charset="2"/>
              </a:rPr>
              <a:t>/init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 b="1">
                <a:solidFill>
                  <a:srgbClr val="FF0000"/>
                </a:solidFill>
                <a:sym typeface="Wingdings" panose="05000000000000000000" pitchFamily="2" charset="2"/>
              </a:rPr>
              <a:t>CLAUDE.md</a:t>
            </a:r>
            <a:r>
              <a:rPr lang="ko-KR" altLang="en-US" sz="1400" b="1">
                <a:solidFill>
                  <a:srgbClr val="FF0000"/>
                </a:solidFill>
                <a:sym typeface="Wingdings" panose="05000000000000000000" pitchFamily="2" charset="2"/>
              </a:rPr>
              <a:t> 파일 생성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[</a:t>
            </a:r>
            <a:r>
              <a:rPr lang="ko-KR" altLang="en-US" sz="1400">
                <a:sym typeface="Wingdings" panose="05000000000000000000" pitchFamily="2" charset="2"/>
              </a:rPr>
              <a:t>프로젝트 규칙</a:t>
            </a:r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컨벤션</a:t>
            </a:r>
            <a:r>
              <a:rPr lang="en-US" altLang="ko-KR" sz="1400">
                <a:sym typeface="Wingdings" panose="05000000000000000000" pitchFamily="2" charset="2"/>
              </a:rPr>
              <a:t>) + </a:t>
            </a:r>
            <a:r>
              <a:rPr lang="ko-KR" altLang="en-US" sz="1400">
                <a:sym typeface="Wingdings" panose="05000000000000000000" pitchFamily="2" charset="2"/>
              </a:rPr>
              <a:t>기술 스택 정의</a:t>
            </a:r>
            <a:r>
              <a:rPr lang="en-US" altLang="ko-KR" sz="1400">
                <a:sym typeface="Wingdings" panose="05000000000000000000" pitchFamily="2" charset="2"/>
              </a:rPr>
              <a:t>]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C73CB-FCB2-5971-CCE9-76A0EA0798F8}"/>
              </a:ext>
            </a:extLst>
          </p:cNvPr>
          <p:cNvSpPr txBox="1"/>
          <p:nvPr/>
        </p:nvSpPr>
        <p:spPr>
          <a:xfrm>
            <a:off x="4100361" y="192505"/>
            <a:ext cx="367685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2. </a:t>
            </a:r>
            <a:r>
              <a:rPr lang="en-US" altLang="ko-KR" sz="1400" b="1">
                <a:solidFill>
                  <a:srgbClr val="FF0000"/>
                </a:solidFill>
              </a:rPr>
              <a:t>PRD (Project Requirement Document)</a:t>
            </a:r>
            <a:r>
              <a:rPr lang="ko-KR" altLang="en-US" sz="1400"/>
              <a:t>작성 요청</a:t>
            </a:r>
            <a:r>
              <a:rPr lang="en-US" altLang="ko-KR" sz="1400"/>
              <a:t>. (1,2</a:t>
            </a:r>
            <a:r>
              <a:rPr lang="ko-KR" altLang="en-US" sz="1400"/>
              <a:t>번중 아무거나</a:t>
            </a:r>
            <a:r>
              <a:rPr lang="en-US" altLang="ko-KR" sz="1400"/>
              <a:t>)</a:t>
            </a:r>
            <a:br>
              <a:rPr lang="en-US" altLang="ko-KR" sz="1400"/>
            </a:br>
            <a:r>
              <a:rPr lang="en-US" altLang="ko-KR" sz="1400">
                <a:sym typeface="Wingdings" panose="05000000000000000000" pitchFamily="2" charset="2"/>
              </a:rPr>
              <a:t> 1. </a:t>
            </a:r>
            <a:r>
              <a:rPr lang="ko-KR" altLang="en-US" sz="1400">
                <a:sym typeface="Wingdings" panose="05000000000000000000" pitchFamily="2" charset="2"/>
              </a:rPr>
              <a:t>전문화된 역할을 부여한 서브에이전트 사용</a:t>
            </a:r>
            <a:r>
              <a:rPr lang="ko-KR" altLang="en-US" sz="1400"/>
              <a:t> </a:t>
            </a:r>
            <a:br>
              <a:rPr lang="en-US" altLang="ko-KR" sz="1400"/>
            </a:br>
            <a:r>
              <a:rPr lang="en-US" altLang="ko-KR" sz="1400">
                <a:sym typeface="Wingdings" panose="05000000000000000000" pitchFamily="2" charset="2"/>
              </a:rPr>
              <a:t>OR</a:t>
            </a:r>
            <a:r>
              <a:rPr lang="ko-KR" altLang="en-US" sz="1400">
                <a:sym typeface="Wingdings" panose="05000000000000000000" pitchFamily="2" charset="2"/>
              </a:rPr>
              <a:t>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  2.MVP-PRD (</a:t>
            </a:r>
            <a:r>
              <a:rPr lang="ko-KR" altLang="en-US" sz="1400">
                <a:sym typeface="Wingdings" panose="05000000000000000000" pitchFamily="2" charset="2"/>
              </a:rPr>
              <a:t>최소 기능 구현 프로젝트 </a:t>
            </a:r>
            <a:r>
              <a:rPr lang="en-US" altLang="ko-KR" sz="1400">
                <a:sym typeface="Wingdings" panose="05000000000000000000" pitchFamily="2" charset="2"/>
              </a:rPr>
              <a:t>PRD) </a:t>
            </a:r>
            <a:r>
              <a:rPr lang="ko-KR" altLang="en-US" sz="1400">
                <a:sym typeface="Wingdings" panose="05000000000000000000" pitchFamily="2" charset="2"/>
              </a:rPr>
              <a:t>생성 </a:t>
            </a:r>
            <a:r>
              <a:rPr lang="en-US" altLang="ko-KR" sz="1400">
                <a:sym typeface="Wingdings" panose="05000000000000000000" pitchFamily="2" charset="2"/>
              </a:rPr>
              <a:t>&gt; </a:t>
            </a:r>
            <a:r>
              <a:rPr lang="ko-KR" altLang="en-US" sz="1400">
                <a:sym typeface="Wingdings" panose="05000000000000000000" pitchFamily="2" charset="2"/>
              </a:rPr>
              <a:t>기능 역할을 추가하여 </a:t>
            </a:r>
            <a:r>
              <a:rPr lang="en-US" altLang="ko-KR" sz="1400">
                <a:sym typeface="Wingdings" panose="05000000000000000000" pitchFamily="2" charset="2"/>
              </a:rPr>
              <a:t>PRD </a:t>
            </a:r>
            <a:r>
              <a:rPr lang="ko-KR" altLang="en-US" sz="1400">
                <a:sym typeface="Wingdings" panose="05000000000000000000" pitchFamily="2" charset="2"/>
              </a:rPr>
              <a:t>작성</a:t>
            </a:r>
            <a:endParaRPr lang="ko-KR" alt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91CB8-3588-FBC3-698F-5DC13783391C}"/>
              </a:ext>
            </a:extLst>
          </p:cNvPr>
          <p:cNvSpPr txBox="1"/>
          <p:nvPr/>
        </p:nvSpPr>
        <p:spPr>
          <a:xfrm>
            <a:off x="8208745" y="123524"/>
            <a:ext cx="367685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3</a:t>
            </a:r>
            <a:r>
              <a:rPr lang="en-US" altLang="ko-KR" sz="1400" b="1">
                <a:solidFill>
                  <a:srgbClr val="FF0000"/>
                </a:solidFill>
              </a:rPr>
              <a:t>. PRD </a:t>
            </a:r>
            <a:r>
              <a:rPr lang="ko-KR" altLang="en-US" sz="1400" b="1">
                <a:solidFill>
                  <a:srgbClr val="FF0000"/>
                </a:solidFill>
              </a:rPr>
              <a:t>문서를 기반으로 </a:t>
            </a:r>
            <a:r>
              <a:rPr lang="en-US" altLang="ko-KR" sz="1400" b="1">
                <a:solidFill>
                  <a:srgbClr val="FF0000"/>
                </a:solidFill>
              </a:rPr>
              <a:t>ROADMAP.md </a:t>
            </a:r>
            <a:r>
              <a:rPr lang="ko-KR" altLang="en-US" sz="1400"/>
              <a:t>파일을</a:t>
            </a:r>
            <a:br>
              <a:rPr lang="en-US" altLang="ko-KR" sz="1400"/>
            </a:br>
            <a:r>
              <a:rPr lang="en-US" altLang="ko-KR" sz="1400"/>
              <a:t>    </a:t>
            </a:r>
            <a:r>
              <a:rPr lang="ko-KR" altLang="en-US" sz="1400"/>
              <a:t>작성 요청한다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(ROADMAP </a:t>
            </a:r>
            <a:r>
              <a:rPr lang="ko-KR" altLang="en-US" sz="1400"/>
              <a:t>전문 서브에이전트를 생성하여 </a:t>
            </a:r>
            <a:r>
              <a:rPr lang="en-US" altLang="ko-KR" sz="1400"/>
              <a:t>ROADMAP </a:t>
            </a:r>
            <a:r>
              <a:rPr lang="ko-KR" altLang="en-US" sz="1400"/>
              <a:t>파일을 생성할 수도 있음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br>
              <a:rPr lang="en-US" altLang="ko-KR" sz="1400"/>
            </a:br>
            <a:endParaRPr lang="ko-KR" altLang="en-US" sz="14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72F858-3947-5AF1-2A82-11532831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45" y="1146612"/>
            <a:ext cx="3019846" cy="990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5096FA-7DAD-EABB-4680-141FA85C3C6B}"/>
              </a:ext>
            </a:extLst>
          </p:cNvPr>
          <p:cNvSpPr txBox="1"/>
          <p:nvPr/>
        </p:nvSpPr>
        <p:spPr>
          <a:xfrm>
            <a:off x="202131" y="2264044"/>
            <a:ext cx="3344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4. ROADMAP.md</a:t>
            </a:r>
            <a:r>
              <a:rPr lang="ko-KR" altLang="en-US" sz="1200" b="1"/>
              <a:t> 의 절차를 하나씩 </a:t>
            </a:r>
            <a:br>
              <a:rPr lang="en-US" altLang="ko-KR" sz="1200" b="1"/>
            </a:br>
            <a:r>
              <a:rPr lang="en-US" altLang="ko-KR" sz="1200" b="1"/>
              <a:t>    Shrimp Task Master MCP</a:t>
            </a:r>
            <a:r>
              <a:rPr lang="ko-KR" altLang="en-US" sz="1200" b="1"/>
              <a:t>의 </a:t>
            </a:r>
            <a:r>
              <a:rPr lang="en-US" altLang="ko-KR" sz="1200" b="1"/>
              <a:t>plan_task </a:t>
            </a:r>
            <a:r>
              <a:rPr lang="ko-KR" altLang="en-US" sz="1200" b="1"/>
              <a:t>명령을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통해 세부적으로 구현해 나간다</a:t>
            </a:r>
            <a:r>
              <a:rPr lang="en-US" altLang="ko-KR" sz="1200" b="1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BBCBC3-B6F2-419A-C234-299897FBEFE7}"/>
              </a:ext>
            </a:extLst>
          </p:cNvPr>
          <p:cNvSpPr txBox="1"/>
          <p:nvPr/>
        </p:nvSpPr>
        <p:spPr>
          <a:xfrm>
            <a:off x="202131" y="2937288"/>
            <a:ext cx="32239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4.1 &gt; </a:t>
            </a:r>
            <a:r>
              <a:rPr lang="ko-KR" altLang="en-US" sz="1100"/>
              <a:t>세부 작업별 주요 기술스택이 필요한 경우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기술 스택에 대한 전문 서브 에이전트를 두어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처리를 장려한다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en-US" altLang="ko-KR" sz="1100"/>
              <a:t>4.2 &gt; </a:t>
            </a:r>
            <a:r>
              <a:rPr lang="ko-KR" altLang="en-US" sz="1100"/>
              <a:t>작업이 복잡한 경우 </a:t>
            </a:r>
            <a:r>
              <a:rPr lang="en-US" altLang="ko-KR" sz="1100"/>
              <a:t>analyze_task</a:t>
            </a:r>
            <a:r>
              <a:rPr lang="ko-KR" altLang="en-US" sz="1100"/>
              <a:t>를 통해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다시 한번 작업 세분화가 가능한지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확인가능하다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세분화가 가능하면 </a:t>
            </a:r>
            <a:r>
              <a:rPr lang="en-US" altLang="ko-KR" sz="1100">
                <a:sym typeface="Wingdings" panose="05000000000000000000" pitchFamily="2" charset="2"/>
              </a:rPr>
              <a:t> split_tasks </a:t>
            </a:r>
            <a:r>
              <a:rPr lang="ko-KR" altLang="en-US" sz="1100">
                <a:sym typeface="Wingdings" panose="05000000000000000000" pitchFamily="2" charset="2"/>
              </a:rPr>
              <a:t>명령을 통해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</a:t>
            </a:r>
            <a:r>
              <a:rPr lang="ko-KR" altLang="en-US" sz="1100">
                <a:sym typeface="Wingdings" panose="05000000000000000000" pitchFamily="2" charset="2"/>
              </a:rPr>
              <a:t>나뉘어진 작업을 또 한 번 더 작은 단위로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</a:t>
            </a:r>
            <a:r>
              <a:rPr lang="ko-KR" altLang="en-US" sz="1100">
                <a:sym typeface="Wingdings" panose="05000000000000000000" pitchFamily="2" charset="2"/>
              </a:rPr>
              <a:t>나누는게 가능하다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5F7A2-CC2C-3ECA-DC25-5E79F720C60A}"/>
              </a:ext>
            </a:extLst>
          </p:cNvPr>
          <p:cNvSpPr txBox="1"/>
          <p:nvPr/>
        </p:nvSpPr>
        <p:spPr>
          <a:xfrm>
            <a:off x="4100361" y="2264044"/>
            <a:ext cx="360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5. </a:t>
            </a:r>
            <a:r>
              <a:rPr lang="ko-KR" altLang="en-US" sz="1200" b="1"/>
              <a:t>기능 구현후 검증을 빠뜨리지 말자</a:t>
            </a:r>
            <a:r>
              <a:rPr lang="en-US" altLang="ko-KR" sz="1200" b="1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68A97-6CEB-5609-77F8-80929FDCD96C}"/>
              </a:ext>
            </a:extLst>
          </p:cNvPr>
          <p:cNvSpPr txBox="1"/>
          <p:nvPr/>
        </p:nvSpPr>
        <p:spPr>
          <a:xfrm>
            <a:off x="4100361" y="2843021"/>
            <a:ext cx="322396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5.1 &gt; ROADMAP.md </a:t>
            </a:r>
            <a:r>
              <a:rPr lang="ko-KR" altLang="en-US" sz="1100"/>
              <a:t>에도 성능 검증과 기능 검증이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포함되어 </a:t>
            </a:r>
            <a:r>
              <a:rPr lang="en-US" altLang="ko-KR" sz="1100"/>
              <a:t>Task</a:t>
            </a:r>
            <a:r>
              <a:rPr lang="ko-KR" altLang="en-US" sz="1100"/>
              <a:t>로 누락하지 않고 검증을 수행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할 것이지만 다시 언급할 만큼 검증은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중요하다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검증관련 서브 에이전트를 두어 검증의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정확성을 높이도록 하자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(Playwright MCP</a:t>
            </a:r>
            <a:r>
              <a:rPr lang="ko-KR" altLang="en-US" sz="1100"/>
              <a:t>를 통해 서브 에이전트 작업</a:t>
            </a:r>
            <a:br>
              <a:rPr lang="en-US" altLang="ko-KR" sz="1100"/>
            </a:br>
            <a:r>
              <a:rPr lang="en-US" altLang="ko-KR" sz="1100"/>
              <a:t>           </a:t>
            </a:r>
            <a:r>
              <a:rPr lang="ko-KR" altLang="en-US" sz="1100"/>
              <a:t>의 오류 해결을 장려하자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93862197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303</TotalTime>
  <Words>2009</Words>
  <Application>Microsoft Office PowerPoint</Application>
  <PresentationFormat>와이드스크린</PresentationFormat>
  <Paragraphs>160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Calibri</vt:lpstr>
      <vt:lpstr>Calibri Light</vt:lpstr>
      <vt:lpstr>Consolas</vt:lpstr>
      <vt:lpstr>Wingdings</vt:lpstr>
      <vt:lpstr>추억</vt:lpstr>
      <vt:lpstr>종합 정리</vt:lpstr>
      <vt:lpstr>VSCode에서는 shift+enter가 개행으로 안먹힌다.</vt:lpstr>
      <vt:lpstr>settings.json / settings.local.json</vt:lpstr>
      <vt:lpstr>CLAUDE.md</vt:lpstr>
      <vt:lpstr>MCP.json</vt:lpstr>
      <vt:lpstr>Plugin</vt:lpstr>
      <vt:lpstr>Session-report 플러그인</vt:lpstr>
      <vt:lpstr>claude-md-management 플러그인</vt:lpstr>
      <vt:lpstr>Serena 플러그인</vt:lpstr>
      <vt:lpstr>hookify 플러그인</vt:lpstr>
      <vt:lpstr>hookify 명령어</vt:lpstr>
      <vt:lpstr>서브에이전트</vt:lpstr>
      <vt:lpstr>Hook 클로드의 동작 제어</vt:lpstr>
      <vt:lpstr>Skill 작성 방법</vt:lpstr>
      <vt:lpstr>Skill 작성 방법</vt:lpstr>
      <vt:lpstr>Skill 생성 결과</vt:lpstr>
      <vt:lpstr>Skill 배포 ( 플러그인 )</vt:lpstr>
      <vt:lpstr>플러그인으로만 공유하는 법</vt:lpstr>
      <vt:lpstr>MarketPlace로 공유하는 방법</vt:lpstr>
      <vt:lpstr>마켓 플레이스 공유</vt:lpstr>
      <vt:lpstr>PowerPoint 프레젠테이션</vt:lpstr>
      <vt:lpstr>Shrimp Task Mananger 설치</vt:lpstr>
      <vt:lpstr>Init_project_rules -1</vt:lpstr>
      <vt:lpstr>Init_project_rules -2 [reseach_mode]</vt:lpstr>
      <vt:lpstr>Plan_task</vt:lpstr>
      <vt:lpstr>list_tasks</vt:lpstr>
      <vt:lpstr>Execute_task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71</cp:revision>
  <dcterms:created xsi:type="dcterms:W3CDTF">2026-09-30T06:08:31Z</dcterms:created>
  <dcterms:modified xsi:type="dcterms:W3CDTF">2026-10-01T16:30:16Z</dcterms:modified>
</cp:coreProperties>
</file>